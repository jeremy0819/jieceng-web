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A5FA"/>
                </a:solidFill>
              </a:rPr>
              <a:t>內政部建築研究所 / Architecture and Building Research Institute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智慧建築標章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60A5FA"/>
                </a:solidFill>
              </a:rPr>
              <a:t>2024 版解析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64008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六大評估指標 × 四個認證等級 × 2024 最新修訂重點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930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從 ICT 基礎到 AI 數位孿生，全面解析台灣智慧建築認證制度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</a:rPr>
              <a:t>2026.05.26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09728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</a:rPr>
              <a:t>今日議程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4ED8"/>
                </a:solidFill>
              </a:rPr>
              <a:t>PART 01 — 制度概覽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1A"/>
                </a:solidFill>
              </a:rPr>
              <a:t>• 制度背景與沿革</a:t>
            </a:r>
          </a:p>
          <a:p>
            <a:r>
              <a:rPr sz="1500">
                <a:solidFill>
                  <a:srgbClr val="1A1A1A"/>
                </a:solidFill>
              </a:rPr>
              <a:t>• 2024 版六大更新重點</a:t>
            </a:r>
          </a:p>
          <a:p>
            <a:r>
              <a:rPr sz="1500">
                <a:solidFill>
                  <a:srgbClr val="1A1A1A"/>
                </a:solidFill>
              </a:rPr>
              <a:t>• 六大評估指標總覽</a:t>
            </a:r>
          </a:p>
          <a:p>
            <a:r>
              <a:rPr sz="1500">
                <a:solidFill>
                  <a:srgbClr val="1A1A1A"/>
                </a:solidFill>
              </a:rPr>
              <a:t>• 各指標配分比重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4ED8"/>
                </a:solidFill>
              </a:rPr>
              <a:t>PART 02 — 指標深度解析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574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1A"/>
                </a:solidFill>
              </a:rPr>
              <a:t>• ① 資訊通信</a:t>
            </a:r>
          </a:p>
          <a:p>
            <a:r>
              <a:rPr sz="1500">
                <a:solidFill>
                  <a:srgbClr val="1A1A1A"/>
                </a:solidFill>
              </a:rPr>
              <a:t>• ② 安全防災</a:t>
            </a:r>
          </a:p>
          <a:p>
            <a:r>
              <a:rPr sz="1500">
                <a:solidFill>
                  <a:srgbClr val="1A1A1A"/>
                </a:solidFill>
              </a:rPr>
              <a:t>• ③ 健康舒適</a:t>
            </a:r>
          </a:p>
          <a:p>
            <a:r>
              <a:rPr sz="1500">
                <a:solidFill>
                  <a:srgbClr val="1A1A1A"/>
                </a:solidFill>
              </a:rPr>
              <a:t>• ④ 節能管理</a:t>
            </a:r>
          </a:p>
          <a:p>
            <a:r>
              <a:rPr sz="1500">
                <a:solidFill>
                  <a:srgbClr val="1A1A1A"/>
                </a:solidFill>
              </a:rPr>
              <a:t>• ⑤ 設備整合</a:t>
            </a:r>
          </a:p>
          <a:p>
            <a:r>
              <a:rPr sz="1500">
                <a:solidFill>
                  <a:srgbClr val="1A1A1A"/>
                </a:solidFill>
              </a:rPr>
              <a:t>• ⑥ 貼心便利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4ED8"/>
                </a:solidFill>
              </a:rPr>
              <a:t>PART 03 — 認證與申請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1A"/>
                </a:solidFill>
              </a:rPr>
              <a:t>• 四個認證等級</a:t>
            </a:r>
          </a:p>
          <a:p>
            <a:r>
              <a:rPr sz="1500">
                <a:solidFill>
                  <a:srgbClr val="1A1A1A"/>
                </a:solidFill>
              </a:rPr>
              <a:t>• 申請流程說明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智慧建築 ／ 制度背景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50392"/>
            <a:ext cx="109728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7840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從 2004 到 2024：二十年智慧進化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2004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871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智慧建築標章創立
六大指標確立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828800"/>
            <a:ext cx="548640" cy="5486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4871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2010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788920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修訂版本
強化設備整合評估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828800"/>
            <a:ext cx="548640" cy="5486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2016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4871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2016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788920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IoT 概念
納入評分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828800"/>
            <a:ext cx="548640" cy="5486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39" y="24871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2788920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5G 時代
前瞻條款 AI 準備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828800"/>
            <a:ext cx="548640" cy="5486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4871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2024★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788920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AI × 數位孿生
資安強化本次重點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制度定位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605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智慧建築標章由內政部建築研究所主管，評估建築物將資訊通信、節能管理、安全防災等
六大智慧化系統整合至空間設計的程度，目標打造更安全、舒適、節能的人性化智慧建築。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749039"/>
            <a:ext cx="1554480" cy="13716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40479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D4ED8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評估指標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3749039"/>
            <a:ext cx="1554480" cy="13716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0" y="3840479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D4ED8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45262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認證等級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5303520"/>
            <a:ext cx="1554480" cy="13716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53949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D4ED8"/>
                </a:solidFill>
              </a:rPr>
              <a:t>5yr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6080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標章有效期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5303520"/>
            <a:ext cx="155448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0" y="53949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D4ED8"/>
                </a:solidFill>
              </a:rPr>
              <a:t>ABRI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080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建築研究所主管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2024 版 ／ 修訂重點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50392"/>
            <a:ext cx="109728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7840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2024 版六大更新重點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91640"/>
            <a:ext cx="3566160" cy="21945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830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① ICT 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1671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5G / Wi-Fi 6E 納入評分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532888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5G 小基站室內部署及 Wi-Fi 6E 全棟無縫覆蓋，正式列入評分。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91640"/>
            <a:ext cx="3566160" cy="21945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17830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② 資安強化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1671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零信任資安架構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532888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資訊安全防護獨立為必要評估條款，要求 IDS/IPS、VPN、Zero Trust 架構。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691640"/>
            <a:ext cx="3566160" cy="21945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7830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③ AI 智慧化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1671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各指標 AI 加分項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532888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六大指標均新增 AI 智慧化加分子項，包含 AI 影像分析、AI 需量預測等。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023360"/>
            <a:ext cx="3566160" cy="21945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1148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④ 數位孿生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4988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BIM 數位孿生整合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864608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設備整合指標新增 BIM 數位孿生加分，建築 3D 模型與 BMS 即時連動。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4023360"/>
            <a:ext cx="3566160" cy="21945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41148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⑤ 碳管理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4988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建築碳足跡智慧監控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4864608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節能管理指標新增碳排放即時監控，配合 2050 淨零路徑讓建築能耗透明化。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4023360"/>
            <a:ext cx="3566160" cy="21945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2208" y="41148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⑥ 數位服務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44988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行動 App 一站式服務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4864608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貼心便利指標提升行動裝置整合評分，涵蓋物業 App、IoT 智慧家電整合。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智慧建築 ／ 指標架構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50392"/>
            <a:ext cx="109728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7840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六大評估指標總覽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566160" cy="21031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385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</a:rPr>
              <a:t>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8346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資訊通信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2186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ICT Infrastructure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828800"/>
            <a:ext cx="3566160" cy="2103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9385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3317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</a:rP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8346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</a:rPr>
              <a:t>安全防災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2186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Safety &amp; 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828800"/>
            <a:ext cx="3566160" cy="2103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9385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3317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</a:rPr>
              <a:t>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8346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健康舒適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32186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Health &amp; Comfort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114800"/>
            <a:ext cx="3566160" cy="21031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2245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6177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51206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節能管理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5046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Energy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114800"/>
            <a:ext cx="3566160" cy="21031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42245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46177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</a:rPr>
              <a:t>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51206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設備整合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55046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Systems Integration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4114800"/>
            <a:ext cx="3566160" cy="21031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42245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91B2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46177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</a:rPr>
              <a:t>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51206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891B2"/>
                </a:solidFill>
              </a:rPr>
              <a:t>貼心便利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55046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Smart Convenience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智慧建築 ／ 配分比重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50392"/>
            <a:ext cx="109728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7840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六大指標配分比重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4ED8"/>
                </a:solidFill>
              </a:rPr>
              <a:t>資訊通信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938528"/>
            <a:ext cx="118872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92024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</a:rPr>
              <a:t>安全防災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633472"/>
            <a:ext cx="118872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61518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186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</a:rPr>
              <a:t>健康舒適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3328416"/>
            <a:ext cx="8915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0500" y="331012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1363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706"/>
                </a:solidFill>
              </a:rPr>
              <a:t>節能管理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4023360"/>
            <a:ext cx="118872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400507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0857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3AED"/>
                </a:solidFill>
              </a:rPr>
              <a:t>設備整合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4718304"/>
            <a:ext cx="8915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0500" y="470001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891B2"/>
                </a:solidFill>
              </a:rPr>
              <a:t>貼心便利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5413248"/>
            <a:ext cx="594360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539496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91B2"/>
                </a:solidFill>
              </a:rPr>
              <a:t>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828800"/>
            <a:ext cx="457200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1920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評分架構說明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28600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各指標分為必要項目與選擇（加分）項目</a:t>
            </a:r>
          </a:p>
          <a:p>
            <a:r>
              <a:rPr sz="1200">
                <a:solidFill>
                  <a:srgbClr val="1A1A1A"/>
                </a:solidFill>
              </a:rPr>
              <a:t>• 必要項目未達標，該指標不計分</a:t>
            </a:r>
          </a:p>
          <a:p>
            <a:r>
              <a:rPr sz="1200">
                <a:solidFill>
                  <a:srgbClr val="1A1A1A"/>
                </a:solidFill>
              </a:rPr>
              <a:t>• 加分項目每項可累積得分，達上限後不再計算</a:t>
            </a:r>
          </a:p>
          <a:p>
            <a:r>
              <a:rPr sz="1200">
                <a:solidFill>
                  <a:srgbClr val="1A1A1A"/>
                </a:solidFill>
              </a:rPr>
              <a:t>• 2024 版各指標均設有「AI 智慧化」加分子項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3977639"/>
            <a:ext cx="4572000" cy="1737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40690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適用建築類型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43484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辦公大樓</a:t>
            </a:r>
          </a:p>
          <a:p>
            <a:r>
              <a:rPr sz="1200">
                <a:solidFill>
                  <a:srgbClr val="1A1A1A"/>
                </a:solidFill>
              </a:rPr>
              <a:t>• 商業建築</a:t>
            </a:r>
          </a:p>
          <a:p>
            <a:r>
              <a:rPr sz="1200">
                <a:solidFill>
                  <a:srgbClr val="1A1A1A"/>
                </a:solidFill>
              </a:rPr>
              <a:t>• 住宅大廈</a:t>
            </a:r>
          </a:p>
          <a:p>
            <a:r>
              <a:rPr sz="1200">
                <a:solidFill>
                  <a:srgbClr val="1A1A1A"/>
                </a:solidFill>
              </a:rPr>
              <a:t>• 學校教育</a:t>
            </a:r>
          </a:p>
          <a:p>
            <a:r>
              <a:rPr sz="1200">
                <a:solidFill>
                  <a:srgbClr val="1A1A1A"/>
                </a:solidFill>
              </a:rPr>
              <a:t>• 醫療院所</a:t>
            </a:r>
          </a:p>
          <a:p>
            <a:r>
              <a:rPr sz="1200">
                <a:solidFill>
                  <a:srgbClr val="1A1A1A"/>
                </a:solidFill>
              </a:rPr>
              <a:t>• 廠辦建築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01 資訊通信 ／ ICT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50392"/>
            <a:ext cx="109728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784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資訊通信 —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ICT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必要項目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結構化佈線：Cat.6A 以上線纜或光纖主幹</a:t>
            </a:r>
          </a:p>
          <a:p>
            <a:r>
              <a:rPr sz="1200">
                <a:solidFill>
                  <a:srgbClr val="1A1A1A"/>
                </a:solidFill>
              </a:rPr>
              <a:t>• 無線網路覆蓋：全棟 Wi-Fi 6／6E 無縫覆蓋</a:t>
            </a:r>
          </a:p>
          <a:p>
            <a:r>
              <a:rPr sz="1200">
                <a:solidFill>
                  <a:srgbClr val="1A1A1A"/>
                </a:solidFill>
              </a:rPr>
              <a:t>• 機房設施：UPS 不斷電、溫控、獨立門禁</a:t>
            </a:r>
          </a:p>
          <a:p>
            <a:r>
              <a:rPr sz="1200">
                <a:solidFill>
                  <a:srgbClr val="1A1A1A"/>
                </a:solidFill>
              </a:rPr>
              <a:t>• 資訊安全基礎：防火牆、網路分區隔離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選擇（加分）項目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• 5G 小基站室內部署 [2024新增]</a:t>
            </a:r>
          </a:p>
          <a:p>
            <a:r>
              <a:rPr sz="1100">
                <a:solidFill>
                  <a:srgbClr val="1A1A1A"/>
                </a:solidFill>
              </a:rPr>
              <a:t>• 零信任（Zero Trust）資安架構 [2024強化]</a:t>
            </a:r>
          </a:p>
          <a:p>
            <a:r>
              <a:rPr sz="1100">
                <a:solidFill>
                  <a:srgbClr val="1A1A1A"/>
                </a:solidFill>
              </a:rPr>
              <a:t>• IDS/IPS 入侵偵測防禦系統</a:t>
            </a:r>
          </a:p>
          <a:p>
            <a:r>
              <a:rPr sz="1100">
                <a:solidFill>
                  <a:srgbClr val="1A1A1A"/>
                </a:solidFill>
              </a:rPr>
              <a:t>• N+1 冗餘備援機制</a:t>
            </a:r>
          </a:p>
          <a:p>
            <a:r>
              <a:rPr sz="1100">
                <a:solidFill>
                  <a:srgbClr val="1A1A1A"/>
                </a:solidFill>
              </a:rPr>
              <a:t>• AI 網路流量異常偵測 [2024 AI加分]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828800"/>
            <a:ext cx="502920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2024 重點：5G × Zero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286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5G 小基站讓建築內部具備毫秒級低延遲連線。
零信任架構「永不信任、持續驗證」，大幅提升建築資訊系統的資安等級。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</a:rPr>
              <a:t>02 安全防災 ／ Safety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50392"/>
            <a:ext cx="109728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784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安全防災 —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Safety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必要項目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智慧門禁：IC 卡、藍牙、生物辨識（至少一種）</a:t>
            </a:r>
          </a:p>
          <a:p>
            <a:r>
              <a:rPr sz="1200">
                <a:solidFill>
                  <a:srgbClr val="1A1A1A"/>
                </a:solidFill>
              </a:rPr>
              <a:t>• CCTV 監控：主要公共區域全覆蓋</a:t>
            </a:r>
          </a:p>
          <a:p>
            <a:r>
              <a:rPr sz="1200">
                <a:solidFill>
                  <a:srgbClr val="1A1A1A"/>
                </a:solidFill>
              </a:rPr>
              <a:t>• 火警系統：智慧型煙霧偵測、自動灑水連動</a:t>
            </a:r>
          </a:p>
          <a:p>
            <a:r>
              <a:rPr sz="1200">
                <a:solidFill>
                  <a:srgbClr val="1A1A1A"/>
                </a:solidFill>
              </a:rPr>
              <a:t>• 緊急廣播：數位多區域廣播系統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選擇（加分）項目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• AI 影像行為分析（異常偵測）[2024新增]</a:t>
            </a:r>
          </a:p>
          <a:p>
            <a:r>
              <a:rPr sz="1100">
                <a:solidFill>
                  <a:srgbClr val="1A1A1A"/>
                </a:solidFill>
              </a:rPr>
              <a:t>• 人臉辨識門禁 × 訪客預約整合</a:t>
            </a:r>
          </a:p>
          <a:p>
            <a:r>
              <a:rPr sz="1100">
                <a:solidFill>
                  <a:srgbClr val="1A1A1A"/>
                </a:solidFill>
              </a:rPr>
              <a:t>• 熱感應周界防護</a:t>
            </a:r>
          </a:p>
          <a:p>
            <a:r>
              <a:rPr sz="1100">
                <a:solidFill>
                  <a:srgbClr val="1A1A1A"/>
                </a:solidFill>
              </a:rPr>
              <a:t>• 地震感測器 × 自動斷電保護</a:t>
            </a:r>
          </a:p>
          <a:p>
            <a:r>
              <a:rPr sz="1100">
                <a:solidFill>
                  <a:srgbClr val="1A1A1A"/>
                </a:solidFill>
              </a:rPr>
              <a:t>• AI 火焰早期偵測 [2024 AI加分]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828800"/>
            <a:ext cx="5029200" cy="201168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2024 重點：AI 影像分析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286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AI 影像行為分析能自動辨識人員聚集、遺留物、翻越圍欄等異常行為，
即時發出警報，從被動監控進化為主動預防的智慧安防系統。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</a:rPr>
              <a:t>03 健康舒適 ／ Health &amp; Comfort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50392"/>
            <a:ext cx="109728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784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健康舒適 —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Health &amp; Comfort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必要項目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室內空氣品質（IAQ）監測：CO₂ 感測器裝設</a:t>
            </a:r>
          </a:p>
          <a:p>
            <a:r>
              <a:rPr sz="1200">
                <a:solidFill>
                  <a:srgbClr val="1A1A1A"/>
                </a:solidFill>
              </a:rPr>
              <a:t>• 空調自動控制：依設定溫度自動調節</a:t>
            </a:r>
          </a:p>
          <a:p>
            <a:r>
              <a:rPr sz="1200">
                <a:solidFill>
                  <a:srgbClr val="1A1A1A"/>
                </a:solidFill>
              </a:rPr>
              <a:t>• 照明自動控制：人體感應或時序控制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選擇（加分）項目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• PM2.5、TVOC 即時監測 + 顯示面板</a:t>
            </a:r>
          </a:p>
          <a:p>
            <a:r>
              <a:rPr sz="1100">
                <a:solidFill>
                  <a:srgbClr val="1A1A1A"/>
                </a:solidFill>
              </a:rPr>
              <a:t>• AI 預測性空調控制（減少啟停震盪）[2024 AI加分]</a:t>
            </a:r>
          </a:p>
          <a:p>
            <a:r>
              <a:rPr sz="1100">
                <a:solidFill>
                  <a:srgbClr val="1A1A1A"/>
                </a:solidFill>
              </a:rPr>
              <a:t>• 智慧照明：晝光感測 × 色溫自動調節</a:t>
            </a:r>
          </a:p>
          <a:p>
            <a:r>
              <a:rPr sz="1100">
                <a:solidFill>
                  <a:srgbClr val="1A1A1A"/>
                </a:solidFill>
              </a:rPr>
              <a:t>• 給水品質智慧監測（餘氯、濁度）</a:t>
            </a:r>
          </a:p>
          <a:p>
            <a:r>
              <a:rPr sz="1100">
                <a:solidFill>
                  <a:srgbClr val="1A1A1A"/>
                </a:solidFill>
              </a:rPr>
              <a:t>• 電梯目的地控制（DCS）智慧調度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828800"/>
            <a:ext cx="5029200" cy="20116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2024 重點：AI 預測性空調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286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AI 預測性控制透過分析室外氣溫、建築熱慣性、使用人數等資料，
提前調整空調輸出，同步達到舒適度提升與能耗降低的雙重效益。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97706"/>
                </a:solidFill>
              </a:rPr>
              <a:t>04 節能管理 ／ Energy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50392"/>
            <a:ext cx="109728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784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節能管理 —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Energy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必要項目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能源管理系統（EMS）：全棟用電即時監控儀表</a:t>
            </a:r>
          </a:p>
          <a:p>
            <a:r>
              <a:rPr sz="1200">
                <a:solidFill>
                  <a:srgbClr val="1A1A1A"/>
                </a:solidFill>
              </a:rPr>
              <a:t>• 分項計量：空調、照明、動力各自獨立計量</a:t>
            </a:r>
          </a:p>
          <a:p>
            <a:r>
              <a:rPr sz="1200">
                <a:solidFill>
                  <a:srgbClr val="1A1A1A"/>
                </a:solidFill>
              </a:rPr>
              <a:t>• 智慧電表（AMI）：30 分鐘間隔自動讀表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選擇（加分）項目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• 太陽光電 + ESS 儲能整合 [2024強化]</a:t>
            </a:r>
          </a:p>
          <a:p>
            <a:r>
              <a:rPr sz="1100">
                <a:solidFill>
                  <a:srgbClr val="1A1A1A"/>
                </a:solidFill>
              </a:rPr>
              <a:t>• AI 電力需量預測與自動控制 [2024 AI加分]</a:t>
            </a:r>
          </a:p>
          <a:p>
            <a:r>
              <a:rPr sz="1100">
                <a:solidFill>
                  <a:srgbClr val="1A1A1A"/>
                </a:solidFill>
              </a:rPr>
              <a:t>• 建築碳足跡即時監控儀表板 [2024新增]</a:t>
            </a:r>
          </a:p>
          <a:p>
            <a:r>
              <a:rPr sz="1100">
                <a:solidFill>
                  <a:srgbClr val="1A1A1A"/>
                </a:solidFill>
              </a:rPr>
              <a:t>• 電動車充電樁智慧管理</a:t>
            </a:r>
          </a:p>
          <a:p>
            <a:r>
              <a:rPr sz="1100">
                <a:solidFill>
                  <a:srgbClr val="1A1A1A"/>
                </a:solidFill>
              </a:rPr>
              <a:t>• 需量反應（DR）自動化機制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828800"/>
            <a:ext cx="5029200" cy="201168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2024 重點：碳足跡監控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286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2024 版新增建築碳足跡即時監控加分項：
系統依能源耗用量自動換算 CO₂ 排放，提供月度碳排告報告，協助建築物進行碳盤查。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</a:rPr>
              <a:t>05 設備整合 ／ Systems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50392"/>
            <a:ext cx="10972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784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設備整合 —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Systems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必要項目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建築自動化系統（BAS / BMS）：跨系統整合平台</a:t>
            </a:r>
          </a:p>
          <a:p>
            <a:r>
              <a:rPr sz="1200">
                <a:solidFill>
                  <a:srgbClr val="1A1A1A"/>
                </a:solidFill>
              </a:rPr>
              <a:t>• 中央監控室：統一操作介面（至少三系統整合）</a:t>
            </a:r>
          </a:p>
          <a:p>
            <a:r>
              <a:rPr sz="1200">
                <a:solidFill>
                  <a:srgbClr val="1A1A1A"/>
                </a:solidFill>
              </a:rPr>
              <a:t>• 開放通訊協議：BACnet、Modbus 或 MQTT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選擇（加分）項目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• BIM 數位孿生整合（3D 即時管理）[2024新增]</a:t>
            </a:r>
          </a:p>
          <a:p>
            <a:r>
              <a:rPr sz="1100">
                <a:solidFill>
                  <a:srgbClr val="1A1A1A"/>
                </a:solidFill>
              </a:rPr>
              <a:t>• AI 設備壽命預測性維護 [2024 AI加分]</a:t>
            </a:r>
          </a:p>
          <a:p>
            <a:r>
              <a:rPr sz="1100">
                <a:solidFill>
                  <a:srgbClr val="1A1A1A"/>
                </a:solidFill>
              </a:rPr>
              <a:t>• 雲端遠端監控平台</a:t>
            </a:r>
          </a:p>
          <a:p>
            <a:r>
              <a:rPr sz="1100">
                <a:solidFill>
                  <a:srgbClr val="1A1A1A"/>
                </a:solidFill>
              </a:rPr>
              <a:t>• IoT 閘道器 × 感測器網路擴充</a:t>
            </a:r>
          </a:p>
          <a:p>
            <a:r>
              <a:rPr sz="1100">
                <a:solidFill>
                  <a:srgbClr val="1A1A1A"/>
                </a:solidFill>
              </a:rPr>
              <a:t>• 數位維運工單系統（CMMS）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828800"/>
            <a:ext cx="5029200" cy="20116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2024 重點：BIM 數位孿生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286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數位孿生將實體建築 1:1 映射為 3D 數位模型，
每個設備的即時狀態直接顯示在模型上，大幅提升維護效率並減少停機損失。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891B2"/>
                </a:solidFill>
              </a:rPr>
              <a:t>06 貼心便利 ／ Smart Convenience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50392"/>
            <a:ext cx="109728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784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貼心便利 —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Smart Convenience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91B2"/>
                </a:solidFill>
              </a:rPr>
              <a:t>必要項目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智慧停車：車牌辨識 + 剩餘車位即時顯示</a:t>
            </a:r>
          </a:p>
          <a:p>
            <a:r>
              <a:rPr sz="1200">
                <a:solidFill>
                  <a:srgbClr val="1A1A1A"/>
                </a:solidFill>
              </a:rPr>
              <a:t>• 訪客管理：電子登記 + 訪客證件核驗</a:t>
            </a:r>
          </a:p>
          <a:p>
            <a:r>
              <a:rPr sz="1200">
                <a:solidFill>
                  <a:srgbClr val="1A1A1A"/>
                </a:solidFill>
              </a:rPr>
              <a:t>• 資訊服務：大廳資訊看板 / 導覽系統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91B2"/>
                </a:solidFill>
              </a:rPr>
              <a:t>選擇（加分）項目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• 物業管理 App（報修、繳費、公告）[2024強化]</a:t>
            </a:r>
          </a:p>
          <a:p>
            <a:r>
              <a:rPr sz="1100">
                <a:solidFill>
                  <a:srgbClr val="1A1A1A"/>
                </a:solidFill>
              </a:rPr>
              <a:t>• 智慧信箱：包裹自動通知 + 自取</a:t>
            </a:r>
          </a:p>
          <a:p>
            <a:r>
              <a:rPr sz="1100">
                <a:solidFill>
                  <a:srgbClr val="1A1A1A"/>
                </a:solidFill>
              </a:rPr>
              <a:t>• 共用設施線上預約系統</a:t>
            </a:r>
          </a:p>
          <a:p>
            <a:r>
              <a:rPr sz="1100">
                <a:solidFill>
                  <a:srgbClr val="1A1A1A"/>
                </a:solidFill>
              </a:rPr>
              <a:t>• 智慧停車自動繳費（ETC / 行動支付）</a:t>
            </a:r>
          </a:p>
          <a:p>
            <a:r>
              <a:rPr sz="1100">
                <a:solidFill>
                  <a:srgbClr val="1A1A1A"/>
                </a:solidFill>
              </a:rPr>
              <a:t>• IoT 智慧家電整合控制 [2024新增]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828800"/>
            <a:ext cx="5029200" cy="201168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91B2"/>
                </a:solidFill>
              </a:rPr>
              <a:t>2024 重點：物業 App 整合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286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2024 版大幅提升行動 App 整合評分比重，
要求物業 App 涵蓋：報修申請、社區公告、訪客 QR Code 邀請、共用設施預約、繳費等。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智慧建築 ／ 認證等級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50392"/>
            <a:ext cx="109728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7840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四個認證等級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91640"/>
            <a:ext cx="2651760" cy="32004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</a:rPr>
              <a:t>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B7280"/>
                </a:solidFill>
              </a:rPr>
              <a:t>合格級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Qualified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</a:rPr>
              <a:t>基礎門檻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01568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各指標必要項目全數通過，選擇項目達最低得分門檻，具備完整智慧建築基礎功能。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691640"/>
            <a:ext cx="2651760" cy="32004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783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</a:rPr>
              <a:t>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4748B"/>
                </a:solidFill>
              </a:rPr>
              <a:t>銀　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Silver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063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</a:rPr>
              <a:t>優良表現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79" y="3401568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在合格基礎上，多項加分指標有良好表現，系統整合度高，具備智慧化升級潛力。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691640"/>
            <a:ext cx="2651760" cy="32004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783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</a:rPr>
              <a:t>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45309"/>
                </a:solidFill>
              </a:rPr>
              <a:t>黃金級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Gold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063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45309"/>
                </a:solidFill>
              </a:rPr>
              <a:t>卓越表現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01568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多數指標達高分，具備 AI 智慧化、跨系統整合及主動式管理能力，為市場標竿案例。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691640"/>
            <a:ext cx="2651760" cy="32004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783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</a:rPr>
              <a:t>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40AF"/>
                </a:solidFill>
              </a:rPr>
              <a:t>鑽石級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Diamond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063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40AF"/>
                </a:solidFill>
              </a:rPr>
              <a:t>頂尖典範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401568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六大指標均達頂尖水準，涵蓋 AI 分析、數位孿生、5G 及碳足跡監控，代表台灣最高智慧建築標準。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029200"/>
            <a:ext cx="5303520" cy="1508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2024 版鑽石級新要求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486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至少導入 2 項 AI 智慧化加分子項</a:t>
            </a:r>
          </a:p>
          <a:p>
            <a:r>
              <a:rPr sz="1200">
                <a:solidFill>
                  <a:srgbClr val="1A1A1A"/>
                </a:solidFill>
              </a:rPr>
              <a:t>• 完成建築碳足跡監控系統建置</a:t>
            </a:r>
          </a:p>
          <a:p>
            <a:r>
              <a:rPr sz="1200">
                <a:solidFill>
                  <a:srgbClr val="1A1A1A"/>
                </a:solidFill>
              </a:rPr>
              <a:t>• 具備 BIM 數位孿生或 5G 基礎設施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5029200"/>
            <a:ext cx="5303520" cy="1508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評定有效期與展延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486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標章有效期：5 年</a:t>
            </a:r>
          </a:p>
          <a:p>
            <a:r>
              <a:rPr sz="1200">
                <a:solidFill>
                  <a:srgbClr val="1A1A1A"/>
                </a:solidFill>
              </a:rPr>
              <a:t>• 到期前 6 個月可申請重新評定或展延</a:t>
            </a:r>
          </a:p>
          <a:p>
            <a:r>
              <a:rPr sz="1200">
                <a:solidFill>
                  <a:srgbClr val="1A1A1A"/>
                </a:solidFill>
              </a:rPr>
              <a:t>• 系統升級後可申請等級提升評定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智慧建築 ／ 申請流程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50392"/>
            <a:ext cx="109728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7840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申請流程 — 四大階段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651760" cy="2560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202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4ED8"/>
                </a:solidFill>
              </a:rPr>
              <a:t>STEP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402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7157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設計階段規劃申請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218688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確認智慧化系統設計規格，向建研所提出「候選智慧建築證書」申請，確立評估方向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828800"/>
            <a:ext cx="2651760" cy="2560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7" y="19202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4ED8"/>
                </a:solidFill>
              </a:rP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7" y="22402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🏗️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7" y="27157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施工階段文件蒐集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7" y="3218688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設備採購規格書、施工紀錄、系統整合測試報告、資安掃描報告等文件備齊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828800"/>
            <a:ext cx="2651760" cy="2560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19202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4ED8"/>
                </a:solidFill>
              </a:rP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2402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7157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竣工後現場勘查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3218688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委託評定機構進行書面審查＋現場設備功能測試，驗證各指標實際運作狀況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828800"/>
            <a:ext cx="2651760" cy="2560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19202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4ED8"/>
                </a:solidFill>
              </a:rPr>
              <a:t>STEP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2402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27157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核發標章公開揭示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3218688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通過評定後核發正式標章，建築物公共區域需揭示標章，並登錄至建研所資料庫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572000"/>
            <a:ext cx="5303520" cy="19202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申請應備文件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0292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智慧化系統設計說明書</a:t>
            </a:r>
          </a:p>
          <a:p>
            <a:r>
              <a:rPr sz="1200">
                <a:solidFill>
                  <a:srgbClr val="1A1A1A"/>
                </a:solidFill>
              </a:rPr>
              <a:t>• 各子系統設備規格書及型錄</a:t>
            </a:r>
          </a:p>
          <a:p>
            <a:r>
              <a:rPr sz="1200">
                <a:solidFill>
                  <a:srgbClr val="1A1A1A"/>
                </a:solidFill>
              </a:rPr>
              <a:t>• 系統整合測試報告（FAT/SAT）</a:t>
            </a:r>
          </a:p>
          <a:p>
            <a:r>
              <a:rPr sz="1200">
                <a:solidFill>
                  <a:srgbClr val="1A1A1A"/>
                </a:solidFill>
              </a:rPr>
              <a:t>• 資訊安全評估報告（2024版強制）</a:t>
            </a:r>
          </a:p>
          <a:p>
            <a:r>
              <a:rPr sz="1200">
                <a:solidFill>
                  <a:srgbClr val="1A1A1A"/>
                </a:solidFill>
              </a:rPr>
              <a:t>• 竣工平面圖 × 系統架構圖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572000"/>
            <a:ext cx="5303520" cy="1920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評定機構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0292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申請人可自行向內政部建築研究所申請，或委託建研所認可之評定機構代為辦理。
評定費用依建築規模與評估指標數量而定。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</a:rPr>
              <a:t>智慧建築 ／ 重點回顧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50392"/>
            <a:ext cx="109728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7840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六大指標 × 2024 更新一覽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91640"/>
            <a:ext cx="228600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指標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691640"/>
            <a:ext cx="274320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737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核心功能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691640"/>
            <a:ext cx="274320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737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必要項目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1691640"/>
            <a:ext cx="274320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737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2024 新重點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148840"/>
            <a:ext cx="2286000" cy="640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19964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① 資訊通信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148840"/>
            <a:ext cx="2743200" cy="640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2199640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ICT 基礎 × 網路覆蓋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148840"/>
            <a:ext cx="2743200" cy="640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2199640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Cat.6A 佈線、Wi-Fi 全棟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2148840"/>
            <a:ext cx="2743200" cy="640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7112" y="2199640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5G小基站、Zero Trust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2843784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2894584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② 安全防災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843784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2894584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門禁 × 監控 × 火警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843784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2894584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門禁、CCTV、火警、廣播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2843784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7112" y="2894584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AI 影像行為分析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538728"/>
            <a:ext cx="2286000" cy="640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589528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③ 健康舒適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538728"/>
            <a:ext cx="2743200" cy="640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9272" y="3589528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IAQ × 空調 × 照明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538728"/>
            <a:ext cx="2743200" cy="640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3589528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CO₂ 監測、空調自控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3538728"/>
            <a:ext cx="2743200" cy="640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7112" y="3589528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AI 預測性空調控制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233672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28447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④ 節能管理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4233672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9272" y="4284472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EMS × 計量 × 再生能源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4233672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08192" y="4284472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EMS、分項計量、智慧電表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23960" y="4233672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97112" y="4284472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碳足跡監控儀表板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4928616"/>
            <a:ext cx="2286000" cy="640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4979416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⑤ 設備整合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6120" y="4928616"/>
            <a:ext cx="2743200" cy="640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19272" y="4979416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BAS/BMS × 跨系統整合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4928616"/>
            <a:ext cx="2743200" cy="640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08192" y="4979416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BMS、開放協議、中控室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23960" y="4928616"/>
            <a:ext cx="2743200" cy="640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97112" y="4979416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BIM 數位孿生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562356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" y="56743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</a:rPr>
              <a:t>⑥ 貼心便利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46120" y="562356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19272" y="5674360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停車 × 訪客 × 行動服務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62356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08192" y="5674360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智慧停車、訪客管理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23960" y="562356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97112" y="5674360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物業 App × IoT 家電整合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A5FA"/>
                </a:solidFill>
              </a:rPr>
              <a:t>智慧建築標章 2024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從 ICT 基礎到 AI 數位孿生，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0A5FA"/>
                </a:solidFill>
              </a:rPr>
              <a:t>智慧建築不只是科技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而是對使用者生活品質的完整承諾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46120"/>
            <a:ext cx="64008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6210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資訊通信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657600"/>
            <a:ext cx="16459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36210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安全防災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657600"/>
            <a:ext cx="164592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36210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健康舒適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65760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6210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節能管理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657600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6210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設備整合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3657600"/>
            <a:ext cx="164592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0" y="36210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貼心便利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17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4155"/>
                </a:solidFill>
              </a:rPr>
              <a:t>資料來源：內政部建築研究所 智慧建築標章評估手冊 2024 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