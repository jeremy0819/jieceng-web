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spc="2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都市更新 ｜ 全案管理 PCM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都更的成敗，</a:t>
            </a:r>
          </a:p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取決於「整合」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886200"/>
            <a:ext cx="658368" cy="30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A8A29E"/>
                </a:solidFill>
                <a:latin typeface="Noto Sans TC"/>
                <a:ea typeface="Noto Sans TC"/>
                <a:cs typeface="Noto Sans TC"/>
              </a:rPr>
              <a:t>一個都更案需要五種專業同時到位。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A8A29E"/>
                </a:solidFill>
                <a:latin typeface="Noto Sans TC"/>
                <a:ea typeface="Noto Sans TC"/>
                <a:cs typeface="Noto Sans TC"/>
              </a:rPr>
              <a:t>市場上人人都能提供其中一塊──但唯有傑丞，把整塊整合起來。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78716C"/>
                </a:solidFill>
                <a:latin typeface="Noto Sans TC"/>
                <a:ea typeface="Noto Sans TC"/>
                <a:cs typeface="Noto Sans TC"/>
              </a:rPr>
              <a:t>傑丞建築機構　Jieceng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5544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spc="2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PROLOGUE ｜ 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5740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都更不缺專業，</a:t>
            </a:r>
          </a:p>
          <a:p>
            <a:pPr algn="l">
              <a:lnSpc>
                <a:spcPct val="130000"/>
              </a:lnSpc>
            </a:pPr>
            <a:r>
              <a:rPr sz="34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缺的是把專業</a:t>
            </a:r>
            <a:r>
              <a:rPr sz="3400" b="1" i="0">
                <a:solidFill>
                  <a:srgbClr val="10B981"/>
                </a:solidFill>
                <a:latin typeface="Noto Serif TC"/>
                <a:ea typeface="Noto Serif TC"/>
                <a:cs typeface="Noto Serif TC"/>
              </a:rPr>
              <a:t>「縫合」</a:t>
            </a:r>
            <a:r>
              <a:rPr sz="34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起來的人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14800"/>
            <a:ext cx="9692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A8A29E"/>
                </a:solidFill>
                <a:latin typeface="Noto Sans TC"/>
                <a:ea typeface="Noto Sans TC"/>
                <a:cs typeface="Noto Sans TC"/>
              </a:rPr>
              <a:t>建築師、建經公司、營造廠、都更顧問──每一種都能為住戶提供一塊「全案管理顧問包」。</a:t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A8A29E"/>
                </a:solidFill>
                <a:latin typeface="Noto Sans TC"/>
                <a:ea typeface="Noto Sans TC"/>
                <a:cs typeface="Noto Sans TC"/>
              </a:rPr>
              <a:t>但都更最常出事的，不是哪一塊做得不好，而是</a:t>
            </a: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塊與塊之間的接縫</a:t>
            </a:r>
            <a:r>
              <a:rPr sz="1500" b="0" i="0">
                <a:solidFill>
                  <a:srgbClr val="A8A29E"/>
                </a:solidFill>
                <a:latin typeface="Noto Sans TC"/>
                <a:ea typeface="Noto Sans TC"/>
                <a:cs typeface="Noto Sans TC"/>
              </a:rPr>
              <a:t>：誰負責？誰把關？出事誰扛？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200">
                <a:solidFill>
                  <a:srgbClr val="A8A29E"/>
                </a:solidFill>
                <a:latin typeface="Consolas"/>
                <a:ea typeface="Consolas"/>
                <a:cs typeface="Consolas"/>
              </a:rPr>
              <a:t>THE QUESTION ｜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60120"/>
            <a:ext cx="548640" cy="2794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C1A17"/>
                </a:solidFill>
                <a:latin typeface="Noto Serif TC"/>
                <a:ea typeface="Noto Serif TC"/>
                <a:cs typeface="Noto Serif TC"/>
              </a:rPr>
              <a:t>都更住戶最常問的一句話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064E3B"/>
                </a:solidFill>
                <a:latin typeface="Noto Serif TC"/>
                <a:ea typeface="Noto Serif TC"/>
                <a:cs typeface="Noto Serif TC"/>
              </a:rPr>
              <a:t>「這個案子，到底該交給誰來統籌？」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 i="0">
                <a:solidFill>
                  <a:srgbClr val="1C1A17"/>
                </a:solidFill>
                <a:latin typeface="Noto Sans TC"/>
                <a:ea typeface="Noto Sans TC"/>
                <a:cs typeface="Noto Sans TC"/>
              </a:rPr>
              <a:t>市場上提供「全案管理（PCM）顧問包」的，大致有四種角色。每一種都有它的強項，</a:t>
            </a:r>
          </a:p>
          <a:p>
            <a:pPr algn="l">
              <a:lnSpc>
                <a:spcPct val="155000"/>
              </a:lnSpc>
            </a:pPr>
            <a:r>
              <a:rPr sz="1500" b="0" i="0">
                <a:solidFill>
                  <a:srgbClr val="1C1A17"/>
                </a:solidFill>
                <a:latin typeface="Noto Sans TC"/>
                <a:ea typeface="Noto Sans TC"/>
                <a:cs typeface="Noto Sans TC"/>
              </a:rPr>
              <a:t>也都有它</a:t>
            </a:r>
            <a:r>
              <a:rPr sz="1500" b="1" i="0">
                <a:solidFill>
                  <a:srgbClr val="064E3B"/>
                </a:solidFill>
                <a:latin typeface="Noto Sans TC"/>
                <a:ea typeface="Noto Sans TC"/>
                <a:cs typeface="Noto Sans TC"/>
              </a:rPr>
              <a:t>先天的盲點</a:t>
            </a:r>
            <a:r>
              <a:rPr sz="1500" b="0" i="0">
                <a:solidFill>
                  <a:srgbClr val="1C1A17"/>
                </a:solidFill>
                <a:latin typeface="Noto Sans TC"/>
                <a:ea typeface="Noto Sans TC"/>
                <a:cs typeface="Noto Sans TC"/>
              </a:rPr>
              <a:t>──因為他們各自只站在自己那塊專業裡。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206240"/>
            <a:ext cx="254203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4206240"/>
            <a:ext cx="2542032" cy="381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407408"/>
            <a:ext cx="2084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spc="120">
                <a:solidFill>
                  <a:srgbClr val="A8A29E"/>
                </a:solidFill>
                <a:latin typeface="Consolas"/>
                <a:ea typeface="Consolas"/>
                <a:cs typeface="Consola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754880"/>
            <a:ext cx="2084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1A17"/>
                </a:solidFill>
                <a:latin typeface="Noto Sans TC"/>
                <a:ea typeface="Noto Sans TC"/>
                <a:cs typeface="Noto Sans TC"/>
              </a:rPr>
              <a:t>建築師事務所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193792"/>
            <a:ext cx="2084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4403C"/>
                </a:solidFill>
                <a:latin typeface="Noto Sans TC"/>
                <a:ea typeface="Noto Sans TC"/>
                <a:cs typeface="Noto Sans TC"/>
              </a:rPr>
              <a:t>空間與設計的源頭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9584" y="4206240"/>
            <a:ext cx="254203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9584" y="4206240"/>
            <a:ext cx="2542032" cy="381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58184" y="4407408"/>
            <a:ext cx="2084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spc="120">
                <a:solidFill>
                  <a:srgbClr val="A8A29E"/>
                </a:solidFill>
                <a:latin typeface="Consolas"/>
                <a:ea typeface="Consolas"/>
                <a:cs typeface="Consola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8184" y="4754880"/>
            <a:ext cx="2084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1A17"/>
                </a:solidFill>
                <a:latin typeface="Noto Sans TC"/>
                <a:ea typeface="Noto Sans TC"/>
                <a:cs typeface="Noto Sans TC"/>
              </a:rPr>
              <a:t>建經公司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58184" y="5193792"/>
            <a:ext cx="2084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4403C"/>
                </a:solidFill>
                <a:latin typeface="Noto Sans TC"/>
                <a:ea typeface="Noto Sans TC"/>
                <a:cs typeface="Noto Sans TC"/>
              </a:rPr>
              <a:t>資金與信託的把關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8" y="4206240"/>
            <a:ext cx="254203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6208" y="4206240"/>
            <a:ext cx="2542032" cy="381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4407408"/>
            <a:ext cx="2084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spc="120">
                <a:solidFill>
                  <a:srgbClr val="A8A29E"/>
                </a:solidFill>
                <a:latin typeface="Consolas"/>
                <a:ea typeface="Consolas"/>
                <a:cs typeface="Consolas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4754880"/>
            <a:ext cx="2084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1A17"/>
                </a:solidFill>
                <a:latin typeface="Noto Sans TC"/>
                <a:ea typeface="Noto Sans TC"/>
                <a:cs typeface="Noto Sans TC"/>
              </a:rPr>
              <a:t>營造廠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5193792"/>
            <a:ext cx="2084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4403C"/>
                </a:solidFill>
                <a:latin typeface="Noto Sans TC"/>
                <a:ea typeface="Noto Sans TC"/>
                <a:cs typeface="Noto Sans TC"/>
              </a:rPr>
              <a:t>把房子蓋出來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42832" y="4206240"/>
            <a:ext cx="254203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42832" y="4206240"/>
            <a:ext cx="2542032" cy="381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1432" y="4407408"/>
            <a:ext cx="2084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spc="120">
                <a:solidFill>
                  <a:srgbClr val="A8A29E"/>
                </a:solidFill>
                <a:latin typeface="Consolas"/>
                <a:ea typeface="Consolas"/>
                <a:cs typeface="Consolas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4754880"/>
            <a:ext cx="2084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1A17"/>
                </a:solidFill>
                <a:latin typeface="Noto Sans TC"/>
                <a:ea typeface="Noto Sans TC"/>
                <a:cs typeface="Noto Sans TC"/>
              </a:rPr>
              <a:t>都更顧問公司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432" y="5193792"/>
            <a:ext cx="2084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4403C"/>
                </a:solidFill>
                <a:latin typeface="Noto Sans TC"/>
                <a:ea typeface="Noto Sans TC"/>
                <a:cs typeface="Noto Sans TC"/>
              </a:rPr>
              <a:t>法規與整合的推手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200">
                <a:solidFill>
                  <a:srgbClr val="A8A29E"/>
                </a:solidFill>
                <a:latin typeface="Consolas"/>
                <a:ea typeface="Consolas"/>
                <a:cs typeface="Consolas"/>
              </a:rPr>
              <a:t>EACH HAS A STRENGTH ｜ 02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60120"/>
            <a:ext cx="548640" cy="2794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C1A17"/>
                </a:solidFill>
                <a:latin typeface="Noto Serif TC"/>
                <a:ea typeface="Noto Serif TC"/>
                <a:cs typeface="Noto Serif TC"/>
              </a:rPr>
              <a:t>四種專業，各擅一塊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2542032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86000"/>
            <a:ext cx="2542032" cy="381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514600"/>
            <a:ext cx="2084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100">
                <a:solidFill>
                  <a:srgbClr val="A8A29E"/>
                </a:solidFill>
                <a:latin typeface="Consolas"/>
                <a:ea typeface="Consolas"/>
                <a:cs typeface="Consolas"/>
              </a:rPr>
              <a:t>A · ARCHITECT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852928"/>
            <a:ext cx="20848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1A17"/>
                </a:solidFill>
                <a:latin typeface="Noto Sans TC"/>
                <a:ea typeface="Noto Sans TC"/>
                <a:cs typeface="Noto Sans TC"/>
              </a:rPr>
              <a:t>建築師事務所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3429000"/>
            <a:ext cx="25400" cy="173736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3401568"/>
            <a:ext cx="194767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064E3B"/>
                </a:solidFill>
                <a:latin typeface="Noto Sans TC"/>
                <a:ea typeface="Noto Sans TC"/>
                <a:cs typeface="Noto Sans TC"/>
              </a:rPr>
              <a:t>設計與規劃的源頭，掌握空間、量體、容積獎勵的技術。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9584" y="2286000"/>
            <a:ext cx="2542032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9584" y="2286000"/>
            <a:ext cx="2542032" cy="381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58184" y="2514600"/>
            <a:ext cx="2084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100">
                <a:solidFill>
                  <a:srgbClr val="A8A29E"/>
                </a:solidFill>
                <a:latin typeface="Consolas"/>
                <a:ea typeface="Consolas"/>
                <a:cs typeface="Consolas"/>
              </a:rPr>
              <a:t>B · CONSTR. MGMT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8184" y="2852928"/>
            <a:ext cx="20848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1A17"/>
                </a:solidFill>
                <a:latin typeface="Noto Sans TC"/>
                <a:ea typeface="Noto Sans TC"/>
                <a:cs typeface="Noto Sans TC"/>
              </a:rPr>
              <a:t>建經公司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58184" y="3429000"/>
            <a:ext cx="25400" cy="173736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13632" y="3401568"/>
            <a:ext cx="194767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064E3B"/>
                </a:solidFill>
                <a:latin typeface="Noto Sans TC"/>
                <a:ea typeface="Noto Sans TC"/>
                <a:cs typeface="Noto Sans TC"/>
              </a:rPr>
              <a:t>信託專款查核、財務稽核與工程估驗，守住資金不被挪用。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8" y="2286000"/>
            <a:ext cx="2542032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6208" y="2286000"/>
            <a:ext cx="2542032" cy="381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2514600"/>
            <a:ext cx="2084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100">
                <a:solidFill>
                  <a:srgbClr val="A8A29E"/>
                </a:solidFill>
                <a:latin typeface="Consolas"/>
                <a:ea typeface="Consolas"/>
                <a:cs typeface="Consolas"/>
              </a:rPr>
              <a:t>C · CONTRACTOR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2852928"/>
            <a:ext cx="20848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1A17"/>
                </a:solidFill>
                <a:latin typeface="Noto Sans TC"/>
                <a:ea typeface="Noto Sans TC"/>
                <a:cs typeface="Noto Sans TC"/>
              </a:rPr>
              <a:t>營造廠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64808" y="3429000"/>
            <a:ext cx="25400" cy="173736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0256" y="3401568"/>
            <a:ext cx="194767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064E3B"/>
                </a:solidFill>
                <a:latin typeface="Noto Sans TC"/>
                <a:ea typeface="Noto Sans TC"/>
                <a:cs typeface="Noto Sans TC"/>
              </a:rPr>
              <a:t>實際施工能力，把設計圖落成真正的建築。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42832" y="2286000"/>
            <a:ext cx="2542032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42832" y="2286000"/>
            <a:ext cx="2542032" cy="381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71432" y="2514600"/>
            <a:ext cx="2084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100">
                <a:solidFill>
                  <a:srgbClr val="A8A29E"/>
                </a:solidFill>
                <a:latin typeface="Consolas"/>
                <a:ea typeface="Consolas"/>
                <a:cs typeface="Consolas"/>
              </a:rPr>
              <a:t>D · CONSULTANT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432" y="2852928"/>
            <a:ext cx="20848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1A17"/>
                </a:solidFill>
                <a:latin typeface="Noto Sans TC"/>
                <a:ea typeface="Noto Sans TC"/>
                <a:cs typeface="Noto Sans TC"/>
              </a:rPr>
              <a:t>都更顧問公司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71432" y="3429000"/>
            <a:ext cx="25400" cy="173736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3401568"/>
            <a:ext cx="194767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064E3B"/>
                </a:solidFill>
                <a:latin typeface="Noto Sans TC"/>
                <a:ea typeface="Noto Sans TC"/>
                <a:cs typeface="Noto Sans TC"/>
              </a:rPr>
              <a:t>熟悉法規、同意書整合與報核程序，推動案子過門檻。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A8A29E"/>
                </a:solidFill>
                <a:latin typeface="Noto Sans TC"/>
                <a:ea typeface="Noto Sans TC"/>
                <a:cs typeface="Noto Sans TC"/>
              </a:rPr>
              <a:t>說明：以上為各專業的核心定位，實務上業者服務範圍或有重疊。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200">
                <a:solidFill>
                  <a:srgbClr val="A8A29E"/>
                </a:solidFill>
                <a:latin typeface="Consolas"/>
                <a:ea typeface="Consolas"/>
                <a:cs typeface="Consolas"/>
              </a:rPr>
              <a:t>EACH HAS A BLIND SPOT ｜ 03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60120"/>
            <a:ext cx="548640" cy="2794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C1A17"/>
                </a:solidFill>
                <a:latin typeface="Noto Serif TC"/>
                <a:ea typeface="Noto Serif TC"/>
                <a:cs typeface="Noto Serif TC"/>
              </a:rPr>
              <a:t>但各自，也都有先天的盲點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2542032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86000"/>
            <a:ext cx="2542032" cy="381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514600"/>
            <a:ext cx="2084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100">
                <a:solidFill>
                  <a:srgbClr val="A8A29E"/>
                </a:solidFill>
                <a:latin typeface="Consolas"/>
                <a:ea typeface="Consolas"/>
                <a:cs typeface="Consolas"/>
              </a:rPr>
              <a:t>A · ARCHITECT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852928"/>
            <a:ext cx="20848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1A17"/>
                </a:solidFill>
                <a:latin typeface="Noto Sans TC"/>
                <a:ea typeface="Noto Sans TC"/>
                <a:cs typeface="Noto Sans TC"/>
              </a:rPr>
              <a:t>建築師事務所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3429000"/>
            <a:ext cx="25400" cy="17373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3401568"/>
            <a:ext cx="194767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B45309"/>
                </a:solidFill>
                <a:latin typeface="Noto Sans TC"/>
                <a:ea typeface="Noto Sans TC"/>
                <a:cs typeface="Noto Sans TC"/>
              </a:rPr>
              <a:t>強於設計，弱於財務試算、營造監督與銷售去化；難以替地主把關「錢」與「賣」。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9584" y="2286000"/>
            <a:ext cx="2542032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9584" y="2286000"/>
            <a:ext cx="2542032" cy="381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58184" y="2514600"/>
            <a:ext cx="2084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100">
                <a:solidFill>
                  <a:srgbClr val="A8A29E"/>
                </a:solidFill>
                <a:latin typeface="Consolas"/>
                <a:ea typeface="Consolas"/>
                <a:cs typeface="Consolas"/>
              </a:rPr>
              <a:t>B · CONSTR. MGMT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8184" y="2852928"/>
            <a:ext cx="20848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1A17"/>
                </a:solidFill>
                <a:latin typeface="Noto Sans TC"/>
                <a:ea typeface="Noto Sans TC"/>
                <a:cs typeface="Noto Sans TC"/>
              </a:rPr>
              <a:t>建經公司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58184" y="3429000"/>
            <a:ext cx="25400" cy="17373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13632" y="3401568"/>
            <a:ext cx="194767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B45309"/>
                </a:solidFill>
                <a:latin typeface="Noto Sans TC"/>
                <a:ea typeface="Noto Sans TC"/>
                <a:cs typeface="Noto Sans TC"/>
              </a:rPr>
              <a:t>守得住金流，卻不主導設計品質與工程進度；只查核、不統籌。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8" y="2286000"/>
            <a:ext cx="2542032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6208" y="2286000"/>
            <a:ext cx="2542032" cy="381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2514600"/>
            <a:ext cx="2084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100">
                <a:solidFill>
                  <a:srgbClr val="A8A29E"/>
                </a:solidFill>
                <a:latin typeface="Consolas"/>
                <a:ea typeface="Consolas"/>
                <a:cs typeface="Consolas"/>
              </a:rPr>
              <a:t>C · CONTRACTOR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2852928"/>
            <a:ext cx="20848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1A17"/>
                </a:solidFill>
                <a:latin typeface="Noto Sans TC"/>
                <a:ea typeface="Noto Sans TC"/>
                <a:cs typeface="Noto Sans TC"/>
              </a:rPr>
              <a:t>營造廠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64808" y="3429000"/>
            <a:ext cx="25400" cy="17373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0256" y="3401568"/>
            <a:ext cx="194767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B45309"/>
                </a:solidFill>
                <a:latin typeface="Noto Sans TC"/>
                <a:ea typeface="Noto Sans TC"/>
                <a:cs typeface="Noto Sans TC"/>
              </a:rPr>
              <a:t>球員兼裁判──自己蓋、自己驗，住戶缺乏獨立第三方為品質與工期把關。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42832" y="2286000"/>
            <a:ext cx="2542032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42832" y="2286000"/>
            <a:ext cx="2542032" cy="381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71432" y="2514600"/>
            <a:ext cx="2084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100">
                <a:solidFill>
                  <a:srgbClr val="A8A29E"/>
                </a:solidFill>
                <a:latin typeface="Consolas"/>
                <a:ea typeface="Consolas"/>
                <a:cs typeface="Consolas"/>
              </a:rPr>
              <a:t>D · CONSULTANT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432" y="2852928"/>
            <a:ext cx="20848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1A17"/>
                </a:solidFill>
                <a:latin typeface="Noto Sans TC"/>
                <a:ea typeface="Noto Sans TC"/>
                <a:cs typeface="Noto Sans TC"/>
              </a:rPr>
              <a:t>都更顧問公司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71432" y="3429000"/>
            <a:ext cx="25400" cy="17373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3401568"/>
            <a:ext cx="194767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B45309"/>
                </a:solidFill>
                <a:latin typeface="Noto Sans TC"/>
                <a:ea typeface="Noto Sans TC"/>
                <a:cs typeface="Noto Sans TC"/>
              </a:rPr>
              <a:t>擅長整合送件，卻多半不碰工程監造與資金監管；報核後責任易斷點。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A8A29E"/>
                </a:solidFill>
                <a:latin typeface="Noto Sans TC"/>
                <a:ea typeface="Noto Sans TC"/>
                <a:cs typeface="Noto Sans TC"/>
              </a:rPr>
              <a:t>本頁為產業常見結構性限制之分析，用以說明「單一專業」承接全案時的責任邊界。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200">
                <a:solidFill>
                  <a:srgbClr val="A8A29E"/>
                </a:solidFill>
                <a:latin typeface="Consolas"/>
                <a:ea typeface="Consolas"/>
                <a:cs typeface="Consolas"/>
              </a:rPr>
              <a:t>THE STRUCTURAL GAP ｜ 04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60120"/>
            <a:ext cx="548640" cy="2794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C1A17"/>
                </a:solidFill>
                <a:latin typeface="Noto Serif TC"/>
                <a:ea typeface="Noto Serif TC"/>
                <a:cs typeface="Noto Serif TC"/>
              </a:rPr>
              <a:t>單一專業承接全案，會掉進四個縫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31720"/>
            <a:ext cx="52120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31720"/>
            <a:ext cx="5212080" cy="381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8775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C1A17"/>
                </a:solidFill>
                <a:latin typeface="Noto Sans TC"/>
                <a:ea typeface="Noto Sans TC"/>
                <a:cs typeface="Noto Sans TC"/>
              </a:rPr>
              <a:t>介面斷點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44952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44403C"/>
                </a:solidFill>
                <a:latin typeface="Noto Sans TC"/>
                <a:ea typeface="Noto Sans TC"/>
                <a:cs typeface="Noto Sans TC"/>
              </a:rPr>
              <a:t>設計、法規、營造、財務、銷售分屬不同廠商，接縫沒人負責，進度卡在「等對方」。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331720"/>
            <a:ext cx="52120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2331720"/>
            <a:ext cx="5212080" cy="381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58775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C1A17"/>
                </a:solidFill>
                <a:latin typeface="Noto Sans TC"/>
                <a:ea typeface="Noto Sans TC"/>
                <a:cs typeface="Noto Sans TC"/>
              </a:rPr>
              <a:t>責任推諉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044952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44403C"/>
                </a:solidFill>
                <a:latin typeface="Noto Sans TC"/>
                <a:ea typeface="Noto Sans TC"/>
                <a:cs typeface="Noto Sans TC"/>
              </a:rPr>
              <a:t>工期延宕或鄰損發生時，廠商互指對方──住戶找不到一個扛全責的窗口。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206240"/>
            <a:ext cx="52120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206240"/>
            <a:ext cx="5212080" cy="381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46227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C1A17"/>
                </a:solidFill>
                <a:latin typeface="Noto Sans TC"/>
                <a:ea typeface="Noto Sans TC"/>
                <a:cs typeface="Noto Sans TC"/>
              </a:rPr>
              <a:t>利益衝突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919472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44403C"/>
                </a:solidFill>
                <a:latin typeface="Noto Sans TC"/>
                <a:ea typeface="Noto Sans TC"/>
                <a:cs typeface="Noto Sans TC"/>
              </a:rPr>
              <a:t>營造廠的利潤來自工程款、建商的利潤來自抽成；與「住戶利益最大化」天生不同向。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206240"/>
            <a:ext cx="52120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4206240"/>
            <a:ext cx="5212080" cy="381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46227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C1A17"/>
                </a:solidFill>
                <a:latin typeface="Noto Sans TC"/>
                <a:ea typeface="Noto Sans TC"/>
                <a:cs typeface="Noto Sans TC"/>
              </a:rPr>
              <a:t>資訊不對稱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919472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44403C"/>
                </a:solidFill>
                <a:latin typeface="Noto Sans TC"/>
                <a:ea typeface="Noto Sans TC"/>
                <a:cs typeface="Noto Sans TC"/>
              </a:rPr>
              <a:t>住戶夾在多家廠商中間，看不懂合約與估價，談判籌碼被稀釋。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73736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spc="2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THE INTEGRATOR ｜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28600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傑丞的答案：</a:t>
            </a:r>
          </a:p>
          <a:p>
            <a:pPr algn="l">
              <a:lnSpc>
                <a:spcPct val="130000"/>
              </a:lnSpc>
            </a:pPr>
            <a:r>
              <a:rPr sz="36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把全案，收斂成</a:t>
            </a:r>
            <a:r>
              <a:rPr sz="3600" b="1" i="0">
                <a:solidFill>
                  <a:srgbClr val="10B981"/>
                </a:solidFill>
                <a:latin typeface="Noto Serif TC"/>
                <a:ea typeface="Noto Serif TC"/>
                <a:cs typeface="Noto Serif TC"/>
              </a:rPr>
              <a:t>「一個窗口」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38912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D1FAE5"/>
                </a:solidFill>
                <a:latin typeface="Noto Sans TC"/>
                <a:ea typeface="Noto Sans TC"/>
                <a:cs typeface="Noto Sans TC"/>
              </a:rPr>
              <a:t>我們不只做其中一塊，而是以全案管理者（PCM）的角色，</a:t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D1FAE5"/>
                </a:solidFill>
                <a:latin typeface="Noto Sans TC"/>
                <a:ea typeface="Noto Sans TC"/>
                <a:cs typeface="Noto Sans TC"/>
              </a:rPr>
              <a:t>把五種專業整合在同一張桌子上、同一份合約裡、同一個對地主負責的窗口下。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200">
                <a:solidFill>
                  <a:srgbClr val="A8A29E"/>
                </a:solidFill>
                <a:latin typeface="Consolas"/>
                <a:ea typeface="Consolas"/>
                <a:cs typeface="Consolas"/>
              </a:rPr>
              <a:t>FIVE-IN-ONE ｜ 06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60120"/>
            <a:ext cx="548640" cy="2794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C1A17"/>
                </a:solidFill>
                <a:latin typeface="Noto Serif TC"/>
                <a:ea typeface="Noto Serif TC"/>
                <a:cs typeface="Noto Serif TC"/>
              </a:rPr>
              <a:t>一個窗口，整合五大職能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77440"/>
            <a:ext cx="2084831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2084831" cy="381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596896"/>
            <a:ext cx="17190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spc="120">
                <a:solidFill>
                  <a:srgbClr val="A8A29E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944368"/>
            <a:ext cx="17190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1A17"/>
                </a:solidFill>
                <a:latin typeface="Noto Sans TC"/>
                <a:ea typeface="Noto Sans TC"/>
                <a:cs typeface="Noto Sans TC"/>
              </a:rPr>
              <a:t>法規都更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429000"/>
            <a:ext cx="170078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44403C"/>
                </a:solidFill>
                <a:latin typeface="Noto Sans TC"/>
                <a:ea typeface="Noto Sans TC"/>
                <a:cs typeface="Noto Sans TC"/>
              </a:rPr>
              <a:t>同意整合、容積獎勵、報核審議全程主導。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44951" y="2377440"/>
            <a:ext cx="2084831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44951" y="2377440"/>
            <a:ext cx="2084831" cy="381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19" y="2596896"/>
            <a:ext cx="17190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spc="120">
                <a:solidFill>
                  <a:srgbClr val="A8A29E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19" y="2944368"/>
            <a:ext cx="17190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1A17"/>
                </a:solidFill>
                <a:latin typeface="Noto Sans TC"/>
                <a:ea typeface="Noto Sans TC"/>
                <a:cs typeface="Noto Sans TC"/>
              </a:rPr>
              <a:t>建築設計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19" y="3429000"/>
            <a:ext cx="170078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44403C"/>
                </a:solidFill>
                <a:latin typeface="Noto Sans TC"/>
                <a:ea typeface="Noto Sans TC"/>
                <a:cs typeface="Noto Sans TC"/>
              </a:rPr>
              <a:t>與建築師協作，量體與分回價值最大化。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66942" y="2377440"/>
            <a:ext cx="2084831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66942" y="2377440"/>
            <a:ext cx="2084831" cy="381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68110" y="2596896"/>
            <a:ext cx="17190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spc="120">
                <a:solidFill>
                  <a:srgbClr val="A8A29E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8110" y="2944368"/>
            <a:ext cx="17190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1A17"/>
                </a:solidFill>
                <a:latin typeface="Noto Sans TC"/>
                <a:ea typeface="Noto Sans TC"/>
                <a:cs typeface="Noto Sans TC"/>
              </a:rPr>
              <a:t>財務信託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68110" y="3429000"/>
            <a:ext cx="170078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44403C"/>
                </a:solidFill>
                <a:latin typeface="Noto Sans TC"/>
                <a:ea typeface="Noto Sans TC"/>
                <a:cs typeface="Noto Sans TC"/>
              </a:rPr>
              <a:t>100% 銀行融資、信託專戶、三方查核。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88933" y="2377440"/>
            <a:ext cx="2084831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88933" y="2377440"/>
            <a:ext cx="2084831" cy="381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0101" y="2596896"/>
            <a:ext cx="17190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spc="120">
                <a:solidFill>
                  <a:srgbClr val="A8A29E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0101" y="2944368"/>
            <a:ext cx="17190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1A17"/>
                </a:solidFill>
                <a:latin typeface="Noto Sans TC"/>
                <a:ea typeface="Noto Sans TC"/>
                <a:cs typeface="Noto Sans TC"/>
              </a:rPr>
              <a:t>營造監造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0101" y="3429000"/>
            <a:ext cx="170078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44403C"/>
                </a:solidFill>
                <a:latin typeface="Noto Sans TC"/>
                <a:ea typeface="Noto Sans TC"/>
                <a:cs typeface="Noto Sans TC"/>
              </a:rPr>
              <a:t>獨立第三方監督施工品質與工期。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10924" y="2377440"/>
            <a:ext cx="2084831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10924" y="2377440"/>
            <a:ext cx="2084831" cy="381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12092" y="2596896"/>
            <a:ext cx="17190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spc="120">
                <a:solidFill>
                  <a:srgbClr val="A8A29E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12092" y="2944368"/>
            <a:ext cx="17190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1A17"/>
                </a:solidFill>
                <a:latin typeface="Noto Sans TC"/>
                <a:ea typeface="Noto Sans TC"/>
                <a:cs typeface="Noto Sans TC"/>
              </a:rPr>
              <a:t>銷售去化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12092" y="3429000"/>
            <a:ext cx="170078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44403C"/>
                </a:solidFill>
                <a:latin typeface="Noto Sans TC"/>
                <a:ea typeface="Noto Sans TC"/>
                <a:cs typeface="Noto Sans TC"/>
              </a:rPr>
              <a:t>代銷遴選與退場機制，賣多少付多少。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C1A17"/>
                </a:solidFill>
                <a:latin typeface="Noto Sans TC"/>
                <a:ea typeface="Noto Sans TC"/>
                <a:cs typeface="Noto Sans TC"/>
              </a:rPr>
              <a:t>關鍵不在「五項都有」，而在於──</a:t>
            </a:r>
            <a:r>
              <a:rPr sz="1500" b="1" i="0">
                <a:solidFill>
                  <a:srgbClr val="064E3B"/>
                </a:solidFill>
                <a:latin typeface="Noto Sans TC"/>
                <a:ea typeface="Noto Sans TC"/>
                <a:cs typeface="Noto Sans TC"/>
              </a:rPr>
              <a:t>由同一個對地主負責的窗口，把五項縫成一條線</a:t>
            </a:r>
            <a:r>
              <a:rPr sz="1500" b="0" i="0">
                <a:solidFill>
                  <a:srgbClr val="1C1A17"/>
                </a:solidFill>
                <a:latin typeface="Noto Sans TC"/>
                <a:ea typeface="Noto Sans TC"/>
                <a:cs typeface="Noto Sans TC"/>
              </a:rPr>
              <a:t>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200">
                <a:solidFill>
                  <a:srgbClr val="A8A29E"/>
                </a:solidFill>
                <a:latin typeface="Consolas"/>
                <a:ea typeface="Consolas"/>
                <a:cs typeface="Consolas"/>
              </a:rPr>
              <a:t>WHOSE SIDE ｜ 07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60120"/>
            <a:ext cx="548640" cy="2794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C1A17"/>
                </a:solidFill>
                <a:latin typeface="Noto Serif TC"/>
                <a:ea typeface="Noto Serif TC"/>
                <a:cs typeface="Noto Serif TC"/>
              </a:rPr>
              <a:t>而且，站在地主這一邊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77440"/>
            <a:ext cx="3456432" cy="246888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2907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僱傭關係，不是建商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46120"/>
            <a:ext cx="290779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D1FAE5"/>
                </a:solidFill>
                <a:latin typeface="Noto Sans TC"/>
                <a:ea typeface="Noto Sans TC"/>
                <a:cs typeface="Noto Sans TC"/>
              </a:rPr>
              <a:t>傑丞是地主聘請的全案經理人，所有權、決策權、利潤全數歸地主，不從中抽取開發利潤。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07992" y="2377440"/>
            <a:ext cx="3456432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07992" y="2377440"/>
            <a:ext cx="3456432" cy="381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82312" y="2651760"/>
            <a:ext cx="2907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1A17"/>
                </a:solidFill>
                <a:latin typeface="Noto Sans TC"/>
                <a:ea typeface="Noto Sans TC"/>
                <a:cs typeface="Noto Sans TC"/>
              </a:rPr>
              <a:t>利潤留在地主手中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3246120"/>
            <a:ext cx="290779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44403C"/>
                </a:solidFill>
                <a:latin typeface="Noto Sans TC"/>
                <a:ea typeface="Noto Sans TC"/>
                <a:cs typeface="Noto Sans TC"/>
              </a:rPr>
              <a:t>自主更新（更新會）模式，省下傳統合建中建商賺取的 </a:t>
            </a:r>
            <a:r>
              <a:rPr sz="1250" b="1" i="0">
                <a:solidFill>
                  <a:srgbClr val="064E3B"/>
                </a:solidFill>
                <a:latin typeface="Noto Sans TC"/>
                <a:ea typeface="Noto Sans TC"/>
                <a:cs typeface="Noto Sans TC"/>
              </a:rPr>
              <a:t>20–30%</a:t>
            </a:r>
            <a:r>
              <a:rPr sz="1250" b="0" i="0">
                <a:solidFill>
                  <a:srgbClr val="44403C"/>
                </a:solidFill>
                <a:latin typeface="Noto Sans TC"/>
                <a:ea typeface="Noto Sans TC"/>
                <a:cs typeface="Noto Sans TC"/>
              </a:rPr>
              <a:t> 開發利潤。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93024" y="2377440"/>
            <a:ext cx="3456432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93024" y="2377440"/>
            <a:ext cx="3456432" cy="381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67344" y="2651760"/>
            <a:ext cx="2907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1A17"/>
                </a:solidFill>
                <a:latin typeface="Noto Sans TC"/>
                <a:ea typeface="Noto Sans TC"/>
                <a:cs typeface="Noto Sans TC"/>
              </a:rPr>
              <a:t>零出資門檻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7344" y="3246120"/>
            <a:ext cx="290779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44403C"/>
                </a:solidFill>
                <a:latin typeface="Noto Sans TC"/>
                <a:ea typeface="Noto Sans TC"/>
                <a:cs typeface="Noto Sans TC"/>
              </a:rPr>
              <a:t>前期整合、估價、設計費由團隊無息墊付；銀行融資撥款前，地主可達「零出資」參與。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A8A29E"/>
                </a:solidFill>
                <a:latin typeface="Noto Sans TC"/>
                <a:ea typeface="Noto Sans TC"/>
                <a:cs typeface="Noto Sans TC"/>
              </a:rPr>
              <a:t>數據引自傑丞延壽段都更案規劃；實際條件依各案估價與審議結果為準。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200">
                <a:solidFill>
                  <a:srgbClr val="A8A29E"/>
                </a:solidFill>
                <a:latin typeface="Consolas"/>
                <a:ea typeface="Consolas"/>
                <a:cs typeface="Consolas"/>
              </a:rPr>
              <a:t>THE FIREWALL ｜ 08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60120"/>
            <a:ext cx="548640" cy="2794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C1A17"/>
                </a:solidFill>
                <a:latin typeface="Noto Serif TC"/>
                <a:ea typeface="Noto Serif TC"/>
                <a:cs typeface="Noto Serif TC"/>
              </a:rPr>
              <a:t>整合，才築得起完整的「防火牆」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2542032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86000"/>
            <a:ext cx="2542032" cy="2468880"/>
          </a:xfrm>
          <a:prstGeom prst="rect">
            <a:avLst/>
          </a:prstGeom>
          <a:noFill/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514600"/>
            <a:ext cx="2084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spc="120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852928"/>
            <a:ext cx="2084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C1A17"/>
                </a:solidFill>
                <a:latin typeface="Noto Sans TC"/>
                <a:ea typeface="Noto Sans TC"/>
                <a:cs typeface="Noto Sans TC"/>
              </a:rPr>
              <a:t>信託專款專用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337560"/>
            <a:ext cx="208483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44403C"/>
                </a:solidFill>
                <a:latin typeface="Noto Sans TC"/>
                <a:ea typeface="Noto Sans TC"/>
                <a:cs typeface="Noto Sans TC"/>
              </a:rPr>
              <a:t>資金入信託專戶，撥款前經建經三方查核：財務稽核、工程估驗、預售管帳。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9584" y="2286000"/>
            <a:ext cx="2542032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9584" y="2286000"/>
            <a:ext cx="2542032" cy="2468880"/>
          </a:xfrm>
          <a:prstGeom prst="rect">
            <a:avLst/>
          </a:prstGeom>
          <a:noFill/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58184" y="2514600"/>
            <a:ext cx="2084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spc="120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8184" y="2852928"/>
            <a:ext cx="2084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C1A17"/>
                </a:solidFill>
                <a:latin typeface="Noto Sans TC"/>
                <a:ea typeface="Noto Sans TC"/>
                <a:cs typeface="Noto Sans TC"/>
              </a:rPr>
              <a:t>產權風險隔絕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8184" y="3337560"/>
            <a:ext cx="208483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44403C"/>
                </a:solidFill>
                <a:latin typeface="Noto Sans TC"/>
                <a:ea typeface="Noto Sans TC"/>
                <a:cs typeface="Noto Sans TC"/>
              </a:rPr>
              <a:t>產權信託隔絕個別地主的債務、查封與繼承糾紛，工程不因個人因素停擺。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2286000"/>
            <a:ext cx="2542032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2286000"/>
            <a:ext cx="2542032" cy="2468880"/>
          </a:xfrm>
          <a:prstGeom prst="rect">
            <a:avLst/>
          </a:prstGeom>
          <a:noFill/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8" y="2514600"/>
            <a:ext cx="2084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spc="120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2852928"/>
            <a:ext cx="2084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C1A17"/>
                </a:solidFill>
                <a:latin typeface="Noto Sans TC"/>
                <a:ea typeface="Noto Sans TC"/>
                <a:cs typeface="Noto Sans TC"/>
              </a:rPr>
              <a:t>營造風險鎖定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3337560"/>
            <a:ext cx="208483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44403C"/>
                </a:solidFill>
                <a:latin typeface="Noto Sans TC"/>
                <a:ea typeface="Noto Sans TC"/>
                <a:cs typeface="Noto Sans TC"/>
              </a:rPr>
              <a:t>以合約把延宕與鄰損責任鎖在營造廠，設逾期罰款補貼地主利息損失。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42832" y="2286000"/>
            <a:ext cx="2542032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42832" y="2286000"/>
            <a:ext cx="2542032" cy="2468880"/>
          </a:xfrm>
          <a:prstGeom prst="rect">
            <a:avLst/>
          </a:prstGeom>
          <a:noFill/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1432" y="2514600"/>
            <a:ext cx="2084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spc="120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852928"/>
            <a:ext cx="2084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C1A17"/>
                </a:solidFill>
                <a:latin typeface="Noto Sans TC"/>
                <a:ea typeface="Noto Sans TC"/>
                <a:cs typeface="Noto Sans TC"/>
              </a:rPr>
              <a:t>續建完工承諾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1432" y="3337560"/>
            <a:ext cx="208483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44403C"/>
                </a:solidFill>
                <a:latin typeface="Noto Sans TC"/>
                <a:ea typeface="Noto Sans TC"/>
                <a:cs typeface="Noto Sans TC"/>
              </a:rPr>
              <a:t>可導入建經完工承諾機制，中途異常時啟動續建，找新廠商接手蓋到好。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C1A17"/>
                </a:solidFill>
                <a:latin typeface="Noto Sans TC"/>
                <a:ea typeface="Noto Sans TC"/>
                <a:cs typeface="Noto Sans TC"/>
              </a:rPr>
              <a:t>這四道防火牆，</a:t>
            </a:r>
            <a:r>
              <a:rPr sz="1500" b="1" i="0">
                <a:solidFill>
                  <a:srgbClr val="064E3B"/>
                </a:solidFill>
                <a:latin typeface="Noto Sans TC"/>
                <a:ea typeface="Noto Sans TC"/>
                <a:cs typeface="Noto Sans TC"/>
              </a:rPr>
              <a:t>沒有任何單一專業能獨力築成</a:t>
            </a:r>
            <a:r>
              <a:rPr sz="1500" b="0" i="0">
                <a:solidFill>
                  <a:srgbClr val="1C1A17"/>
                </a:solidFill>
                <a:latin typeface="Noto Sans TC"/>
                <a:ea typeface="Noto Sans TC"/>
                <a:cs typeface="Noto Sans TC"/>
              </a:rPr>
              <a:t>──它需要法規、財務、營造、合約同時在場。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200">
                <a:solidFill>
                  <a:srgbClr val="A8A29E"/>
                </a:solidFill>
                <a:latin typeface="Consolas"/>
                <a:ea typeface="Consolas"/>
                <a:cs typeface="Consolas"/>
              </a:rPr>
              <a:t>SIDE BY SIDE ｜ 09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60120"/>
            <a:ext cx="548640" cy="2794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C1A17"/>
                </a:solidFill>
                <a:latin typeface="Noto Serif TC"/>
                <a:ea typeface="Noto Serif TC"/>
                <a:cs typeface="Noto Serif TC"/>
              </a:rPr>
              <a:t>單一專業外包 vs 傑丞整合全案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8A29E"/>
                </a:solidFill>
                <a:latin typeface="Noto Sans TC"/>
                <a:ea typeface="Noto Sans TC"/>
                <a:cs typeface="Noto Sans TC"/>
              </a:rPr>
              <a:t>面向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194560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45309"/>
                </a:solidFill>
                <a:latin typeface="Noto Sans TC"/>
                <a:ea typeface="Noto Sans TC"/>
                <a:cs typeface="Noto Sans TC"/>
              </a:rPr>
              <a:t>單一專業 / 多家外包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2194560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4E3B"/>
                </a:solidFill>
                <a:latin typeface="Noto Sans TC"/>
                <a:ea typeface="Noto Sans TC"/>
                <a:cs typeface="Noto Sans TC"/>
              </a:rPr>
              <a:t>傑丞 · 全案整合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736088"/>
            <a:ext cx="10607040" cy="25400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61488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A8A29E"/>
                </a:solidFill>
                <a:latin typeface="Noto Sans TC"/>
                <a:ea typeface="Noto Sans TC"/>
                <a:cs typeface="Noto Sans TC"/>
              </a:rPr>
              <a:t>窗口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761488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4403C"/>
                </a:solidFill>
                <a:latin typeface="Noto Sans TC"/>
                <a:ea typeface="Noto Sans TC"/>
                <a:cs typeface="Noto Sans TC"/>
              </a:rPr>
              <a:t>多家廠商，介面分散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761488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4E3B"/>
                </a:solidFill>
                <a:latin typeface="Noto Sans TC"/>
                <a:ea typeface="Noto Sans TC"/>
                <a:cs typeface="Noto Sans TC"/>
              </a:rPr>
              <a:t>單一窗口，全程統籌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318891"/>
            <a:ext cx="10607040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28416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A8A29E"/>
                </a:solidFill>
                <a:latin typeface="Noto Sans TC"/>
                <a:ea typeface="Noto Sans TC"/>
                <a:cs typeface="Noto Sans TC"/>
              </a:rPr>
              <a:t>責任歸屬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328416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4403C"/>
                </a:solidFill>
                <a:latin typeface="Noto Sans TC"/>
                <a:ea typeface="Noto Sans TC"/>
                <a:cs typeface="Noto Sans TC"/>
              </a:rPr>
              <a:t>出事易互相推諉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328416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4E3B"/>
                </a:solidFill>
                <a:latin typeface="Noto Sans TC"/>
                <a:ea typeface="Noto Sans TC"/>
                <a:cs typeface="Noto Sans TC"/>
              </a:rPr>
              <a:t>一個對地主負責的總指揮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885819"/>
            <a:ext cx="10607040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95344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A8A29E"/>
                </a:solidFill>
                <a:latin typeface="Noto Sans TC"/>
                <a:ea typeface="Noto Sans TC"/>
                <a:cs typeface="Noto Sans TC"/>
              </a:rPr>
              <a:t>立場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895344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4403C"/>
                </a:solidFill>
                <a:latin typeface="Noto Sans TC"/>
                <a:ea typeface="Noto Sans TC"/>
                <a:cs typeface="Noto Sans TC"/>
              </a:rPr>
              <a:t>各為自身利潤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895344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4E3B"/>
                </a:solidFill>
                <a:latin typeface="Noto Sans TC"/>
                <a:ea typeface="Noto Sans TC"/>
                <a:cs typeface="Noto Sans TC"/>
              </a:rPr>
              <a:t>僱傭關係，利潤歸地主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452747"/>
            <a:ext cx="10607040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462272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A8A29E"/>
                </a:solidFill>
                <a:latin typeface="Noto Sans TC"/>
                <a:ea typeface="Noto Sans TC"/>
                <a:cs typeface="Noto Sans TC"/>
              </a:rPr>
              <a:t>資金監管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462272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4403C"/>
                </a:solidFill>
                <a:latin typeface="Noto Sans TC"/>
                <a:ea typeface="Noto Sans TC"/>
                <a:cs typeface="Noto Sans TC"/>
              </a:rPr>
              <a:t>視廠商而定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462272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4E3B"/>
                </a:solidFill>
                <a:latin typeface="Noto Sans TC"/>
                <a:ea typeface="Noto Sans TC"/>
                <a:cs typeface="Noto Sans TC"/>
              </a:rPr>
              <a:t>信託專款＋三方查核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5019675"/>
            <a:ext cx="10607040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029200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A8A29E"/>
                </a:solidFill>
                <a:latin typeface="Noto Sans TC"/>
                <a:ea typeface="Noto Sans TC"/>
                <a:cs typeface="Noto Sans TC"/>
              </a:rPr>
              <a:t>工程把關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5029200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4403C"/>
                </a:solidFill>
                <a:latin typeface="Noto Sans TC"/>
                <a:ea typeface="Noto Sans TC"/>
                <a:cs typeface="Noto Sans TC"/>
              </a:rPr>
              <a:t>易球員兼裁判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5029200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4E3B"/>
                </a:solidFill>
                <a:latin typeface="Noto Sans TC"/>
                <a:ea typeface="Noto Sans TC"/>
                <a:cs typeface="Noto Sans TC"/>
              </a:rPr>
              <a:t>獨立第三方監造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5586603"/>
            <a:ext cx="10607040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596128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A8A29E"/>
                </a:solidFill>
                <a:latin typeface="Noto Sans TC"/>
                <a:ea typeface="Noto Sans TC"/>
                <a:cs typeface="Noto Sans TC"/>
              </a:rPr>
              <a:t>地主負擔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5596128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4403C"/>
                </a:solidFill>
                <a:latin typeface="Noto Sans TC"/>
                <a:ea typeface="Noto Sans TC"/>
                <a:cs typeface="Noto Sans TC"/>
              </a:rPr>
              <a:t>常需自備前期費用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5596128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4E3B"/>
                </a:solidFill>
                <a:latin typeface="Noto Sans TC"/>
                <a:ea typeface="Noto Sans TC"/>
                <a:cs typeface="Noto Sans TC"/>
              </a:rPr>
              <a:t>前期墊付，零出資參與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6153531"/>
            <a:ext cx="10607040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200">
                <a:solidFill>
                  <a:srgbClr val="A8A29E"/>
                </a:solidFill>
                <a:latin typeface="Consolas"/>
                <a:ea typeface="Consolas"/>
                <a:cs typeface="Consolas"/>
              </a:rPr>
              <a:t>PROOF ｜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60120"/>
            <a:ext cx="548640" cy="2794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C1A17"/>
                </a:solidFill>
                <a:latin typeface="Noto Serif TC"/>
                <a:ea typeface="Noto Serif TC"/>
                <a:cs typeface="Noto Serif TC"/>
              </a:rPr>
              <a:t>實證｜傑丞・延壽段都更案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254203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2542032" cy="381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514600"/>
            <a:ext cx="2084832" cy="7315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l"/>
            <a:r>
              <a:rPr sz="4000" b="1" i="0">
                <a:solidFill>
                  <a:srgbClr val="064E3B"/>
                </a:solidFill>
                <a:latin typeface="Noto Serif TC"/>
                <a:ea typeface="Noto Serif TC"/>
                <a:cs typeface="Noto Serif TC"/>
              </a:rPr>
              <a:t>80</a:t>
            </a:r>
            <a:r>
              <a:rPr sz="1800" b="1" i="0">
                <a:solidFill>
                  <a:srgbClr val="064E3B"/>
                </a:solidFill>
                <a:latin typeface="Noto Serif TC"/>
                <a:ea typeface="Noto Serif TC"/>
                <a:cs typeface="Noto Serif TC"/>
              </a:rPr>
              <a:t>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337560"/>
            <a:ext cx="2084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A8A29E"/>
                </a:solidFill>
                <a:latin typeface="Noto Sans TC"/>
                <a:ea typeface="Noto Sans TC"/>
                <a:cs typeface="Noto Sans TC"/>
              </a:rPr>
              <a:t>容積獎勵＋移轉上限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9584" y="2194560"/>
            <a:ext cx="254203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9584" y="2194560"/>
            <a:ext cx="2542032" cy="381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58184" y="2514600"/>
            <a:ext cx="2084832" cy="7315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l"/>
            <a:r>
              <a:rPr sz="4000" b="1" i="0">
                <a:solidFill>
                  <a:srgbClr val="064E3B"/>
                </a:solidFill>
                <a:latin typeface="Noto Serif TC"/>
                <a:ea typeface="Noto Serif TC"/>
                <a:cs typeface="Noto Serif TC"/>
              </a:rPr>
              <a:t>20</a:t>
            </a:r>
            <a:r>
              <a:rPr sz="1800" b="1" i="0">
                <a:solidFill>
                  <a:srgbClr val="064E3B"/>
                </a:solidFill>
                <a:latin typeface="Noto Serif TC"/>
                <a:ea typeface="Noto Serif TC"/>
                <a:cs typeface="Noto Serif TC"/>
              </a:rPr>
              <a:t>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8184" y="3337560"/>
            <a:ext cx="2084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A8A29E"/>
                </a:solidFill>
                <a:latin typeface="Noto Sans TC"/>
                <a:ea typeface="Noto Sans TC"/>
                <a:cs typeface="Noto Sans TC"/>
              </a:rPr>
              <a:t>由 15 層躍升超高層 · 約 100 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2194560"/>
            <a:ext cx="254203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2194560"/>
            <a:ext cx="2542032" cy="381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2514600"/>
            <a:ext cx="2084832" cy="7315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l"/>
            <a:r>
              <a:rPr sz="4000" b="1" i="0">
                <a:solidFill>
                  <a:srgbClr val="064E3B"/>
                </a:solidFill>
                <a:latin typeface="Noto Serif TC"/>
                <a:ea typeface="Noto Serif TC"/>
                <a:cs typeface="Noto Serif TC"/>
              </a:rPr>
              <a:t>6.5</a:t>
            </a:r>
            <a:r>
              <a:rPr sz="1800" b="1" i="0">
                <a:solidFill>
                  <a:srgbClr val="064E3B"/>
                </a:solidFill>
                <a:latin typeface="Noto Serif TC"/>
                <a:ea typeface="Noto Serif TC"/>
                <a:cs typeface="Noto Serif TC"/>
              </a:rPr>
              <a:t>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3337560"/>
            <a:ext cx="2084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A8A29E"/>
                </a:solidFill>
                <a:latin typeface="Noto Sans TC"/>
                <a:ea typeface="Noto Sans TC"/>
                <a:cs typeface="Noto Sans TC"/>
              </a:rPr>
              <a:t>全案管理費 · 服務約 8 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42832" y="2194560"/>
            <a:ext cx="254203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42832" y="2194560"/>
            <a:ext cx="2542032" cy="381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71432" y="2514600"/>
            <a:ext cx="2084832" cy="7315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l"/>
            <a:r>
              <a:rPr sz="4000" b="1" i="0">
                <a:solidFill>
                  <a:srgbClr val="064E3B"/>
                </a:solidFill>
                <a:latin typeface="Noto Serif TC"/>
                <a:ea typeface="Noto Serif TC"/>
                <a:cs typeface="Noto Serif TC"/>
              </a:rPr>
              <a:t>100</a:t>
            </a:r>
            <a:r>
              <a:rPr sz="1800" b="1" i="0">
                <a:solidFill>
                  <a:srgbClr val="064E3B"/>
                </a:solidFill>
                <a:latin typeface="Noto Serif TC"/>
                <a:ea typeface="Noto Serif TC"/>
                <a:cs typeface="Noto Serif TC"/>
              </a:rPr>
              <a:t>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3337560"/>
            <a:ext cx="2084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A8A29E"/>
                </a:solidFill>
                <a:latin typeface="Noto Sans TC"/>
                <a:ea typeface="Noto Sans TC"/>
                <a:cs typeface="Noto Sans TC"/>
              </a:rPr>
              <a:t>銀行融資 · 地主零出資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2976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C1A17"/>
                </a:solidFill>
                <a:latin typeface="Noto Sans TC"/>
                <a:ea typeface="Noto Sans TC"/>
                <a:cs typeface="Noto Sans TC"/>
              </a:rPr>
              <a:t>同一個案子裡，</a:t>
            </a:r>
            <a:r>
              <a:rPr sz="1500" b="1" i="0">
                <a:solidFill>
                  <a:srgbClr val="064E3B"/>
                </a:solidFill>
                <a:latin typeface="Noto Sans TC"/>
                <a:ea typeface="Noto Sans TC"/>
                <a:cs typeface="Noto Sans TC"/>
              </a:rPr>
              <a:t>法規、設計、財務、營造、銷售由傑丞一條龍整合</a:t>
            </a:r>
            <a:r>
              <a:rPr sz="1500" b="0" i="0">
                <a:solidFill>
                  <a:srgbClr val="1C1A17"/>
                </a:solidFill>
                <a:latin typeface="Noto Sans TC"/>
                <a:ea typeface="Noto Sans TC"/>
                <a:cs typeface="Noto Sans TC"/>
              </a:rPr>
              <a:t>，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C1A17"/>
                </a:solidFill>
                <a:latin typeface="Noto Sans TC"/>
                <a:ea typeface="Noto Sans TC"/>
                <a:cs typeface="Noto Sans TC"/>
              </a:rPr>
              <a:t>省下建商 20–30% 利潤，前期費用由團隊墊付，住戶只需做一件事──做決定。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A8A29E"/>
                </a:solidFill>
                <a:latin typeface="Noto Sans TC"/>
                <a:ea typeface="Noto Sans TC"/>
                <a:cs typeface="Noto Sans TC"/>
              </a:rPr>
              <a:t>資料引自傑丞延壽段都更說明會規劃內容；數據為規劃階段估算，實際以審議與估價結果為準。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spc="2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92024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3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專業，市場上人人都有一塊。</a:t>
            </a:r>
          </a:p>
          <a:p>
            <a:pPr algn="l">
              <a:lnSpc>
                <a:spcPct val="135000"/>
              </a:lnSpc>
            </a:pPr>
            <a:r>
              <a:rPr sz="3300" b="1" i="0">
                <a:solidFill>
                  <a:srgbClr val="10B981"/>
                </a:solidFill>
                <a:latin typeface="Noto Serif TC"/>
                <a:ea typeface="Noto Serif TC"/>
                <a:cs typeface="Noto Serif TC"/>
              </a:rPr>
              <a:t>整合，唯有傑丞做得起來。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02336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A8A29E"/>
                </a:solidFill>
                <a:latin typeface="Noto Sans TC"/>
                <a:ea typeface="Noto Sans TC"/>
                <a:cs typeface="Noto Sans TC"/>
              </a:rPr>
              <a:t>都更的風險，從來不在單點，而在接縫。把五種專業縫成一條線、收斂成一個對地主負責的窗口──</a:t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A8A29E"/>
                </a:solidFill>
                <a:latin typeface="Noto Sans TC"/>
                <a:ea typeface="Noto Sans TC"/>
                <a:cs typeface="Noto Sans TC"/>
              </a:rPr>
              <a:t>這就是傑丞全案管理的價值。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943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78716C"/>
                </a:solidFill>
                <a:latin typeface="Noto Sans TC"/>
                <a:ea typeface="Noto Sans TC"/>
                <a:cs typeface="Noto Sans TC"/>
              </a:rPr>
              <a:t>傑丞建築機構　Jieceng Architecture　｜　都更全案管理 PCM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