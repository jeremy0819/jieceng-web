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1554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0B981"/>
                </a:solidFill>
                <a:latin typeface="Consolas"/>
                <a:ea typeface="Microsoft JhengHei"/>
                <a:cs typeface="Consolas"/>
              </a:rPr>
              <a:t>EEWH ｜ 綠建築標章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057400"/>
            <a:ext cx="10332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 i="0">
                <a:solidFill>
                  <a:srgbClr val="FFFFFF"/>
                </a:solidFill>
                <a:latin typeface="Inter"/>
                <a:ea typeface="Microsoft JhengHei"/>
                <a:cs typeface="Inter"/>
              </a:rPr>
              <a:t>綠建築，</a:t>
            </a:r>
          </a:p>
          <a:p>
            <a:pPr algn="l">
              <a:lnSpc>
                <a:spcPct val="112000"/>
              </a:lnSpc>
            </a:pPr>
            <a:r>
              <a:rPr sz="4600" b="1" i="0">
                <a:solidFill>
                  <a:srgbClr val="FFFFFF"/>
                </a:solidFill>
                <a:latin typeface="Inter"/>
                <a:ea typeface="Microsoft JhengHei"/>
                <a:cs typeface="Inter"/>
              </a:rPr>
              <a:t>到底好在哪裡？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4160520"/>
            <a:ext cx="548640" cy="304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43484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從生態、節能、減廢到健康，四個面向看懂一棟好房子，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該為住戶把關些什麼。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1722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8716C"/>
                </a:solidFill>
                <a:latin typeface="Consolas"/>
                <a:ea typeface="Microsoft JhengHei"/>
                <a:cs typeface="Consolas"/>
              </a:rPr>
              <a:t>傑丞建築機構　Jieceng Architecture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EEWH ｜ ECOLOGY · ENERGY · WASTE · HEALTH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綠建築的四大範疇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92524"/>
                </a:solidFill>
                <a:latin typeface="Inter"/>
                <a:ea typeface="Microsoft JhengHei"/>
                <a:cs typeface="Inter"/>
              </a:rPr>
              <a:t>綠建築標章的英文縮寫 EEWH，正是四個面向的字首：生態（Ecology）、節能（Energy saving）、減廢（Waste reduction）、健康（Health）。一棟房子在這四件事上做得好，才稱得上綠建築。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200400"/>
            <a:ext cx="2443734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200400"/>
            <a:ext cx="2443734" cy="330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3364992"/>
            <a:ext cx="224256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ECOLOGY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63931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47857"/>
                </a:solidFill>
                <a:latin typeface="Inter"/>
                <a:ea typeface="Microsoft JhengHei"/>
                <a:cs typeface="Inter"/>
              </a:rPr>
              <a:t>生態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4096512"/>
            <a:ext cx="2242566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基地與自然共生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2726" y="3200400"/>
            <a:ext cx="2443734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2726" y="3200400"/>
            <a:ext cx="2443734" cy="3302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23894" y="3364992"/>
            <a:ext cx="224256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ENERGY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3894" y="363931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369A1"/>
                </a:solidFill>
                <a:latin typeface="Inter"/>
                <a:ea typeface="Microsoft JhengHei"/>
                <a:cs typeface="Inter"/>
              </a:rPr>
              <a:t>節能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3894" y="4096512"/>
            <a:ext cx="2242566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日常用電用得更少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2492" y="3200400"/>
            <a:ext cx="2443734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3200400"/>
            <a:ext cx="2443734" cy="330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3660" y="3364992"/>
            <a:ext cx="224256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WASTE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3660" y="363931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減廢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3660" y="4096512"/>
            <a:ext cx="2242566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建造過程低碳低污染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22258" y="3200400"/>
            <a:ext cx="2443734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22258" y="3200400"/>
            <a:ext cx="2443734" cy="330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23426" y="3364992"/>
            <a:ext cx="224256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HEALTH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23426" y="363931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91C1C"/>
                </a:solidFill>
                <a:latin typeface="Inter"/>
                <a:ea typeface="Microsoft JhengHei"/>
                <a:cs typeface="Inter"/>
              </a:rPr>
              <a:t>健康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3426" y="4096512"/>
            <a:ext cx="2242566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室內環境宜居宜人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定義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什麼是綠建築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92524"/>
                </a:solidFill>
                <a:latin typeface="Inter"/>
                <a:ea typeface="Microsoft JhengHei"/>
                <a:cs typeface="Inter"/>
              </a:rPr>
              <a:t>依內政部定義，綠建築是在建築的整個生命週期裡 —— 從生產、規劃、施工、使用、維護到拆除 —— 消耗最少地球資源、製造最少廢棄物的建築物。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108960"/>
            <a:ext cx="10543032" cy="155448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429000"/>
            <a:ext cx="9875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FFFFFF"/>
                </a:solidFill>
                <a:latin typeface="Inter"/>
                <a:ea typeface="Microsoft JhengHei"/>
                <a:cs typeface="Inter"/>
              </a:rPr>
              <a:t>換句話說，綠建築是一種對環境友善、同時讓住戶住得更省、更舒適、更安心的房子。它不是附加的裝飾，而是貫穿設計與施工的整套思維。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制度背景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由內政部把關的官方標章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20240"/>
            <a:ext cx="334365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920240"/>
            <a:ext cx="3343656" cy="3302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22648" y="1920240"/>
            <a:ext cx="334365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22648" y="1920240"/>
            <a:ext cx="3343656" cy="3302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22336" y="1920240"/>
            <a:ext cx="334365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22336" y="1920240"/>
            <a:ext cx="3343656" cy="3302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240280"/>
            <a:ext cx="297789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064E3B"/>
                </a:solidFill>
                <a:latin typeface="Inter"/>
                <a:ea typeface="Microsoft JhengHei"/>
                <a:cs typeface="Inter"/>
              </a:rPr>
              <a:t>1999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71800"/>
            <a:ext cx="2977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創立年份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" y="3383280"/>
            <a:ext cx="2886456" cy="12700"/>
          </a:xfrm>
          <a:prstGeom prst="rect">
            <a:avLst/>
          </a:prstGeom>
          <a:solidFill>
            <a:srgbClr val="E7E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566160"/>
            <a:ext cx="288645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台灣自 1999 年推動，是全球第四套、亞洲第一套綠建築評估系統。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1248" y="2240280"/>
            <a:ext cx="297789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064E3B"/>
                </a:solidFill>
                <a:latin typeface="Inter"/>
                <a:ea typeface="Microsoft JhengHei"/>
                <a:cs typeface="Inter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1248" y="2971800"/>
            <a:ext cx="2977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項評估指標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51248" y="3383280"/>
            <a:ext cx="2886456" cy="12700"/>
          </a:xfrm>
          <a:prstGeom prst="rect">
            <a:avLst/>
          </a:prstGeom>
          <a:solidFill>
            <a:srgbClr val="E7E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51248" y="3566160"/>
            <a:ext cx="288645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分屬生態、節能、減廢、健康四大範疇，滿分 100 分。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0936" y="2240280"/>
            <a:ext cx="297789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064E3B"/>
                </a:solidFill>
                <a:latin typeface="Inter"/>
                <a:ea typeface="Microsoft JhengHei"/>
                <a:cs typeface="Inter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0936" y="2971800"/>
            <a:ext cx="2977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個認證等級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50936" y="3383280"/>
            <a:ext cx="2886456" cy="12700"/>
          </a:xfrm>
          <a:prstGeom prst="rect">
            <a:avLst/>
          </a:prstGeom>
          <a:solidFill>
            <a:srgbClr val="E7E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0936" y="3566160"/>
            <a:ext cx="288645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由合格至鑽石分五級，須經第三方專業審查，不是建商自說自話。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2023 年版更與建築能效評估（BERS）接軌，是台灣邁向淨零建築的核心制度之一。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評估架構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四大範疇　九大指標　滿分 100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20240"/>
            <a:ext cx="2443734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920240"/>
            <a:ext cx="2443734" cy="330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103120"/>
            <a:ext cx="20779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47857"/>
                </a:solidFill>
                <a:latin typeface="Inter"/>
                <a:ea typeface="Microsoft JhengHei"/>
                <a:cs typeface="Inter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788920"/>
            <a:ext cx="207797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生態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4128" y="3246120"/>
            <a:ext cx="2041398" cy="12700"/>
          </a:xfrm>
          <a:prstGeom prst="rect">
            <a:avLst/>
          </a:prstGeom>
          <a:solidFill>
            <a:srgbClr val="E7E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3401568"/>
            <a:ext cx="207797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生物多樣性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綠化量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基地保水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2726" y="1920240"/>
            <a:ext cx="2443734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2726" y="1920240"/>
            <a:ext cx="2443734" cy="3302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23894" y="2103120"/>
            <a:ext cx="20779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369A1"/>
                </a:solidFill>
                <a:latin typeface="Inter"/>
                <a:ea typeface="Microsoft JhengHei"/>
                <a:cs typeface="Inter"/>
              </a:rPr>
              <a:t>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3894" y="2788920"/>
            <a:ext cx="207797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節能（配分最高）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23894" y="3246120"/>
            <a:ext cx="2041398" cy="12700"/>
          </a:xfrm>
          <a:prstGeom prst="rect">
            <a:avLst/>
          </a:prstGeom>
          <a:solidFill>
            <a:srgbClr val="E7E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3894" y="3401568"/>
            <a:ext cx="207797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日常節能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外殼・空調・照明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22492" y="1920240"/>
            <a:ext cx="2443734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2492" y="1920240"/>
            <a:ext cx="2443734" cy="330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2103120"/>
            <a:ext cx="20779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3660" y="2788920"/>
            <a:ext cx="207797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減廢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23660" y="3246120"/>
            <a:ext cx="2041398" cy="12700"/>
          </a:xfrm>
          <a:prstGeom prst="rect">
            <a:avLst/>
          </a:prstGeom>
          <a:solidFill>
            <a:srgbClr val="E7E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3660" y="3401568"/>
            <a:ext cx="207797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CO₂ 減量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廢棄物減量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22258" y="1920240"/>
            <a:ext cx="2443734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22258" y="1920240"/>
            <a:ext cx="2443734" cy="330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23426" y="2103120"/>
            <a:ext cx="20779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B91C1C"/>
                </a:solidFill>
                <a:latin typeface="Inter"/>
                <a:ea typeface="Microsoft JhengHei"/>
                <a:cs typeface="Inter"/>
              </a:rPr>
              <a:t>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23426" y="2788920"/>
            <a:ext cx="207797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健康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23426" y="3246120"/>
            <a:ext cx="2041398" cy="12700"/>
          </a:xfrm>
          <a:prstGeom prst="rect">
            <a:avLst/>
          </a:prstGeom>
          <a:solidFill>
            <a:srgbClr val="E7E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23426" y="3401568"/>
            <a:ext cx="207797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室內環境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水資源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污水垃圾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節能配分最高（32 分），制度刻意把住戶最有感的「省」放在第一位。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4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10312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D1FAE5"/>
                </a:solidFill>
                <a:latin typeface="Consolas"/>
                <a:ea typeface="Microsoft JhengHei"/>
                <a:cs typeface="Consolas"/>
              </a:rPr>
              <a:t>ECOLOGY ｜ 生態範疇・27 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6060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Inter"/>
                <a:ea typeface="Microsoft JhengHei"/>
                <a:cs typeface="Inter"/>
              </a:rPr>
              <a:t>生態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886200"/>
            <a:ext cx="548640" cy="304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11480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10B981"/>
                </a:solidFill>
                <a:latin typeface="Inter"/>
                <a:ea typeface="Microsoft JhengHei"/>
                <a:cs typeface="Inter"/>
              </a:rPr>
              <a:t>把綠意與生命力留在基地裡，讓社區本身就像一座會呼吸的公園。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126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78716C"/>
                </a:solidFill>
                <a:latin typeface="Consolas"/>
                <a:ea typeface="Microsoft JhengHei"/>
                <a:cs typeface="Consolas"/>
              </a:rPr>
              <a:t>傑丞建築機構　Jieceng Architecture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生態範疇　01 / 03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2402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600200"/>
            <a:ext cx="33020" cy="13716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746504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047857"/>
                </a:solidFill>
                <a:latin typeface="Inter"/>
                <a:ea typeface="Microsoft JhengHei"/>
                <a:cs typeface="Inter"/>
              </a:rPr>
              <a:t>9 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532888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BIODIVERSITY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47857"/>
                </a:solidFill>
                <a:latin typeface="Inter"/>
                <a:ea typeface="Microsoft JhengHei"/>
                <a:cs typeface="Inter"/>
              </a:rPr>
              <a:t>生物多樣性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00200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在社區裡看得見的設計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103120"/>
            <a:ext cx="7589520" cy="2103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047857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連貫的綠帶與中庭花園，串起綠地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047857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生態池、小型水域與綠塊，提供小生物棲地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047857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優先選用原生與誘鳥誘蝶植物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047857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友善土壤、減少夜間人工照明的光害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3941064"/>
            <a:ext cx="25400" cy="8686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3941064"/>
            <a:ext cx="7223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047857"/>
                </a:solidFill>
                <a:latin typeface="Inter"/>
                <a:ea typeface="Microsoft JhengHei"/>
                <a:cs typeface="Inter"/>
              </a:rPr>
              <a:t>住進來之後，早晨會有鳥鳴、四季有花開 —— 綠意是日常的一部分，不是樣品屋裡的擺設。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生態範疇　02 / 03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2402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600200"/>
            <a:ext cx="33020" cy="13716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746504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047857"/>
                </a:solidFill>
                <a:latin typeface="Inter"/>
                <a:ea typeface="Microsoft JhengHei"/>
                <a:cs typeface="Inter"/>
              </a:rPr>
              <a:t>9 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532888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GREENERY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47857"/>
                </a:solidFill>
                <a:latin typeface="Inter"/>
                <a:ea typeface="Microsoft JhengHei"/>
                <a:cs typeface="Inter"/>
              </a:rPr>
              <a:t>綠化量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00200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不只是種樹，是種對樹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103120"/>
            <a:ext cx="7589520" cy="2103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047857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喬木、灌木、花圃構成多層次綠化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047857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大小喬木混植，形成接近自然的生態複層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047857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屋頂花園與人工地盤綠化，向上延伸綠量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047857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以植栽四十年的固碳量作為評估基準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3941064"/>
            <a:ext cx="25400" cy="8686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3941064"/>
            <a:ext cx="7223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047857"/>
                </a:solidFill>
                <a:latin typeface="Inter"/>
                <a:ea typeface="Microsoft JhengHei"/>
                <a:cs typeface="Inter"/>
              </a:rPr>
              <a:t>樹蔭能降溫、綠視野能放鬆 —— 夏天體感更涼，景觀也更耐看、更保值。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生態範疇　03 / 03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2402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600200"/>
            <a:ext cx="33020" cy="13716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746504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047857"/>
                </a:solidFill>
                <a:latin typeface="Inter"/>
                <a:ea typeface="Microsoft JhengHei"/>
                <a:cs typeface="Inter"/>
              </a:rPr>
              <a:t>9 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532888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SOIL WATER CONTENT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47857"/>
                </a:solidFill>
                <a:latin typeface="Inter"/>
                <a:ea typeface="Microsoft JhengHei"/>
                <a:cs typeface="Inter"/>
              </a:rPr>
              <a:t>基地保水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00200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讓土地留得住水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103120"/>
            <a:ext cx="7589520" cy="2103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047857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透水鋪面與透水性綠地，雨水滲得進去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047857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雨水花園、滲透井等貯留滲透設計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047857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降低不透水硬鋪面的比例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047857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替城市分擔排洪、緩解都市熱島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3941064"/>
            <a:ext cx="25400" cy="8686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3941064"/>
            <a:ext cx="7223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047857"/>
                </a:solidFill>
                <a:latin typeface="Inter"/>
                <a:ea typeface="Microsoft JhengHei"/>
                <a:cs typeface="Inter"/>
              </a:rPr>
              <a:t>大雨天社區不易積水，微氣候也更涼爽，住起來更安心。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4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10312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D1FAE5"/>
                </a:solidFill>
                <a:latin typeface="Consolas"/>
                <a:ea typeface="Microsoft JhengHei"/>
                <a:cs typeface="Consolas"/>
              </a:rPr>
              <a:t>ENERGY SAVING ｜ 節能範疇・32 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6060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Inter"/>
                <a:ea typeface="Microsoft JhengHei"/>
                <a:cs typeface="Inter"/>
              </a:rPr>
              <a:t>節能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886200"/>
            <a:ext cx="548640" cy="304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11480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10B981"/>
                </a:solidFill>
                <a:latin typeface="Inter"/>
                <a:ea typeface="Microsoft JhengHei"/>
                <a:cs typeface="Inter"/>
              </a:rPr>
              <a:t>配分最高的一塊。節能省下的每一度電、每一塊錢，最後都回到住戶口袋。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126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78716C"/>
                </a:solidFill>
                <a:latin typeface="Consolas"/>
                <a:ea typeface="Microsoft JhengHei"/>
                <a:cs typeface="Consolas"/>
              </a:rPr>
              <a:t>傑丞建築機構　Jieceng Architecture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節能範疇　配分 32 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1691640" cy="310896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51000"/>
            <a:ext cx="1691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門檻指標・必過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75688"/>
            <a:ext cx="22402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075688"/>
            <a:ext cx="33020" cy="13716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221992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0369A1"/>
                </a:solidFill>
                <a:latin typeface="Inter"/>
                <a:ea typeface="Microsoft JhengHei"/>
                <a:cs typeface="Inter"/>
              </a:rPr>
              <a:t>32 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3008376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DAILY ENERGY SAVING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3016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369A1"/>
                </a:solidFill>
                <a:latin typeface="Inter"/>
                <a:ea typeface="Microsoft JhengHei"/>
                <a:cs typeface="Inter"/>
              </a:rPr>
              <a:t>日常節能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600200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評的是天天都在用的三件事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103120"/>
            <a:ext cx="7589520" cy="2103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0369A1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建築外殼：隔熱、遮陽、開窗設計，把室外的熱擋在外面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0369A1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空調系統：高效率主機與變頻控制，同樣的涼用更少電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0369A1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照明系統：LED 高效率燈具與照明規劃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3538728"/>
            <a:ext cx="25400" cy="86868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3538728"/>
            <a:ext cx="7223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0369A1"/>
                </a:solidFill>
                <a:latin typeface="Inter"/>
                <a:ea typeface="Microsoft JhengHei"/>
                <a:cs typeface="Inter"/>
              </a:rPr>
              <a:t>這是兩項門檻指標之一 —— 沒通過就拿不到標章。買綠建築，省電是被制度保證的。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節能 · 設計手法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涼快，是設計出來的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11680"/>
            <a:ext cx="2443734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011680"/>
            <a:ext cx="2443734" cy="3302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17627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369A1"/>
                </a:solidFill>
                <a:latin typeface="Inter"/>
                <a:ea typeface="Microsoft JhengHei"/>
                <a:cs typeface="Inter"/>
              </a:rPr>
              <a:t>外殼隔熱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633472"/>
            <a:ext cx="2242566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屋頂與外牆的隔熱層，把熱阻擋在室外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2726" y="2011680"/>
            <a:ext cx="2443734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22726" y="2011680"/>
            <a:ext cx="2443734" cy="3302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23894" y="217627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369A1"/>
                </a:solidFill>
                <a:latin typeface="Inter"/>
                <a:ea typeface="Microsoft JhengHei"/>
                <a:cs typeface="Inter"/>
              </a:rPr>
              <a:t>開窗遮陽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3894" y="2633472"/>
            <a:ext cx="2242566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遮陽板與 Low-E 玻璃，採光不必承受西曬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2492" y="2011680"/>
            <a:ext cx="2443734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22492" y="2011680"/>
            <a:ext cx="2443734" cy="3302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217627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369A1"/>
                </a:solidFill>
                <a:latin typeface="Inter"/>
                <a:ea typeface="Microsoft JhengHei"/>
                <a:cs typeface="Inter"/>
              </a:rPr>
              <a:t>高效空調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3660" y="2633472"/>
            <a:ext cx="2242566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變頻與高效率主機，降低長期空調耗電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2258" y="2011680"/>
            <a:ext cx="2443734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22258" y="2011680"/>
            <a:ext cx="2443734" cy="3302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23426" y="217627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369A1"/>
                </a:solidFill>
                <a:latin typeface="Inter"/>
                <a:ea typeface="Microsoft JhengHei"/>
                <a:cs typeface="Inter"/>
              </a:rPr>
              <a:t>LED 照明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23426" y="2633472"/>
            <a:ext cx="2242566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高效率燈具與感應控制，公共電費更省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4297680"/>
            <a:ext cx="25400" cy="54864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34340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0369A1"/>
                </a:solidFill>
                <a:latin typeface="Inter"/>
                <a:ea typeface="Microsoft JhengHei"/>
                <a:cs typeface="Inter"/>
              </a:rPr>
              <a:t>每個月的電費單，就是綠建築最誠實的成績單。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4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10312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D1FAE5"/>
                </a:solidFill>
                <a:latin typeface="Consolas"/>
                <a:ea typeface="Microsoft JhengHei"/>
                <a:cs typeface="Consolas"/>
              </a:rPr>
              <a:t>WASTE REDUCTION ｜ 減廢範疇・16 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6060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Inter"/>
                <a:ea typeface="Microsoft JhengHei"/>
                <a:cs typeface="Inter"/>
              </a:rPr>
              <a:t>減廢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886200"/>
            <a:ext cx="548640" cy="304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11480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10B981"/>
                </a:solidFill>
                <a:latin typeface="Inter"/>
                <a:ea typeface="Microsoft JhengHei"/>
                <a:cs typeface="Inter"/>
              </a:rPr>
              <a:t>綠建築的功夫不只在交屋後。從動工的第一天，建造過程本身就要對環境負責。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126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78716C"/>
                </a:solidFill>
                <a:latin typeface="Consolas"/>
                <a:ea typeface="Microsoft JhengHei"/>
                <a:cs typeface="Consolas"/>
              </a:rPr>
              <a:t>傑丞建築機構　Jieceng Architecture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減廢範疇　01 / 02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2402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600200"/>
            <a:ext cx="33020" cy="13716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746504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8 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532888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CO₂ REDUCTION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CO₂ 減量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00200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蓋房子，也要把碳算進去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103120"/>
            <a:ext cx="7589520" cy="2103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結構合理化、輕量化，少用不必要的材料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採用再生與低碳建材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優先使用在地建材，減少運輸碳排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評估建材生產階段的 CO₂ 排放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3941064"/>
            <a:ext cx="25400" cy="8686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3941064"/>
            <a:ext cx="7223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在 ESG 與淨零成為共識的時代，低碳建造讓這個家從出生就是一項低碳資產。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減廢範疇　02 / 02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2402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600200"/>
            <a:ext cx="33020" cy="13716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746504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8 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532888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WASTE REDUCTION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廢棄物減量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00200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乾淨的工地，通常帶來可靠的品質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103120"/>
            <a:ext cx="7589520" cy="2103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土方平衡，減少棄土外運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營建自動化與乾式施工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施工揚塵與噪音的防制管理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舊建築再利用，保留還能用的結構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3941064"/>
            <a:ext cx="25400" cy="8686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3941064"/>
            <a:ext cx="7223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施工管理嚴謹的建案，交屋時的細節品質往往也更讓人放心。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4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10312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D1FAE5"/>
                </a:solidFill>
                <a:latin typeface="Consolas"/>
                <a:ea typeface="Microsoft JhengHei"/>
                <a:cs typeface="Consolas"/>
              </a:rPr>
              <a:t>HEALTH ｜ 健康範疇・25 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6060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Inter"/>
                <a:ea typeface="Microsoft JhengHei"/>
                <a:cs typeface="Inter"/>
              </a:rPr>
              <a:t>健康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886200"/>
            <a:ext cx="548640" cy="304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11480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10B981"/>
                </a:solidFill>
                <a:latin typeface="Inter"/>
                <a:ea typeface="Microsoft JhengHei"/>
                <a:cs typeface="Inter"/>
              </a:rPr>
              <a:t>隔音、採光、通風、好空氣、好水質 —— 這些看不見的設計，才是每天住得舒不舒服的關鍵。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126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78716C"/>
                </a:solidFill>
                <a:latin typeface="Consolas"/>
                <a:ea typeface="Microsoft JhengHei"/>
                <a:cs typeface="Consolas"/>
              </a:rPr>
              <a:t>傑丞建築機構　Jieceng Architecture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健康範疇　01 / 03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2402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600200"/>
            <a:ext cx="33020" cy="13716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746504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B91C1C"/>
                </a:solidFill>
                <a:latin typeface="Inter"/>
                <a:ea typeface="Microsoft JhengHei"/>
                <a:cs typeface="Inter"/>
              </a:rPr>
              <a:t>12 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532888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INDOOR ENVIRONMENT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B91C1C"/>
                </a:solidFill>
                <a:latin typeface="Inter"/>
                <a:ea typeface="Microsoft JhengHei"/>
                <a:cs typeface="Inter"/>
              </a:rPr>
              <a:t>室內環境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00200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健康範疇裡配分最高的一項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103120"/>
            <a:ext cx="7589520" cy="2103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91C1C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安靜：隔音與樓板衝擊音控制，樓上腳步聲不擾眠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91C1C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明亮：自然採光與照明品質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91C1C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通風：自然通風設計，維持良好空氣品質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91C1C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低污染：低逸散健康綠建材，減少甲醛等逸散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3941064"/>
            <a:ext cx="25400" cy="8686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3941064"/>
            <a:ext cx="7223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B91C1C"/>
                </a:solidFill>
                <a:latin typeface="Inter"/>
                <a:ea typeface="Microsoft JhengHei"/>
                <a:cs typeface="Inter"/>
              </a:rPr>
              <a:t>對家中的長輩與孩子來說，一個安靜、明亮、好空氣的家，是最實在的承諾。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健康範疇　02 / 03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1691640" cy="31089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51000"/>
            <a:ext cx="1691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門檻指標・必過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75688"/>
            <a:ext cx="22402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075688"/>
            <a:ext cx="33020" cy="13716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221992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B91C1C"/>
                </a:solidFill>
                <a:latin typeface="Inter"/>
                <a:ea typeface="Microsoft JhengHei"/>
                <a:cs typeface="Inter"/>
              </a:rPr>
              <a:t>8 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3008376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WATER RESOURCE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3016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B91C1C"/>
                </a:solidFill>
                <a:latin typeface="Inter"/>
                <a:ea typeface="Microsoft JhengHei"/>
                <a:cs typeface="Inter"/>
              </a:rPr>
              <a:t>水資源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600200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省水，同樣被制度保證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103120"/>
            <a:ext cx="7589520" cy="2103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91C1C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省水標章馬桶與節水龍頭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91C1C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雨水回收再利用系統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91C1C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中水（生活雜排水）回收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91C1C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節水澆灌與用水計量管理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3941064"/>
            <a:ext cx="25400" cy="8686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3941064"/>
            <a:ext cx="7223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B91C1C"/>
                </a:solidFill>
                <a:latin typeface="Inter"/>
                <a:ea typeface="Microsoft JhengHei"/>
                <a:cs typeface="Inter"/>
              </a:rPr>
              <a:t>水資源與日常節能並列兩大門檻，沒通過就沒有標章。水費單，也會替綠建築說話。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健康範疇　03 / 03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2402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600200"/>
            <a:ext cx="33020" cy="13716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746504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B91C1C"/>
                </a:solidFill>
                <a:latin typeface="Inter"/>
                <a:ea typeface="Microsoft JhengHei"/>
                <a:cs typeface="Inter"/>
              </a:rPr>
              <a:t>5 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532888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SEWAGE &amp; GARBAGE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B91C1C"/>
                </a:solidFill>
                <a:latin typeface="Inter"/>
                <a:ea typeface="Microsoft JhengHei"/>
                <a:cs typeface="Inter"/>
              </a:rPr>
              <a:t>污水垃圾改善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00200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社區的體面，藏在這些細節裡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103120"/>
            <a:ext cx="7589520" cy="2103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91C1C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完善的污水接管與處理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91C1C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專用的垃圾分類與暫存空間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91C1C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順暢的資源回收動線與設施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91C1C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景觀化、衛生化的垃圾處理區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3941064"/>
            <a:ext cx="25400" cy="8686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3941064"/>
            <a:ext cx="7223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B91C1C"/>
                </a:solidFill>
                <a:latin typeface="Inter"/>
                <a:ea typeface="Microsoft JhengHei"/>
                <a:cs typeface="Inter"/>
              </a:rPr>
              <a:t>垃圾間不髒不臭、回收動線順，是入住之後天天有感的生活品質。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關鍵機制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兩項門檻，雙重保證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92524"/>
                </a:solidFill>
                <a:latin typeface="Inter"/>
                <a:ea typeface="Microsoft JhengHei"/>
                <a:cs typeface="Inter"/>
              </a:rPr>
              <a:t>九大指標裡，有兩項是「門檻指標」—— 不是有做就好，而是必須做到。只要任一項未通過，無論總分多高，都拿不到綠建築標章。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154680"/>
            <a:ext cx="51435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154680"/>
            <a:ext cx="5143500" cy="3302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3319272"/>
            <a:ext cx="49423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369A1"/>
                </a:solidFill>
                <a:latin typeface="Inter"/>
                <a:ea typeface="Microsoft JhengHei"/>
                <a:cs typeface="Inter"/>
              </a:rPr>
              <a:t>日常節能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776472"/>
            <a:ext cx="4942332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外殼、空調、照明的節能表現必須達到基準，回應的是缺電時代的壓力。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2492" y="3154680"/>
            <a:ext cx="51435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22492" y="3154680"/>
            <a:ext cx="5143500" cy="330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3660" y="3319272"/>
            <a:ext cx="49423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91C1C"/>
                </a:solidFill>
                <a:latin typeface="Inter"/>
                <a:ea typeface="Microsoft JhengHei"/>
                <a:cs typeface="Inter"/>
              </a:rPr>
              <a:t>水資源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3660" y="3776472"/>
            <a:ext cx="4942332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節水器材與雨中水回收必須達到節水基準，回應的是缺水時代的挑戰。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其餘七項指標雖非門檻，但會給予基本分；申請時通常會盡量爭取，以拉高總分與等級。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認證等級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從合格到鑽石，分五個等級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92524"/>
                </a:solidFill>
                <a:latin typeface="Inter"/>
                <a:ea typeface="Microsoft JhengHei"/>
                <a:cs typeface="Inter"/>
              </a:rPr>
              <a:t>依總得分在歷年案件中的相對表現分級，特性是「合格容易、高分難」，等級愈高愈稀有。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743200"/>
            <a:ext cx="194767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743200"/>
            <a:ext cx="1947672" cy="3302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154680"/>
            <a:ext cx="1947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64E3B"/>
                </a:solidFill>
                <a:latin typeface="Inter"/>
                <a:ea typeface="Microsoft JhengHei"/>
                <a:cs typeface="Inter"/>
              </a:rPr>
              <a:t>合格級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11880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基本門檻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71800" y="2743200"/>
            <a:ext cx="194767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971800" y="2743200"/>
            <a:ext cx="1947672" cy="33020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3154680"/>
            <a:ext cx="1947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92400E"/>
                </a:solidFill>
                <a:latin typeface="Inter"/>
                <a:ea typeface="Microsoft JhengHei"/>
                <a:cs typeface="Inter"/>
              </a:rPr>
              <a:t>銅級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3611880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中上表現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0" y="2743200"/>
            <a:ext cx="194767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0" y="2743200"/>
            <a:ext cx="1947672" cy="33020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3154680"/>
            <a:ext cx="1947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475569"/>
                </a:solidFill>
                <a:latin typeface="Inter"/>
                <a:ea typeface="Microsoft JhengHei"/>
                <a:cs typeface="Inter"/>
              </a:rPr>
              <a:t>銀級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611880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良好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9480" y="2743200"/>
            <a:ext cx="194767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9480" y="2743200"/>
            <a:ext cx="1947672" cy="330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3154680"/>
            <a:ext cx="1947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黃金級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3611880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優異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0" y="2743200"/>
            <a:ext cx="194767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18320" y="2743200"/>
            <a:ext cx="1947672" cy="3302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0" y="3154680"/>
            <a:ext cx="1947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6D28D9"/>
                </a:solidFill>
                <a:latin typeface="Inter"/>
                <a:ea typeface="Microsoft JhengHei"/>
                <a:cs typeface="Inter"/>
              </a:rPr>
              <a:t>鑽石級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3611880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最高等級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等級依得分機率分布劃分（鑽石級約落在歷年案件前段班）。介紹個案時，以該案實際取得的等級與證書為準。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取得方式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一張標章，經過四道把關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86000"/>
            <a:ext cx="2443734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487168"/>
            <a:ext cx="20779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064E3B"/>
                </a:solidFill>
                <a:latin typeface="Consolas"/>
                <a:ea typeface="Microsoft JhengHei"/>
                <a:cs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852928"/>
            <a:ext cx="20779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設計導入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3310128"/>
            <a:ext cx="207797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規劃階段就把九大指標放進設計裡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2726" y="2286000"/>
            <a:ext cx="2443734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23894" y="2487168"/>
            <a:ext cx="20779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064E3B"/>
                </a:solidFill>
                <a:latin typeface="Consolas"/>
                <a:ea typeface="Microsoft JhengHei"/>
                <a:cs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23894" y="2852928"/>
            <a:ext cx="20779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候選證書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3894" y="3310128"/>
            <a:ext cx="207797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動工前以設計圖說通過審查，取得候選綠建築證書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2492" y="2286000"/>
            <a:ext cx="2443734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87168"/>
            <a:ext cx="20779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064E3B"/>
                </a:solidFill>
                <a:latin typeface="Consolas"/>
                <a:ea typeface="Microsoft JhengHei"/>
                <a:cs typeface="Consola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3660" y="2852928"/>
            <a:ext cx="20779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施工查核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3660" y="3310128"/>
            <a:ext cx="207797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按圖施作、保留查驗文件與照片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2258" y="2286000"/>
            <a:ext cx="2443734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487168"/>
            <a:ext cx="20779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064E3B"/>
                </a:solidFill>
                <a:latin typeface="Consolas"/>
                <a:ea typeface="Microsoft JhengHei"/>
                <a:cs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3426" y="2852928"/>
            <a:ext cx="20779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正式標章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23426" y="3310128"/>
            <a:ext cx="207797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完工查核後核發，標章有效期屆滿需複評展延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預售階段多半持有的是「候選綠建築證書」，完工通過查核後才換發正式標章 —— 這正是制度可信的原因。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給購屋者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為什麼值得選綠建築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03120"/>
            <a:ext cx="2443734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2443734" cy="3302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26771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369A1"/>
                </a:solidFill>
                <a:latin typeface="Inter"/>
                <a:ea typeface="Microsoft JhengHei"/>
                <a:cs typeface="Inter"/>
              </a:rPr>
              <a:t>省得有感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724912"/>
            <a:ext cx="224256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節能與節水是必過門檻，長期水電費實際降低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2726" y="2103120"/>
            <a:ext cx="2443734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22726" y="2103120"/>
            <a:ext cx="2443734" cy="330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23894" y="226771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91C1C"/>
                </a:solidFill>
                <a:latin typeface="Inter"/>
                <a:ea typeface="Microsoft JhengHei"/>
                <a:cs typeface="Inter"/>
              </a:rPr>
              <a:t>住得健康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3894" y="2724912"/>
            <a:ext cx="224256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隔音、採光、通風與綠建材，全家天天受益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2492" y="2103120"/>
            <a:ext cx="2443734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22492" y="2103120"/>
            <a:ext cx="2443734" cy="3302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226771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64E3B"/>
                </a:solidFill>
                <a:latin typeface="Inter"/>
                <a:ea typeface="Microsoft JhengHei"/>
                <a:cs typeface="Inter"/>
              </a:rPr>
              <a:t>品質有據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3660" y="2724912"/>
            <a:ext cx="224256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內政部認證、第三方審查，看證書不必聽話術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2258" y="2103120"/>
            <a:ext cx="2443734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22258" y="2103120"/>
            <a:ext cx="2443734" cy="330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23426" y="226771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資產保值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23426" y="2724912"/>
            <a:ext cx="224256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對接淨零趨勢的低碳資產，市場辨識度高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實績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傑丞建築機構的綠建築實績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03120"/>
            <a:ext cx="2443734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2443734" cy="3302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267712"/>
            <a:ext cx="224256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RESIDENTIAL ·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54203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64E3B"/>
                </a:solidFill>
                <a:latin typeface="Inter"/>
                <a:ea typeface="Microsoft JhengHei"/>
                <a:cs typeface="Inter"/>
              </a:rPr>
              <a:t>台北市 信義區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999232"/>
            <a:ext cx="2242566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住宅型 EEWH-RS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2726" y="2103120"/>
            <a:ext cx="2443734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2726" y="2103120"/>
            <a:ext cx="2443734" cy="3302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23894" y="2267712"/>
            <a:ext cx="224256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COMMERCIAL · 2023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3894" y="254203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64E3B"/>
                </a:solidFill>
                <a:latin typeface="Inter"/>
                <a:ea typeface="Microsoft JhengHei"/>
                <a:cs typeface="Inter"/>
              </a:rPr>
              <a:t>新北市 板橋區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3894" y="2999232"/>
            <a:ext cx="2242566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商辦複合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2492" y="2103120"/>
            <a:ext cx="2443734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22492" y="2103120"/>
            <a:ext cx="2443734" cy="3302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3660" y="2267712"/>
            <a:ext cx="224256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LANDSCAPE · 2024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3660" y="254203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64E3B"/>
                </a:solidFill>
                <a:latin typeface="Inter"/>
                <a:ea typeface="Microsoft JhengHei"/>
                <a:cs typeface="Inter"/>
              </a:rPr>
              <a:t>台中市 西屯區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3660" y="2999232"/>
            <a:ext cx="2242566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景觀生態社區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22258" y="2103120"/>
            <a:ext cx="2443734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22258" y="2103120"/>
            <a:ext cx="2443734" cy="3302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23426" y="2267712"/>
            <a:ext cx="224256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RENOVATION · 2023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23426" y="254203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64E3B"/>
                </a:solidFill>
                <a:latin typeface="Inter"/>
                <a:ea typeface="Microsoft JhengHei"/>
                <a:cs typeface="Inter"/>
              </a:rPr>
              <a:t>台北市 大同區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23426" y="2999232"/>
            <a:ext cx="2242566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舊建築改善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以上為代表案例類型，實際標章等級依各案核定文件為準。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重點回顧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四句話記住綠建築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332720" cy="2743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0B981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5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生態（27 分）：綠意、生態與會呼吸的土地，社區像一座公園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0B981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5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節能（32 分）：配分最高且為必過門檻，省下的都回到住戶身上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0B981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5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減廢（16 分）：低碳建造，從出生就是低碳資產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0B981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5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健康（25 分）：安靜、明亮、通風、好空氣，省水同樣是必過門檻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內政部官方認證，五級分明（合格至鑽石），1999 年推行至今、亞洲第一套。介紹個案時，請以該案實際證書等級與內政部最新規定為準。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1945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0B981"/>
                </a:solidFill>
                <a:latin typeface="Consolas"/>
                <a:ea typeface="Microsoft JhengHei"/>
                <a:cs typeface="Consolas"/>
              </a:rPr>
              <a:t>EEWH ｜ 生態・節能・減廢・健康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6974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>
                <a:solidFill>
                  <a:srgbClr val="FFFFFF"/>
                </a:solidFill>
                <a:latin typeface="Inter"/>
                <a:ea typeface="Microsoft JhengHei"/>
                <a:cs typeface="Inter"/>
              </a:rPr>
              <a:t>更省、更健康、更值得</a:t>
            </a:r>
          </a:p>
          <a:p>
            <a:pPr algn="l">
              <a:lnSpc>
                <a:spcPct val="118000"/>
              </a:lnSpc>
            </a:pPr>
            <a:r>
              <a:rPr sz="3800" b="1" i="0">
                <a:solidFill>
                  <a:srgbClr val="FFFFFF"/>
                </a:solidFill>
                <a:latin typeface="Inter"/>
                <a:ea typeface="Microsoft JhengHei"/>
                <a:cs typeface="Inter"/>
              </a:rPr>
              <a:t>傳承的居住選擇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4297680"/>
            <a:ext cx="548640" cy="304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126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8716C"/>
                </a:solidFill>
                <a:latin typeface="Consolas"/>
                <a:ea typeface="Microsoft JhengHei"/>
                <a:cs typeface="Consolas"/>
              </a:rPr>
              <a:t>傑丞建築機構　Jieceng Architecture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