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548640"/>
            <a:ext cx="10058400" cy="365760"/>
          </a:xfrm>
          <a:prstGeom prst="rect">
            <a:avLst/>
          </a:prstGeom>
          <a:noFill/>
        </p:spPr>
        <p:txBody>
          <a:bodyPr wrap="square">
            <a:spAutoFit/>
          </a:bodyPr>
          <a:lstStyle/>
          <a:p>
            <a:pPr algn="l"/>
            <a:r>
              <a:rPr sz="1300" b="0" i="0">
                <a:solidFill>
                  <a:srgbClr val="10B981"/>
                </a:solidFill>
              </a:rPr>
              <a:t>傑丞建築機構 / Jieceng Architecture</a:t>
            </a:r>
          </a:p>
        </p:txBody>
      </p:sp>
      <p:sp>
        <p:nvSpPr>
          <p:cNvPr id="3" name="TextBox 2"/>
          <p:cNvSpPr txBox="1"/>
          <p:nvPr/>
        </p:nvSpPr>
        <p:spPr>
          <a:xfrm>
            <a:off x="914400" y="1097280"/>
            <a:ext cx="10058400" cy="914400"/>
          </a:xfrm>
          <a:prstGeom prst="rect">
            <a:avLst/>
          </a:prstGeom>
          <a:noFill/>
        </p:spPr>
        <p:txBody>
          <a:bodyPr wrap="square">
            <a:spAutoFit/>
          </a:bodyPr>
          <a:lstStyle/>
          <a:p>
            <a:pPr algn="l"/>
            <a:r>
              <a:rPr sz="4800" b="1" i="0">
                <a:solidFill>
                  <a:srgbClr val="FFFFFF"/>
                </a:solidFill>
              </a:rPr>
              <a:t>綠建築標章</a:t>
            </a:r>
          </a:p>
        </p:txBody>
      </p:sp>
      <p:sp>
        <p:nvSpPr>
          <p:cNvPr id="4" name="TextBox 3"/>
          <p:cNvSpPr txBox="1"/>
          <p:nvPr/>
        </p:nvSpPr>
        <p:spPr>
          <a:xfrm>
            <a:off x="914400" y="1828800"/>
            <a:ext cx="10058400" cy="822960"/>
          </a:xfrm>
          <a:prstGeom prst="rect">
            <a:avLst/>
          </a:prstGeom>
          <a:noFill/>
        </p:spPr>
        <p:txBody>
          <a:bodyPr wrap="square">
            <a:spAutoFit/>
          </a:bodyPr>
          <a:lstStyle/>
          <a:p>
            <a:pPr algn="l"/>
            <a:r>
              <a:rPr sz="4000" b="1" i="0">
                <a:solidFill>
                  <a:srgbClr val="10B981"/>
                </a:solidFill>
              </a:rPr>
              <a:t>2023 版解析</a:t>
            </a:r>
          </a:p>
        </p:txBody>
      </p:sp>
      <p:sp>
        <p:nvSpPr>
          <p:cNvPr id="5" name="Rectangle 4"/>
          <p:cNvSpPr/>
          <p:nvPr/>
        </p:nvSpPr>
        <p:spPr>
          <a:xfrm>
            <a:off x="914400" y="2788920"/>
            <a:ext cx="64008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017520"/>
            <a:ext cx="10058400" cy="365760"/>
          </a:xfrm>
          <a:prstGeom prst="rect">
            <a:avLst/>
          </a:prstGeom>
          <a:noFill/>
        </p:spPr>
        <p:txBody>
          <a:bodyPr wrap="square">
            <a:spAutoFit/>
          </a:bodyPr>
          <a:lstStyle/>
          <a:p>
            <a:pPr algn="l"/>
            <a:r>
              <a:rPr sz="1600" b="0" i="0">
                <a:solidFill>
                  <a:srgbClr val="9CA3AF"/>
                </a:solidFill>
              </a:rPr>
              <a:t>基本型（EEWH-BC）× 住宅型（EEWH-RS）完整介紹</a:t>
            </a:r>
          </a:p>
        </p:txBody>
      </p:sp>
      <p:sp>
        <p:nvSpPr>
          <p:cNvPr id="7" name="TextBox 6"/>
          <p:cNvSpPr txBox="1"/>
          <p:nvPr/>
        </p:nvSpPr>
        <p:spPr>
          <a:xfrm>
            <a:off x="914400" y="3429000"/>
            <a:ext cx="10058400" cy="365760"/>
          </a:xfrm>
          <a:prstGeom prst="rect">
            <a:avLst/>
          </a:prstGeom>
          <a:noFill/>
        </p:spPr>
        <p:txBody>
          <a:bodyPr wrap="square">
            <a:spAutoFit/>
          </a:bodyPr>
          <a:lstStyle/>
          <a:p>
            <a:pPr algn="l"/>
            <a:r>
              <a:rPr sz="1600" b="0" i="0">
                <a:solidFill>
                  <a:srgbClr val="9CA3AF"/>
                </a:solidFill>
              </a:rPr>
              <a:t>暨 傑丞建築機構 永續建築專案成果</a:t>
            </a:r>
          </a:p>
        </p:txBody>
      </p:sp>
      <p:sp>
        <p:nvSpPr>
          <p:cNvPr id="8" name="TextBox 7"/>
          <p:cNvSpPr txBox="1"/>
          <p:nvPr/>
        </p:nvSpPr>
        <p:spPr>
          <a:xfrm>
            <a:off x="914400" y="6217920"/>
            <a:ext cx="3657600" cy="365760"/>
          </a:xfrm>
          <a:prstGeom prst="rect">
            <a:avLst/>
          </a:prstGeom>
          <a:noFill/>
        </p:spPr>
        <p:txBody>
          <a:bodyPr wrap="square">
            <a:spAutoFit/>
          </a:bodyPr>
          <a:lstStyle/>
          <a:p>
            <a:pPr algn="l"/>
            <a:r>
              <a:rPr sz="1200" b="0" i="0">
                <a:solidFill>
                  <a:srgbClr val="4B5563"/>
                </a:solidFill>
              </a:rPr>
              <a:t>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Rectangle 1"/>
          <p:cNvSpPr/>
          <p:nvPr/>
        </p:nvSpPr>
        <p:spPr>
          <a:xfrm>
            <a:off x="914400" y="731520"/>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548640"/>
          </a:xfrm>
          <a:prstGeom prst="rect">
            <a:avLst/>
          </a:prstGeom>
          <a:noFill/>
        </p:spPr>
        <p:txBody>
          <a:bodyPr wrap="square">
            <a:spAutoFit/>
          </a:bodyPr>
          <a:lstStyle/>
          <a:p>
            <a:pPr algn="l"/>
            <a:r>
              <a:rPr sz="3200" b="1" i="0">
                <a:solidFill>
                  <a:srgbClr val="1A1A1A"/>
                </a:solidFill>
              </a:rPr>
              <a:t>今日議程</a:t>
            </a:r>
          </a:p>
        </p:txBody>
      </p:sp>
      <p:sp>
        <p:nvSpPr>
          <p:cNvPr id="4" name="TextBox 3"/>
          <p:cNvSpPr txBox="1"/>
          <p:nvPr/>
        </p:nvSpPr>
        <p:spPr>
          <a:xfrm>
            <a:off x="914400" y="1737360"/>
            <a:ext cx="5029200" cy="320040"/>
          </a:xfrm>
          <a:prstGeom prst="rect">
            <a:avLst/>
          </a:prstGeom>
          <a:noFill/>
        </p:spPr>
        <p:txBody>
          <a:bodyPr wrap="square">
            <a:spAutoFit/>
          </a:bodyPr>
          <a:lstStyle/>
          <a:p>
            <a:pPr algn="l"/>
            <a:r>
              <a:rPr sz="1300" b="0" i="0">
                <a:solidFill>
                  <a:srgbClr val="064E3B"/>
                </a:solidFill>
              </a:rPr>
              <a:t>PART 01 — 綠建築 EEWH 2023</a:t>
            </a:r>
          </a:p>
        </p:txBody>
      </p:sp>
      <p:sp>
        <p:nvSpPr>
          <p:cNvPr id="5" name="TextBox 4"/>
          <p:cNvSpPr txBox="1"/>
          <p:nvPr/>
        </p:nvSpPr>
        <p:spPr>
          <a:xfrm>
            <a:off x="914400" y="2103120"/>
            <a:ext cx="5029200" cy="2286000"/>
          </a:xfrm>
          <a:prstGeom prst="rect">
            <a:avLst/>
          </a:prstGeom>
          <a:noFill/>
        </p:spPr>
        <p:txBody>
          <a:bodyPr wrap="square">
            <a:spAutoFit/>
          </a:bodyPr>
          <a:lstStyle/>
          <a:p>
            <a:r>
              <a:rPr sz="1500" b="0">
                <a:solidFill>
                  <a:srgbClr val="1A1A1A"/>
                </a:solidFill>
              </a:rPr>
              <a:t>• 制度沿革與 2023 版更新重點</a:t>
            </a:r>
          </a:p>
          <a:p>
            <a:r>
              <a:rPr sz="1500" b="0">
                <a:solidFill>
                  <a:srgbClr val="1A1A1A"/>
                </a:solidFill>
              </a:rPr>
              <a:t>• EEWH 適用類型總覽</a:t>
            </a:r>
          </a:p>
          <a:p>
            <a:r>
              <a:rPr sz="1500" b="0">
                <a:solidFill>
                  <a:srgbClr val="1A1A1A"/>
                </a:solidFill>
              </a:rPr>
              <a:t>• 九大評估指標架構</a:t>
            </a:r>
          </a:p>
          <a:p>
            <a:r>
              <a:rPr sz="1500" b="0">
                <a:solidFill>
                  <a:srgbClr val="1A1A1A"/>
                </a:solidFill>
              </a:rPr>
              <a:t>• 基本型（EEWH-BC）深度介紹</a:t>
            </a:r>
          </a:p>
          <a:p>
            <a:r>
              <a:rPr sz="1500" b="0">
                <a:solidFill>
                  <a:srgbClr val="1A1A1A"/>
                </a:solidFill>
              </a:rPr>
              <a:t>• 住宅型（EEWH-RS）深度介紹</a:t>
            </a:r>
          </a:p>
          <a:p>
            <a:r>
              <a:rPr sz="1500" b="0">
                <a:solidFill>
                  <a:srgbClr val="1A1A1A"/>
                </a:solidFill>
              </a:rPr>
              <a:t>• 兩型比較 × 五個認證等級</a:t>
            </a:r>
          </a:p>
        </p:txBody>
      </p:sp>
      <p:sp>
        <p:nvSpPr>
          <p:cNvPr id="6" name="TextBox 5"/>
          <p:cNvSpPr txBox="1"/>
          <p:nvPr/>
        </p:nvSpPr>
        <p:spPr>
          <a:xfrm>
            <a:off x="6400800" y="1737360"/>
            <a:ext cx="5029200" cy="320040"/>
          </a:xfrm>
          <a:prstGeom prst="rect">
            <a:avLst/>
          </a:prstGeom>
          <a:noFill/>
        </p:spPr>
        <p:txBody>
          <a:bodyPr wrap="square">
            <a:spAutoFit/>
          </a:bodyPr>
          <a:lstStyle/>
          <a:p>
            <a:pPr algn="l"/>
            <a:r>
              <a:rPr sz="1300" b="0" i="0">
                <a:solidFill>
                  <a:srgbClr val="064E3B"/>
                </a:solidFill>
              </a:rPr>
              <a:t>PART 02 — 傑丞建築機構</a:t>
            </a:r>
          </a:p>
        </p:txBody>
      </p:sp>
      <p:sp>
        <p:nvSpPr>
          <p:cNvPr id="7" name="TextBox 6"/>
          <p:cNvSpPr txBox="1"/>
          <p:nvPr/>
        </p:nvSpPr>
        <p:spPr>
          <a:xfrm>
            <a:off x="6400800" y="2103120"/>
            <a:ext cx="5029200" cy="2286000"/>
          </a:xfrm>
          <a:prstGeom prst="rect">
            <a:avLst/>
          </a:prstGeom>
          <a:noFill/>
        </p:spPr>
        <p:txBody>
          <a:bodyPr wrap="square">
            <a:spAutoFit/>
          </a:bodyPr>
          <a:lstStyle/>
          <a:p>
            <a:r>
              <a:rPr sz="1500" b="0">
                <a:solidFill>
                  <a:srgbClr val="1A1A1A"/>
                </a:solidFill>
              </a:rPr>
              <a:t>• 公司理念與服務</a:t>
            </a:r>
          </a:p>
          <a:p>
            <a:r>
              <a:rPr sz="1500" b="0">
                <a:solidFill>
                  <a:srgbClr val="1A1A1A"/>
                </a:solidFill>
              </a:rPr>
              <a:t>• 開放建築</a:t>
            </a:r>
          </a:p>
          <a:p>
            <a:r>
              <a:rPr sz="1500" b="0">
                <a:solidFill>
                  <a:srgbClr val="1A1A1A"/>
                </a:solidFill>
              </a:rPr>
              <a:t>• 當層配管</a:t>
            </a:r>
          </a:p>
          <a:p>
            <a:r>
              <a:rPr sz="1500" b="0">
                <a:solidFill>
                  <a:srgbClr val="1A1A1A"/>
                </a:solidFill>
              </a:rPr>
              <a:t>• 複層樓板</a:t>
            </a:r>
          </a:p>
          <a:p>
            <a:r>
              <a:rPr sz="1500" b="0">
                <a:solidFill>
                  <a:srgbClr val="1A1A1A"/>
                </a:solidFill>
              </a:rPr>
              <a:t>• 都市更新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4E3B"/>
        </a:solidFill>
        <a:effectLst/>
      </p:bgPr>
    </p:bg>
    <p:spTree>
      <p:nvGrpSpPr>
        <p:cNvPr id="1" name=""/>
        <p:cNvGrpSpPr/>
        <p:nvPr/>
      </p:nvGrpSpPr>
      <p:grpSpPr/>
      <p:sp>
        <p:nvSpPr>
          <p:cNvPr id="2" name="TextBox 1"/>
          <p:cNvSpPr txBox="1"/>
          <p:nvPr/>
        </p:nvSpPr>
        <p:spPr>
          <a:xfrm>
            <a:off x="914400" y="1097280"/>
            <a:ext cx="10058400" cy="365760"/>
          </a:xfrm>
          <a:prstGeom prst="rect">
            <a:avLst/>
          </a:prstGeom>
          <a:noFill/>
        </p:spPr>
        <p:txBody>
          <a:bodyPr wrap="square">
            <a:spAutoFit/>
          </a:bodyPr>
          <a:lstStyle/>
          <a:p>
            <a:pPr algn="l"/>
            <a:r>
              <a:rPr sz="1300" b="0" i="0">
                <a:solidFill>
                  <a:srgbClr val="A7F3D0"/>
                </a:solidFill>
              </a:rPr>
              <a:t>PART 01</a:t>
            </a:r>
          </a:p>
        </p:txBody>
      </p:sp>
      <p:sp>
        <p:nvSpPr>
          <p:cNvPr id="3" name="TextBox 2"/>
          <p:cNvSpPr txBox="1"/>
          <p:nvPr/>
        </p:nvSpPr>
        <p:spPr>
          <a:xfrm>
            <a:off x="914400" y="1645920"/>
            <a:ext cx="10058400" cy="1280160"/>
          </a:xfrm>
          <a:prstGeom prst="rect">
            <a:avLst/>
          </a:prstGeom>
          <a:noFill/>
        </p:spPr>
        <p:txBody>
          <a:bodyPr wrap="square">
            <a:spAutoFit/>
          </a:bodyPr>
          <a:lstStyle/>
          <a:p>
            <a:pPr algn="l"/>
            <a:r>
              <a:rPr sz="4400" b="1" i="0">
                <a:solidFill>
                  <a:srgbClr val="FFFFFF"/>
                </a:solidFill>
              </a:rPr>
              <a:t>綠建築標章 EEWH 2023</a:t>
            </a:r>
          </a:p>
        </p:txBody>
      </p:sp>
      <p:sp>
        <p:nvSpPr>
          <p:cNvPr id="4" name="Rectangle 3"/>
          <p:cNvSpPr/>
          <p:nvPr/>
        </p:nvSpPr>
        <p:spPr>
          <a:xfrm>
            <a:off x="914400" y="3063240"/>
            <a:ext cx="54864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9144000" cy="914400"/>
          </a:xfrm>
          <a:prstGeom prst="rect">
            <a:avLst/>
          </a:prstGeom>
          <a:noFill/>
        </p:spPr>
        <p:txBody>
          <a:bodyPr wrap="square">
            <a:spAutoFit/>
          </a:bodyPr>
          <a:lstStyle/>
          <a:p>
            <a:pPr algn="l"/>
            <a:r>
              <a:rPr sz="1600" b="0" i="0">
                <a:solidFill>
                  <a:srgbClr val="A7F3D0"/>
                </a:solidFill>
              </a:rPr>
              <a:t>從 1999 年開創亞熱帶綠建築標準到 2023 年配合淨零碳排路徑，
EEWH 持續進化，為台灣建築環境品質立下新里程。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3657600" cy="365760"/>
          </a:xfrm>
          <a:prstGeom prst="rect">
            <a:avLst/>
          </a:prstGeom>
          <a:noFill/>
        </p:spPr>
        <p:txBody>
          <a:bodyPr wrap="square">
            <a:spAutoFit/>
          </a:bodyPr>
          <a:lstStyle/>
          <a:p>
            <a:pPr algn="l"/>
            <a:r>
              <a:rPr sz="1200" b="0" i="0">
                <a:solidFill>
                  <a:srgbClr val="064E3B"/>
                </a:solidFill>
              </a:rPr>
              <a:t>EEWH ／ 制度沿革</a:t>
            </a:r>
          </a:p>
        </p:txBody>
      </p:sp>
      <p:sp>
        <p:nvSpPr>
          <p:cNvPr id="3" name="Rectangle 2"/>
          <p:cNvSpPr/>
          <p:nvPr/>
        </p:nvSpPr>
        <p:spPr>
          <a:xfrm>
            <a:off x="914400" y="868680"/>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05840"/>
            <a:ext cx="10058400" cy="548640"/>
          </a:xfrm>
          <a:prstGeom prst="rect">
            <a:avLst/>
          </a:prstGeom>
          <a:noFill/>
        </p:spPr>
        <p:txBody>
          <a:bodyPr wrap="square">
            <a:spAutoFit/>
          </a:bodyPr>
          <a:lstStyle/>
          <a:p>
            <a:pPr algn="l"/>
            <a:r>
              <a:rPr sz="2800" b="1" i="0">
                <a:solidFill>
                  <a:srgbClr val="1A1A1A"/>
                </a:solidFill>
              </a:rPr>
              <a:t>從 1999 到 2023：持續進化</a:t>
            </a:r>
          </a:p>
        </p:txBody>
      </p:sp>
      <p:sp>
        <p:nvSpPr>
          <p:cNvPr id="5" name="Rectangle 4"/>
          <p:cNvSpPr/>
          <p:nvPr/>
        </p:nvSpPr>
        <p:spPr>
          <a:xfrm>
            <a:off x="914400" y="1828800"/>
            <a:ext cx="502920" cy="5029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02920" cy="502920"/>
          </a:xfrm>
          <a:prstGeom prst="rect">
            <a:avLst/>
          </a:prstGeom>
          <a:noFill/>
        </p:spPr>
        <p:txBody>
          <a:bodyPr wrap="square">
            <a:spAutoFit/>
          </a:bodyPr>
          <a:lstStyle/>
          <a:p>
            <a:pPr algn="ctr"/>
            <a:r>
              <a:rPr sz="1100" b="1" i="0">
                <a:solidFill>
                  <a:srgbClr val="FFFFFF"/>
                </a:solidFill>
              </a:rPr>
              <a:t>1999</a:t>
            </a:r>
          </a:p>
        </p:txBody>
      </p:sp>
      <p:sp>
        <p:nvSpPr>
          <p:cNvPr id="7" name="TextBox 6"/>
          <p:cNvSpPr txBox="1"/>
          <p:nvPr/>
        </p:nvSpPr>
        <p:spPr>
          <a:xfrm>
            <a:off x="822960" y="2423160"/>
            <a:ext cx="731520" cy="274320"/>
          </a:xfrm>
          <a:prstGeom prst="rect">
            <a:avLst/>
          </a:prstGeom>
          <a:noFill/>
        </p:spPr>
        <p:txBody>
          <a:bodyPr wrap="square">
            <a:spAutoFit/>
          </a:bodyPr>
          <a:lstStyle/>
          <a:p>
            <a:pPr algn="l"/>
            <a:r>
              <a:rPr sz="1100" b="0" i="0">
                <a:solidFill>
                  <a:srgbClr val="1A1A1A"/>
                </a:solidFill>
              </a:rPr>
              <a:t>1999</a:t>
            </a:r>
          </a:p>
        </p:txBody>
      </p:sp>
      <p:sp>
        <p:nvSpPr>
          <p:cNvPr id="8" name="TextBox 7"/>
          <p:cNvSpPr txBox="1"/>
          <p:nvPr/>
        </p:nvSpPr>
        <p:spPr>
          <a:xfrm>
            <a:off x="777240" y="2697480"/>
            <a:ext cx="822960" cy="731520"/>
          </a:xfrm>
          <a:prstGeom prst="rect">
            <a:avLst/>
          </a:prstGeom>
          <a:noFill/>
        </p:spPr>
        <p:txBody>
          <a:bodyPr wrap="square">
            <a:spAutoFit/>
          </a:bodyPr>
          <a:lstStyle/>
          <a:p>
            <a:pPr algn="l"/>
            <a:r>
              <a:rPr sz="1000" b="0" i="0">
                <a:solidFill>
                  <a:srgbClr val="6B7280"/>
                </a:solidFill>
              </a:rPr>
              <a:t>EEWH 創立
全球首個亞熱帶標章</a:t>
            </a:r>
          </a:p>
        </p:txBody>
      </p:sp>
      <p:sp>
        <p:nvSpPr>
          <p:cNvPr id="9" name="Rectangle 8"/>
          <p:cNvSpPr/>
          <p:nvPr/>
        </p:nvSpPr>
        <p:spPr>
          <a:xfrm>
            <a:off x="3017520" y="1828800"/>
            <a:ext cx="502920" cy="5029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828800"/>
            <a:ext cx="502920" cy="502920"/>
          </a:xfrm>
          <a:prstGeom prst="rect">
            <a:avLst/>
          </a:prstGeom>
          <a:noFill/>
        </p:spPr>
        <p:txBody>
          <a:bodyPr wrap="square">
            <a:spAutoFit/>
          </a:bodyPr>
          <a:lstStyle/>
          <a:p>
            <a:pPr algn="ctr"/>
            <a:r>
              <a:rPr sz="1100" b="1" i="0">
                <a:solidFill>
                  <a:srgbClr val="FFFFFF"/>
                </a:solidFill>
              </a:rPr>
              <a:t>2007</a:t>
            </a:r>
          </a:p>
        </p:txBody>
      </p:sp>
      <p:sp>
        <p:nvSpPr>
          <p:cNvPr id="11" name="TextBox 10"/>
          <p:cNvSpPr txBox="1"/>
          <p:nvPr/>
        </p:nvSpPr>
        <p:spPr>
          <a:xfrm>
            <a:off x="2926080" y="2423160"/>
            <a:ext cx="731520" cy="274320"/>
          </a:xfrm>
          <a:prstGeom prst="rect">
            <a:avLst/>
          </a:prstGeom>
          <a:noFill/>
        </p:spPr>
        <p:txBody>
          <a:bodyPr wrap="square">
            <a:spAutoFit/>
          </a:bodyPr>
          <a:lstStyle/>
          <a:p>
            <a:pPr algn="l"/>
            <a:r>
              <a:rPr sz="1100" b="0" i="0">
                <a:solidFill>
                  <a:srgbClr val="1A1A1A"/>
                </a:solidFill>
              </a:rPr>
              <a:t>2007</a:t>
            </a:r>
          </a:p>
        </p:txBody>
      </p:sp>
      <p:sp>
        <p:nvSpPr>
          <p:cNvPr id="12" name="TextBox 11"/>
          <p:cNvSpPr txBox="1"/>
          <p:nvPr/>
        </p:nvSpPr>
        <p:spPr>
          <a:xfrm>
            <a:off x="2880360" y="2697480"/>
            <a:ext cx="822960" cy="731520"/>
          </a:xfrm>
          <a:prstGeom prst="rect">
            <a:avLst/>
          </a:prstGeom>
          <a:noFill/>
        </p:spPr>
        <p:txBody>
          <a:bodyPr wrap="square">
            <a:spAutoFit/>
          </a:bodyPr>
          <a:lstStyle/>
          <a:p>
            <a:pPr algn="l"/>
            <a:r>
              <a:rPr sz="1000" b="0" i="0">
                <a:solidFill>
                  <a:srgbClr val="6B7280"/>
                </a:solidFill>
              </a:rPr>
              <a:t>九大指標系統確立</a:t>
            </a:r>
          </a:p>
        </p:txBody>
      </p:sp>
      <p:sp>
        <p:nvSpPr>
          <p:cNvPr id="13" name="Rectangle 12"/>
          <p:cNvSpPr/>
          <p:nvPr/>
        </p:nvSpPr>
        <p:spPr>
          <a:xfrm>
            <a:off x="5120640" y="1828800"/>
            <a:ext cx="502920" cy="5029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828800"/>
            <a:ext cx="502920" cy="502920"/>
          </a:xfrm>
          <a:prstGeom prst="rect">
            <a:avLst/>
          </a:prstGeom>
          <a:noFill/>
        </p:spPr>
        <p:txBody>
          <a:bodyPr wrap="square">
            <a:spAutoFit/>
          </a:bodyPr>
          <a:lstStyle/>
          <a:p>
            <a:pPr algn="ctr"/>
            <a:r>
              <a:rPr sz="1100" b="1" i="0">
                <a:solidFill>
                  <a:srgbClr val="FFFFFF"/>
                </a:solidFill>
              </a:rPr>
              <a:t>2015</a:t>
            </a:r>
          </a:p>
        </p:txBody>
      </p:sp>
      <p:sp>
        <p:nvSpPr>
          <p:cNvPr id="15" name="TextBox 14"/>
          <p:cNvSpPr txBox="1"/>
          <p:nvPr/>
        </p:nvSpPr>
        <p:spPr>
          <a:xfrm>
            <a:off x="5029200" y="2423160"/>
            <a:ext cx="731520" cy="274320"/>
          </a:xfrm>
          <a:prstGeom prst="rect">
            <a:avLst/>
          </a:prstGeom>
          <a:noFill/>
        </p:spPr>
        <p:txBody>
          <a:bodyPr wrap="square">
            <a:spAutoFit/>
          </a:bodyPr>
          <a:lstStyle/>
          <a:p>
            <a:pPr algn="l"/>
            <a:r>
              <a:rPr sz="1100" b="0" i="0">
                <a:solidFill>
                  <a:srgbClr val="1A1A1A"/>
                </a:solidFill>
              </a:rPr>
              <a:t>2015</a:t>
            </a:r>
          </a:p>
        </p:txBody>
      </p:sp>
      <p:sp>
        <p:nvSpPr>
          <p:cNvPr id="16" name="TextBox 15"/>
          <p:cNvSpPr txBox="1"/>
          <p:nvPr/>
        </p:nvSpPr>
        <p:spPr>
          <a:xfrm>
            <a:off x="4983480" y="2697480"/>
            <a:ext cx="822960" cy="731520"/>
          </a:xfrm>
          <a:prstGeom prst="rect">
            <a:avLst/>
          </a:prstGeom>
          <a:noFill/>
        </p:spPr>
        <p:txBody>
          <a:bodyPr wrap="square">
            <a:spAutoFit/>
          </a:bodyPr>
          <a:lstStyle/>
          <a:p>
            <a:pPr algn="l"/>
            <a:r>
              <a:rPr sz="1000" b="0" i="0">
                <a:solidFill>
                  <a:srgbClr val="6B7280"/>
                </a:solidFill>
              </a:rPr>
              <a:t>多類型版本正式推行</a:t>
            </a:r>
          </a:p>
        </p:txBody>
      </p:sp>
      <p:sp>
        <p:nvSpPr>
          <p:cNvPr id="17" name="Rectangle 16"/>
          <p:cNvSpPr/>
          <p:nvPr/>
        </p:nvSpPr>
        <p:spPr>
          <a:xfrm>
            <a:off x="7223759" y="1828800"/>
            <a:ext cx="502920" cy="5029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1828800"/>
            <a:ext cx="502920" cy="502920"/>
          </a:xfrm>
          <a:prstGeom prst="rect">
            <a:avLst/>
          </a:prstGeom>
          <a:noFill/>
        </p:spPr>
        <p:txBody>
          <a:bodyPr wrap="square">
            <a:spAutoFit/>
          </a:bodyPr>
          <a:lstStyle/>
          <a:p>
            <a:pPr algn="ctr"/>
            <a:r>
              <a:rPr sz="1100" b="1" i="0">
                <a:solidFill>
                  <a:srgbClr val="FFFFFF"/>
                </a:solidFill>
              </a:rPr>
              <a:t>2022</a:t>
            </a:r>
          </a:p>
        </p:txBody>
      </p:sp>
      <p:sp>
        <p:nvSpPr>
          <p:cNvPr id="19" name="TextBox 18"/>
          <p:cNvSpPr txBox="1"/>
          <p:nvPr/>
        </p:nvSpPr>
        <p:spPr>
          <a:xfrm>
            <a:off x="7132319" y="2423160"/>
            <a:ext cx="731520" cy="274320"/>
          </a:xfrm>
          <a:prstGeom prst="rect">
            <a:avLst/>
          </a:prstGeom>
          <a:noFill/>
        </p:spPr>
        <p:txBody>
          <a:bodyPr wrap="square">
            <a:spAutoFit/>
          </a:bodyPr>
          <a:lstStyle/>
          <a:p>
            <a:pPr algn="l"/>
            <a:r>
              <a:rPr sz="1100" b="0" i="0">
                <a:solidFill>
                  <a:srgbClr val="1A1A1A"/>
                </a:solidFill>
              </a:rPr>
              <a:t>2022</a:t>
            </a:r>
          </a:p>
        </p:txBody>
      </p:sp>
      <p:sp>
        <p:nvSpPr>
          <p:cNvPr id="20" name="TextBox 19"/>
          <p:cNvSpPr txBox="1"/>
          <p:nvPr/>
        </p:nvSpPr>
        <p:spPr>
          <a:xfrm>
            <a:off x="7086599" y="2697480"/>
            <a:ext cx="822960" cy="731520"/>
          </a:xfrm>
          <a:prstGeom prst="rect">
            <a:avLst/>
          </a:prstGeom>
          <a:noFill/>
        </p:spPr>
        <p:txBody>
          <a:bodyPr wrap="square">
            <a:spAutoFit/>
          </a:bodyPr>
          <a:lstStyle/>
          <a:p>
            <a:pPr algn="l"/>
            <a:r>
              <a:rPr sz="1000" b="0" i="0">
                <a:solidFill>
                  <a:srgbClr val="6B7280"/>
                </a:solidFill>
              </a:rPr>
              <a:t>配合 BERS 系統銜接</a:t>
            </a:r>
          </a:p>
        </p:txBody>
      </p:sp>
      <p:sp>
        <p:nvSpPr>
          <p:cNvPr id="21" name="Rectangle 20"/>
          <p:cNvSpPr/>
          <p:nvPr/>
        </p:nvSpPr>
        <p:spPr>
          <a:xfrm>
            <a:off x="9326880" y="1828800"/>
            <a:ext cx="50292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1828800"/>
            <a:ext cx="502920" cy="502920"/>
          </a:xfrm>
          <a:prstGeom prst="rect">
            <a:avLst/>
          </a:prstGeom>
          <a:noFill/>
        </p:spPr>
        <p:txBody>
          <a:bodyPr wrap="square">
            <a:spAutoFit/>
          </a:bodyPr>
          <a:lstStyle/>
          <a:p>
            <a:pPr algn="ctr"/>
            <a:r>
              <a:rPr sz="1100" b="1" i="0">
                <a:solidFill>
                  <a:srgbClr val="FFFFFF"/>
                </a:solidFill>
              </a:rPr>
              <a:t>2023</a:t>
            </a:r>
          </a:p>
        </p:txBody>
      </p:sp>
      <p:sp>
        <p:nvSpPr>
          <p:cNvPr id="23" name="TextBox 22"/>
          <p:cNvSpPr txBox="1"/>
          <p:nvPr/>
        </p:nvSpPr>
        <p:spPr>
          <a:xfrm>
            <a:off x="9235440" y="2423160"/>
            <a:ext cx="731520" cy="274320"/>
          </a:xfrm>
          <a:prstGeom prst="rect">
            <a:avLst/>
          </a:prstGeom>
          <a:noFill/>
        </p:spPr>
        <p:txBody>
          <a:bodyPr wrap="square">
            <a:spAutoFit/>
          </a:bodyPr>
          <a:lstStyle/>
          <a:p>
            <a:pPr algn="l"/>
            <a:r>
              <a:rPr sz="1100" b="1" i="0">
                <a:solidFill>
                  <a:srgbClr val="10B981"/>
                </a:solidFill>
              </a:rPr>
              <a:t>2023★</a:t>
            </a:r>
          </a:p>
        </p:txBody>
      </p:sp>
      <p:sp>
        <p:nvSpPr>
          <p:cNvPr id="24" name="TextBox 23"/>
          <p:cNvSpPr txBox="1"/>
          <p:nvPr/>
        </p:nvSpPr>
        <p:spPr>
          <a:xfrm>
            <a:off x="9189720" y="2697480"/>
            <a:ext cx="822960" cy="731520"/>
          </a:xfrm>
          <a:prstGeom prst="rect">
            <a:avLst/>
          </a:prstGeom>
          <a:noFill/>
        </p:spPr>
        <p:txBody>
          <a:bodyPr wrap="square">
            <a:spAutoFit/>
          </a:bodyPr>
          <a:lstStyle/>
          <a:p>
            <a:pPr algn="l"/>
            <a:r>
              <a:rPr sz="1000" b="0" i="0">
                <a:solidFill>
                  <a:srgbClr val="6B7280"/>
                </a:solidFill>
              </a:rPr>
              <a:t>淨零路徑版本更新</a:t>
            </a:r>
          </a:p>
        </p:txBody>
      </p:sp>
      <p:sp>
        <p:nvSpPr>
          <p:cNvPr id="25" name="TextBox 24"/>
          <p:cNvSpPr txBox="1"/>
          <p:nvPr/>
        </p:nvSpPr>
        <p:spPr>
          <a:xfrm>
            <a:off x="914400" y="3520440"/>
            <a:ext cx="10058400" cy="365760"/>
          </a:xfrm>
          <a:prstGeom prst="rect">
            <a:avLst/>
          </a:prstGeom>
          <a:noFill/>
        </p:spPr>
        <p:txBody>
          <a:bodyPr wrap="square">
            <a:spAutoFit/>
          </a:bodyPr>
          <a:lstStyle/>
          <a:p>
            <a:pPr algn="l"/>
            <a:r>
              <a:rPr sz="1600" b="1" i="0">
                <a:solidFill>
                  <a:srgbClr val="1A1A1A"/>
                </a:solidFill>
              </a:rPr>
              <a:t>2023 版五大更新重點</a:t>
            </a:r>
          </a:p>
        </p:txBody>
      </p:sp>
      <p:sp>
        <p:nvSpPr>
          <p:cNvPr id="26" name="Rectangle 25"/>
          <p:cNvSpPr/>
          <p:nvPr/>
        </p:nvSpPr>
        <p:spPr>
          <a:xfrm>
            <a:off x="914400" y="3931920"/>
            <a:ext cx="5303520" cy="11430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4023360"/>
            <a:ext cx="5029200" cy="320040"/>
          </a:xfrm>
          <a:prstGeom prst="rect">
            <a:avLst/>
          </a:prstGeom>
          <a:noFill/>
        </p:spPr>
        <p:txBody>
          <a:bodyPr wrap="square">
            <a:spAutoFit/>
          </a:bodyPr>
          <a:lstStyle/>
          <a:p>
            <a:pPr algn="l"/>
            <a:r>
              <a:rPr sz="1300" b="1" i="0">
                <a:solidFill>
                  <a:srgbClr val="064E3B"/>
                </a:solidFill>
              </a:rPr>
              <a:t>① 節能門檻提升</a:t>
            </a:r>
          </a:p>
        </p:txBody>
      </p:sp>
      <p:sp>
        <p:nvSpPr>
          <p:cNvPr id="28" name="TextBox 27"/>
          <p:cNvSpPr txBox="1"/>
          <p:nvPr/>
        </p:nvSpPr>
        <p:spPr>
          <a:xfrm>
            <a:off x="1051560" y="4343400"/>
            <a:ext cx="5029200" cy="594360"/>
          </a:xfrm>
          <a:prstGeom prst="rect">
            <a:avLst/>
          </a:prstGeom>
          <a:noFill/>
        </p:spPr>
        <p:txBody>
          <a:bodyPr wrap="square">
            <a:spAutoFit/>
          </a:bodyPr>
          <a:lstStyle/>
          <a:p>
            <a:pPr algn="l"/>
            <a:r>
              <a:rPr sz="1100" b="0" i="0">
                <a:solidFill>
                  <a:srgbClr val="1A1A1A"/>
                </a:solidFill>
              </a:rPr>
              <a:t>ENVLOAD 要求更嚴格，與 BERS 第 3 級以上銜接</a:t>
            </a:r>
          </a:p>
        </p:txBody>
      </p:sp>
      <p:sp>
        <p:nvSpPr>
          <p:cNvPr id="29" name="Rectangle 28"/>
          <p:cNvSpPr/>
          <p:nvPr/>
        </p:nvSpPr>
        <p:spPr>
          <a:xfrm>
            <a:off x="6492240" y="3931920"/>
            <a:ext cx="5303520" cy="11430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4023360"/>
            <a:ext cx="5029200" cy="320040"/>
          </a:xfrm>
          <a:prstGeom prst="rect">
            <a:avLst/>
          </a:prstGeom>
          <a:noFill/>
        </p:spPr>
        <p:txBody>
          <a:bodyPr wrap="square">
            <a:spAutoFit/>
          </a:bodyPr>
          <a:lstStyle/>
          <a:p>
            <a:pPr algn="l"/>
            <a:r>
              <a:rPr sz="1300" b="1" i="0">
                <a:solidFill>
                  <a:srgbClr val="064E3B"/>
                </a:solidFill>
              </a:rPr>
              <a:t>② 碳排生命週期評估</a:t>
            </a:r>
          </a:p>
        </p:txBody>
      </p:sp>
      <p:sp>
        <p:nvSpPr>
          <p:cNvPr id="31" name="TextBox 30"/>
          <p:cNvSpPr txBox="1"/>
          <p:nvPr/>
        </p:nvSpPr>
        <p:spPr>
          <a:xfrm>
            <a:off x="6629400" y="4343400"/>
            <a:ext cx="5029200" cy="594360"/>
          </a:xfrm>
          <a:prstGeom prst="rect">
            <a:avLst/>
          </a:prstGeom>
          <a:noFill/>
        </p:spPr>
        <p:txBody>
          <a:bodyPr wrap="square">
            <a:spAutoFit/>
          </a:bodyPr>
          <a:lstStyle/>
          <a:p>
            <a:pPr algn="l"/>
            <a:r>
              <a:rPr sz="1100" b="0" i="0">
                <a:solidFill>
                  <a:srgbClr val="1A1A1A"/>
                </a:solidFill>
              </a:rPr>
              <a:t>CO₂ 減量指標納入建材 LCA，評估延伸至全生命週期</a:t>
            </a:r>
          </a:p>
        </p:txBody>
      </p:sp>
      <p:sp>
        <p:nvSpPr>
          <p:cNvPr id="32" name="Rectangle 31"/>
          <p:cNvSpPr/>
          <p:nvPr/>
        </p:nvSpPr>
        <p:spPr>
          <a:xfrm>
            <a:off x="914400" y="5212079"/>
            <a:ext cx="5303520" cy="11430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5303519"/>
            <a:ext cx="5029200" cy="320040"/>
          </a:xfrm>
          <a:prstGeom prst="rect">
            <a:avLst/>
          </a:prstGeom>
          <a:noFill/>
        </p:spPr>
        <p:txBody>
          <a:bodyPr wrap="square">
            <a:spAutoFit/>
          </a:bodyPr>
          <a:lstStyle/>
          <a:p>
            <a:pPr algn="l"/>
            <a:r>
              <a:rPr sz="1300" b="1" i="0">
                <a:solidFill>
                  <a:srgbClr val="064E3B"/>
                </a:solidFill>
              </a:rPr>
              <a:t>③ PM2.5 空氣品質</a:t>
            </a:r>
          </a:p>
        </p:txBody>
      </p:sp>
      <p:sp>
        <p:nvSpPr>
          <p:cNvPr id="34" name="TextBox 33"/>
          <p:cNvSpPr txBox="1"/>
          <p:nvPr/>
        </p:nvSpPr>
        <p:spPr>
          <a:xfrm>
            <a:off x="1051560" y="5623559"/>
            <a:ext cx="5029200" cy="594360"/>
          </a:xfrm>
          <a:prstGeom prst="rect">
            <a:avLst/>
          </a:prstGeom>
          <a:noFill/>
        </p:spPr>
        <p:txBody>
          <a:bodyPr wrap="square">
            <a:spAutoFit/>
          </a:bodyPr>
          <a:lstStyle/>
          <a:p>
            <a:pPr algn="l"/>
            <a:r>
              <a:rPr sz="1100" b="0" i="0">
                <a:solidFill>
                  <a:srgbClr val="1A1A1A"/>
                </a:solidFill>
              </a:rPr>
              <a:t>室內環境新增 PM2.5 ≤ 35 μg/m³ 監測要求</a:t>
            </a:r>
          </a:p>
        </p:txBody>
      </p:sp>
      <p:sp>
        <p:nvSpPr>
          <p:cNvPr id="35" name="Rectangle 34"/>
          <p:cNvSpPr/>
          <p:nvPr/>
        </p:nvSpPr>
        <p:spPr>
          <a:xfrm>
            <a:off x="6492240" y="5212079"/>
            <a:ext cx="5303520" cy="11430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5303519"/>
            <a:ext cx="5029200" cy="320040"/>
          </a:xfrm>
          <a:prstGeom prst="rect">
            <a:avLst/>
          </a:prstGeom>
          <a:noFill/>
        </p:spPr>
        <p:txBody>
          <a:bodyPr wrap="square">
            <a:spAutoFit/>
          </a:bodyPr>
          <a:lstStyle/>
          <a:p>
            <a:pPr algn="l"/>
            <a:r>
              <a:rPr sz="1300" b="1" i="0">
                <a:solidFill>
                  <a:srgbClr val="064E3B"/>
                </a:solidFill>
              </a:rPr>
              <a:t>④ 生態廊道加分</a:t>
            </a:r>
          </a:p>
        </p:txBody>
      </p:sp>
      <p:sp>
        <p:nvSpPr>
          <p:cNvPr id="37" name="TextBox 36"/>
          <p:cNvSpPr txBox="1"/>
          <p:nvPr/>
        </p:nvSpPr>
        <p:spPr>
          <a:xfrm>
            <a:off x="6629400" y="5623559"/>
            <a:ext cx="5029200" cy="594360"/>
          </a:xfrm>
          <a:prstGeom prst="rect">
            <a:avLst/>
          </a:prstGeom>
          <a:noFill/>
        </p:spPr>
        <p:txBody>
          <a:bodyPr wrap="square">
            <a:spAutoFit/>
          </a:bodyPr>
          <a:lstStyle/>
          <a:p>
            <a:pPr algn="l"/>
            <a:r>
              <a:rPr sz="1100" b="0" i="0">
                <a:solidFill>
                  <a:srgbClr val="1A1A1A"/>
                </a:solidFill>
              </a:rPr>
              <a:t>生物多樣性指標新增生態廊道設計加分項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3657600" cy="365760"/>
          </a:xfrm>
          <a:prstGeom prst="rect">
            <a:avLst/>
          </a:prstGeom>
          <a:noFill/>
        </p:spPr>
        <p:txBody>
          <a:bodyPr wrap="square">
            <a:spAutoFit/>
          </a:bodyPr>
          <a:lstStyle/>
          <a:p>
            <a:pPr algn="l"/>
            <a:r>
              <a:rPr sz="1200" b="0" i="0">
                <a:solidFill>
                  <a:srgbClr val="064E3B"/>
                </a:solidFill>
              </a:rPr>
              <a:t>EEWH ／ 適用類型</a:t>
            </a:r>
          </a:p>
        </p:txBody>
      </p:sp>
      <p:sp>
        <p:nvSpPr>
          <p:cNvPr id="3" name="Rectangle 2"/>
          <p:cNvSpPr/>
          <p:nvPr/>
        </p:nvSpPr>
        <p:spPr>
          <a:xfrm>
            <a:off x="914400" y="868680"/>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05840"/>
            <a:ext cx="10058400" cy="548640"/>
          </a:xfrm>
          <a:prstGeom prst="rect">
            <a:avLst/>
          </a:prstGeom>
          <a:noFill/>
        </p:spPr>
        <p:txBody>
          <a:bodyPr wrap="square">
            <a:spAutoFit/>
          </a:bodyPr>
          <a:lstStyle/>
          <a:p>
            <a:pPr algn="l"/>
            <a:r>
              <a:rPr sz="2800" b="1" i="0">
                <a:solidFill>
                  <a:srgbClr val="1A1A1A"/>
                </a:solidFill>
              </a:rPr>
              <a:t>五種評估版本，本次聚焦兩型</a:t>
            </a:r>
          </a:p>
        </p:txBody>
      </p:sp>
      <p:sp>
        <p:nvSpPr>
          <p:cNvPr id="5" name="Rectangle 4"/>
          <p:cNvSpPr/>
          <p:nvPr/>
        </p:nvSpPr>
        <p:spPr>
          <a:xfrm>
            <a:off x="914400" y="1828800"/>
            <a:ext cx="3566160" cy="19202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20240"/>
            <a:ext cx="3291840" cy="274320"/>
          </a:xfrm>
          <a:prstGeom prst="rect">
            <a:avLst/>
          </a:prstGeom>
          <a:noFill/>
        </p:spPr>
        <p:txBody>
          <a:bodyPr wrap="square">
            <a:spAutoFit/>
          </a:bodyPr>
          <a:lstStyle/>
          <a:p>
            <a:pPr algn="l"/>
            <a:r>
              <a:rPr sz="1100" b="0" i="0">
                <a:solidFill>
                  <a:srgbClr val="1E40AF"/>
                </a:solidFill>
              </a:rPr>
              <a:t>EEWH-BC</a:t>
            </a:r>
          </a:p>
        </p:txBody>
      </p:sp>
      <p:sp>
        <p:nvSpPr>
          <p:cNvPr id="7" name="TextBox 6"/>
          <p:cNvSpPr txBox="1"/>
          <p:nvPr/>
        </p:nvSpPr>
        <p:spPr>
          <a:xfrm>
            <a:off x="1024128" y="2194560"/>
            <a:ext cx="3291840" cy="365760"/>
          </a:xfrm>
          <a:prstGeom prst="rect">
            <a:avLst/>
          </a:prstGeom>
          <a:noFill/>
        </p:spPr>
        <p:txBody>
          <a:bodyPr wrap="square">
            <a:spAutoFit/>
          </a:bodyPr>
          <a:lstStyle/>
          <a:p>
            <a:pPr algn="l"/>
            <a:r>
              <a:rPr sz="1800" b="1" i="0">
                <a:solidFill>
                  <a:srgbClr val="1E40AF"/>
                </a:solidFill>
              </a:rPr>
              <a:t>基本型</a:t>
            </a:r>
          </a:p>
        </p:txBody>
      </p:sp>
      <p:sp>
        <p:nvSpPr>
          <p:cNvPr id="8" name="TextBox 7"/>
          <p:cNvSpPr txBox="1"/>
          <p:nvPr/>
        </p:nvSpPr>
        <p:spPr>
          <a:xfrm>
            <a:off x="1024128" y="2578608"/>
            <a:ext cx="3291840" cy="640080"/>
          </a:xfrm>
          <a:prstGeom prst="rect">
            <a:avLst/>
          </a:prstGeom>
          <a:noFill/>
        </p:spPr>
        <p:txBody>
          <a:bodyPr wrap="square">
            <a:spAutoFit/>
          </a:bodyPr>
          <a:lstStyle/>
          <a:p>
            <a:pPr algn="l"/>
            <a:r>
              <a:rPr sz="1100" b="0" i="0">
                <a:solidFill>
                  <a:srgbClr val="1A1A1A"/>
                </a:solidFill>
              </a:rPr>
              <a:t>辦公、商業、學校、醫院、政府機關等非住宅建築</a:t>
            </a:r>
          </a:p>
        </p:txBody>
      </p:sp>
      <p:sp>
        <p:nvSpPr>
          <p:cNvPr id="9" name="TextBox 8"/>
          <p:cNvSpPr txBox="1"/>
          <p:nvPr/>
        </p:nvSpPr>
        <p:spPr>
          <a:xfrm>
            <a:off x="1024128" y="3337560"/>
            <a:ext cx="3291840" cy="274320"/>
          </a:xfrm>
          <a:prstGeom prst="rect">
            <a:avLst/>
          </a:prstGeom>
          <a:noFill/>
        </p:spPr>
        <p:txBody>
          <a:bodyPr wrap="square">
            <a:spAutoFit/>
          </a:bodyPr>
          <a:lstStyle/>
          <a:p>
            <a:pPr algn="l"/>
            <a:r>
              <a:rPr sz="1100" b="1" i="0">
                <a:solidFill>
                  <a:srgbClr val="1E40AF"/>
                </a:solidFill>
              </a:rPr>
              <a:t>★ 本次重點</a:t>
            </a:r>
          </a:p>
        </p:txBody>
      </p:sp>
      <p:sp>
        <p:nvSpPr>
          <p:cNvPr id="10" name="Rectangle 9"/>
          <p:cNvSpPr/>
          <p:nvPr/>
        </p:nvSpPr>
        <p:spPr>
          <a:xfrm>
            <a:off x="4663440" y="1828800"/>
            <a:ext cx="3566160" cy="192024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73168" y="1920240"/>
            <a:ext cx="3291840" cy="274320"/>
          </a:xfrm>
          <a:prstGeom prst="rect">
            <a:avLst/>
          </a:prstGeom>
          <a:noFill/>
        </p:spPr>
        <p:txBody>
          <a:bodyPr wrap="square">
            <a:spAutoFit/>
          </a:bodyPr>
          <a:lstStyle/>
          <a:p>
            <a:pPr algn="l"/>
            <a:r>
              <a:rPr sz="1100" b="0" i="0">
                <a:solidFill>
                  <a:srgbClr val="064E3B"/>
                </a:solidFill>
              </a:rPr>
              <a:t>EEWH-RS</a:t>
            </a:r>
          </a:p>
        </p:txBody>
      </p:sp>
      <p:sp>
        <p:nvSpPr>
          <p:cNvPr id="12" name="TextBox 11"/>
          <p:cNvSpPr txBox="1"/>
          <p:nvPr/>
        </p:nvSpPr>
        <p:spPr>
          <a:xfrm>
            <a:off x="4773168" y="2194560"/>
            <a:ext cx="3291840" cy="365760"/>
          </a:xfrm>
          <a:prstGeom prst="rect">
            <a:avLst/>
          </a:prstGeom>
          <a:noFill/>
        </p:spPr>
        <p:txBody>
          <a:bodyPr wrap="square">
            <a:spAutoFit/>
          </a:bodyPr>
          <a:lstStyle/>
          <a:p>
            <a:pPr algn="l"/>
            <a:r>
              <a:rPr sz="1800" b="1" i="0">
                <a:solidFill>
                  <a:srgbClr val="064E3B"/>
                </a:solidFill>
              </a:rPr>
              <a:t>住宅型</a:t>
            </a:r>
          </a:p>
        </p:txBody>
      </p:sp>
      <p:sp>
        <p:nvSpPr>
          <p:cNvPr id="13" name="TextBox 12"/>
          <p:cNvSpPr txBox="1"/>
          <p:nvPr/>
        </p:nvSpPr>
        <p:spPr>
          <a:xfrm>
            <a:off x="4773168" y="2578608"/>
            <a:ext cx="3291840" cy="640080"/>
          </a:xfrm>
          <a:prstGeom prst="rect">
            <a:avLst/>
          </a:prstGeom>
          <a:noFill/>
        </p:spPr>
        <p:txBody>
          <a:bodyPr wrap="square">
            <a:spAutoFit/>
          </a:bodyPr>
          <a:lstStyle/>
          <a:p>
            <a:pPr algn="l"/>
            <a:r>
              <a:rPr sz="1100" b="0" i="0">
                <a:solidFill>
                  <a:srgbClr val="1A1A1A"/>
                </a:solidFill>
              </a:rPr>
              <a:t>集合住宅（公寓大廈）、透天住宅等居住類建築</a:t>
            </a:r>
          </a:p>
        </p:txBody>
      </p:sp>
      <p:sp>
        <p:nvSpPr>
          <p:cNvPr id="14" name="TextBox 13"/>
          <p:cNvSpPr txBox="1"/>
          <p:nvPr/>
        </p:nvSpPr>
        <p:spPr>
          <a:xfrm>
            <a:off x="4773168" y="3337560"/>
            <a:ext cx="3291840" cy="274320"/>
          </a:xfrm>
          <a:prstGeom prst="rect">
            <a:avLst/>
          </a:prstGeom>
          <a:noFill/>
        </p:spPr>
        <p:txBody>
          <a:bodyPr wrap="square">
            <a:spAutoFit/>
          </a:bodyPr>
          <a:lstStyle/>
          <a:p>
            <a:pPr algn="l"/>
            <a:r>
              <a:rPr sz="1100" b="1" i="0">
                <a:solidFill>
                  <a:srgbClr val="064E3B"/>
                </a:solidFill>
              </a:rPr>
              <a:t>★ 本次重點</a:t>
            </a:r>
          </a:p>
        </p:txBody>
      </p:sp>
      <p:sp>
        <p:nvSpPr>
          <p:cNvPr id="15" name="Rectangle 14"/>
          <p:cNvSpPr/>
          <p:nvPr/>
        </p:nvSpPr>
        <p:spPr>
          <a:xfrm>
            <a:off x="8412480" y="1828800"/>
            <a:ext cx="3566160" cy="19202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22208" y="1920240"/>
            <a:ext cx="3291840" cy="274320"/>
          </a:xfrm>
          <a:prstGeom prst="rect">
            <a:avLst/>
          </a:prstGeom>
          <a:noFill/>
        </p:spPr>
        <p:txBody>
          <a:bodyPr wrap="square">
            <a:spAutoFit/>
          </a:bodyPr>
          <a:lstStyle/>
          <a:p>
            <a:pPr algn="l"/>
            <a:r>
              <a:rPr sz="1100" b="0" i="0">
                <a:solidFill>
                  <a:srgbClr val="6B7280"/>
                </a:solidFill>
              </a:rPr>
              <a:t>EEWH-RN</a:t>
            </a:r>
          </a:p>
        </p:txBody>
      </p:sp>
      <p:sp>
        <p:nvSpPr>
          <p:cNvPr id="17" name="TextBox 16"/>
          <p:cNvSpPr txBox="1"/>
          <p:nvPr/>
        </p:nvSpPr>
        <p:spPr>
          <a:xfrm>
            <a:off x="8522208" y="2194560"/>
            <a:ext cx="3291840" cy="365760"/>
          </a:xfrm>
          <a:prstGeom prst="rect">
            <a:avLst/>
          </a:prstGeom>
          <a:noFill/>
        </p:spPr>
        <p:txBody>
          <a:bodyPr wrap="square">
            <a:spAutoFit/>
          </a:bodyPr>
          <a:lstStyle/>
          <a:p>
            <a:pPr algn="l"/>
            <a:r>
              <a:rPr sz="1800" b="1" i="0">
                <a:solidFill>
                  <a:srgbClr val="6B7280"/>
                </a:solidFill>
              </a:rPr>
              <a:t>舊建改善型</a:t>
            </a:r>
          </a:p>
        </p:txBody>
      </p:sp>
      <p:sp>
        <p:nvSpPr>
          <p:cNvPr id="18" name="TextBox 17"/>
          <p:cNvSpPr txBox="1"/>
          <p:nvPr/>
        </p:nvSpPr>
        <p:spPr>
          <a:xfrm>
            <a:off x="8522208" y="2578608"/>
            <a:ext cx="3291840" cy="640080"/>
          </a:xfrm>
          <a:prstGeom prst="rect">
            <a:avLst/>
          </a:prstGeom>
          <a:noFill/>
        </p:spPr>
        <p:txBody>
          <a:bodyPr wrap="square">
            <a:spAutoFit/>
          </a:bodyPr>
          <a:lstStyle/>
          <a:p>
            <a:pPr algn="l"/>
            <a:r>
              <a:rPr sz="1100" b="0" i="0">
                <a:solidFill>
                  <a:srgbClr val="1A1A1A"/>
                </a:solidFill>
              </a:rPr>
              <a:t>既有建築節能改善、綠化補強，鼓勵老屋升級</a:t>
            </a:r>
          </a:p>
        </p:txBody>
      </p:sp>
      <p:sp>
        <p:nvSpPr>
          <p:cNvPr id="19" name="Rectangle 18"/>
          <p:cNvSpPr/>
          <p:nvPr/>
        </p:nvSpPr>
        <p:spPr>
          <a:xfrm>
            <a:off x="914400" y="3931920"/>
            <a:ext cx="3566160" cy="19202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023360"/>
            <a:ext cx="3291840" cy="274320"/>
          </a:xfrm>
          <a:prstGeom prst="rect">
            <a:avLst/>
          </a:prstGeom>
          <a:noFill/>
        </p:spPr>
        <p:txBody>
          <a:bodyPr wrap="square">
            <a:spAutoFit/>
          </a:bodyPr>
          <a:lstStyle/>
          <a:p>
            <a:pPr algn="l"/>
            <a:r>
              <a:rPr sz="1100" b="0" i="0">
                <a:solidFill>
                  <a:srgbClr val="6B7280"/>
                </a:solidFill>
              </a:rPr>
              <a:t>EEWH-NC</a:t>
            </a:r>
          </a:p>
        </p:txBody>
      </p:sp>
      <p:sp>
        <p:nvSpPr>
          <p:cNvPr id="21" name="TextBox 20"/>
          <p:cNvSpPr txBox="1"/>
          <p:nvPr/>
        </p:nvSpPr>
        <p:spPr>
          <a:xfrm>
            <a:off x="1024128" y="4297680"/>
            <a:ext cx="3291840" cy="365760"/>
          </a:xfrm>
          <a:prstGeom prst="rect">
            <a:avLst/>
          </a:prstGeom>
          <a:noFill/>
        </p:spPr>
        <p:txBody>
          <a:bodyPr wrap="square">
            <a:spAutoFit/>
          </a:bodyPr>
          <a:lstStyle/>
          <a:p>
            <a:pPr algn="l"/>
            <a:r>
              <a:rPr sz="1800" b="1" i="0">
                <a:solidFill>
                  <a:srgbClr val="6B7280"/>
                </a:solidFill>
              </a:rPr>
              <a:t>社區型</a:t>
            </a:r>
          </a:p>
        </p:txBody>
      </p:sp>
      <p:sp>
        <p:nvSpPr>
          <p:cNvPr id="22" name="TextBox 21"/>
          <p:cNvSpPr txBox="1"/>
          <p:nvPr/>
        </p:nvSpPr>
        <p:spPr>
          <a:xfrm>
            <a:off x="1024128" y="4681728"/>
            <a:ext cx="3291840" cy="640080"/>
          </a:xfrm>
          <a:prstGeom prst="rect">
            <a:avLst/>
          </a:prstGeom>
          <a:noFill/>
        </p:spPr>
        <p:txBody>
          <a:bodyPr wrap="square">
            <a:spAutoFit/>
          </a:bodyPr>
          <a:lstStyle/>
          <a:p>
            <a:pPr algn="l"/>
            <a:r>
              <a:rPr sz="1100" b="0" i="0">
                <a:solidFill>
                  <a:srgbClr val="1A1A1A"/>
                </a:solidFill>
              </a:rPr>
              <a:t>社區整體環境與共用設施的綠化評估</a:t>
            </a:r>
          </a:p>
        </p:txBody>
      </p:sp>
      <p:sp>
        <p:nvSpPr>
          <p:cNvPr id="23" name="Rectangle 22"/>
          <p:cNvSpPr/>
          <p:nvPr/>
        </p:nvSpPr>
        <p:spPr>
          <a:xfrm>
            <a:off x="4663440" y="3931920"/>
            <a:ext cx="3566160" cy="19202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3291840" cy="274320"/>
          </a:xfrm>
          <a:prstGeom prst="rect">
            <a:avLst/>
          </a:prstGeom>
          <a:noFill/>
        </p:spPr>
        <p:txBody>
          <a:bodyPr wrap="square">
            <a:spAutoFit/>
          </a:bodyPr>
          <a:lstStyle/>
          <a:p>
            <a:pPr algn="l"/>
            <a:r>
              <a:rPr sz="1100" b="0" i="0">
                <a:solidFill>
                  <a:srgbClr val="6B7280"/>
                </a:solidFill>
              </a:rPr>
              <a:t>EEWH-OF</a:t>
            </a:r>
          </a:p>
        </p:txBody>
      </p:sp>
      <p:sp>
        <p:nvSpPr>
          <p:cNvPr id="25" name="TextBox 24"/>
          <p:cNvSpPr txBox="1"/>
          <p:nvPr/>
        </p:nvSpPr>
        <p:spPr>
          <a:xfrm>
            <a:off x="4773168" y="4297680"/>
            <a:ext cx="3291840" cy="365760"/>
          </a:xfrm>
          <a:prstGeom prst="rect">
            <a:avLst/>
          </a:prstGeom>
          <a:noFill/>
        </p:spPr>
        <p:txBody>
          <a:bodyPr wrap="square">
            <a:spAutoFit/>
          </a:bodyPr>
          <a:lstStyle/>
          <a:p>
            <a:pPr algn="l"/>
            <a:r>
              <a:rPr sz="1800" b="1" i="0">
                <a:solidFill>
                  <a:srgbClr val="6B7280"/>
                </a:solidFill>
              </a:rPr>
              <a:t>廠房型</a:t>
            </a:r>
          </a:p>
        </p:txBody>
      </p:sp>
      <p:sp>
        <p:nvSpPr>
          <p:cNvPr id="26" name="TextBox 25"/>
          <p:cNvSpPr txBox="1"/>
          <p:nvPr/>
        </p:nvSpPr>
        <p:spPr>
          <a:xfrm>
            <a:off x="4773168" y="4681728"/>
            <a:ext cx="3291840" cy="640080"/>
          </a:xfrm>
          <a:prstGeom prst="rect">
            <a:avLst/>
          </a:prstGeom>
          <a:noFill/>
        </p:spPr>
        <p:txBody>
          <a:bodyPr wrap="square">
            <a:spAutoFit/>
          </a:bodyPr>
          <a:lstStyle/>
          <a:p>
            <a:pPr algn="l"/>
            <a:r>
              <a:rPr sz="1100" b="0" i="0">
                <a:solidFill>
                  <a:srgbClr val="1A1A1A"/>
                </a:solidFill>
              </a:rPr>
              <a:t>工廠、倉儲、廠辦等工業性質建築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365760"/>
            <a:ext cx="3657600" cy="320040"/>
          </a:xfrm>
          <a:prstGeom prst="rect">
            <a:avLst/>
          </a:prstGeom>
          <a:noFill/>
        </p:spPr>
        <p:txBody>
          <a:bodyPr wrap="square">
            <a:spAutoFit/>
          </a:bodyPr>
          <a:lstStyle/>
          <a:p>
            <a:pPr algn="l"/>
            <a:r>
              <a:rPr sz="1200" b="0" i="0">
                <a:solidFill>
                  <a:srgbClr val="064E3B"/>
                </a:solidFill>
              </a:rPr>
              <a:t>EEWH ／ 評估架構</a:t>
            </a:r>
          </a:p>
        </p:txBody>
      </p:sp>
      <p:sp>
        <p:nvSpPr>
          <p:cNvPr id="3" name="Rectangle 2"/>
          <p:cNvSpPr/>
          <p:nvPr/>
        </p:nvSpPr>
        <p:spPr>
          <a:xfrm>
            <a:off x="914400" y="713232"/>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058400" cy="502920"/>
          </a:xfrm>
          <a:prstGeom prst="rect">
            <a:avLst/>
          </a:prstGeom>
          <a:noFill/>
        </p:spPr>
        <p:txBody>
          <a:bodyPr wrap="square">
            <a:spAutoFit/>
          </a:bodyPr>
          <a:lstStyle/>
          <a:p>
            <a:pPr algn="l"/>
            <a:r>
              <a:rPr sz="2800" b="1" i="0">
                <a:solidFill>
                  <a:srgbClr val="1A1A1A"/>
                </a:solidFill>
              </a:rPr>
              <a:t>九大指標 — 共用架構</a:t>
            </a:r>
          </a:p>
        </p:txBody>
      </p:sp>
      <p:sp>
        <p:nvSpPr>
          <p:cNvPr id="5" name="Rectangle 4"/>
          <p:cNvSpPr/>
          <p:nvPr/>
        </p:nvSpPr>
        <p:spPr>
          <a:xfrm>
            <a:off x="914400" y="1417320"/>
            <a:ext cx="10332720" cy="292608"/>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42720"/>
            <a:ext cx="10058400" cy="256032"/>
          </a:xfrm>
          <a:prstGeom prst="rect">
            <a:avLst/>
          </a:prstGeom>
          <a:noFill/>
        </p:spPr>
        <p:txBody>
          <a:bodyPr wrap="square">
            <a:spAutoFit/>
          </a:bodyPr>
          <a:lstStyle/>
          <a:p>
            <a:pPr algn="l"/>
            <a:r>
              <a:rPr sz="1200" b="1" i="0">
                <a:solidFill>
                  <a:srgbClr val="FFFFFF"/>
                </a:solidFill>
              </a:rPr>
              <a:t>生態類 Ecology</a:t>
            </a:r>
          </a:p>
        </p:txBody>
      </p:sp>
      <p:sp>
        <p:nvSpPr>
          <p:cNvPr id="7" name="Rectangle 6"/>
          <p:cNvSpPr/>
          <p:nvPr/>
        </p:nvSpPr>
        <p:spPr>
          <a:xfrm>
            <a:off x="914400" y="1737360"/>
            <a:ext cx="10332720" cy="347472"/>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775460"/>
            <a:ext cx="10058400" cy="292608"/>
          </a:xfrm>
          <a:prstGeom prst="rect">
            <a:avLst/>
          </a:prstGeom>
          <a:noFill/>
        </p:spPr>
        <p:txBody>
          <a:bodyPr wrap="square">
            <a:spAutoFit/>
          </a:bodyPr>
          <a:lstStyle/>
          <a:p>
            <a:pPr algn="l"/>
            <a:r>
              <a:rPr sz="1200" b="0" i="0">
                <a:solidFill>
                  <a:srgbClr val="1A1A1A"/>
                </a:solidFill>
              </a:rPr>
              <a:t>01 生物多樣性 — 生態棲地與物種保育</a:t>
            </a:r>
          </a:p>
        </p:txBody>
      </p:sp>
      <p:sp>
        <p:nvSpPr>
          <p:cNvPr id="9" name="Rectangle 8"/>
          <p:cNvSpPr/>
          <p:nvPr/>
        </p:nvSpPr>
        <p:spPr>
          <a:xfrm>
            <a:off x="914400" y="2103120"/>
            <a:ext cx="10332720" cy="347472"/>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41220"/>
            <a:ext cx="10058400" cy="292608"/>
          </a:xfrm>
          <a:prstGeom prst="rect">
            <a:avLst/>
          </a:prstGeom>
          <a:noFill/>
        </p:spPr>
        <p:txBody>
          <a:bodyPr wrap="square">
            <a:spAutoFit/>
          </a:bodyPr>
          <a:lstStyle/>
          <a:p>
            <a:pPr algn="l"/>
            <a:r>
              <a:rPr sz="1200" b="0" i="0">
                <a:solidFill>
                  <a:srgbClr val="1A1A1A"/>
                </a:solidFill>
              </a:rPr>
              <a:t>02 綠化量 — 植栽固碳效果</a:t>
            </a:r>
          </a:p>
        </p:txBody>
      </p:sp>
      <p:sp>
        <p:nvSpPr>
          <p:cNvPr id="11" name="Rectangle 10"/>
          <p:cNvSpPr/>
          <p:nvPr/>
        </p:nvSpPr>
        <p:spPr>
          <a:xfrm>
            <a:off x="914400" y="2468880"/>
            <a:ext cx="10332720" cy="347472"/>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506980"/>
            <a:ext cx="10058400" cy="292608"/>
          </a:xfrm>
          <a:prstGeom prst="rect">
            <a:avLst/>
          </a:prstGeom>
          <a:noFill/>
        </p:spPr>
        <p:txBody>
          <a:bodyPr wrap="square">
            <a:spAutoFit/>
          </a:bodyPr>
          <a:lstStyle/>
          <a:p>
            <a:pPr algn="l"/>
            <a:r>
              <a:rPr sz="1200" b="0" i="0">
                <a:solidFill>
                  <a:srgbClr val="1A1A1A"/>
                </a:solidFill>
              </a:rPr>
              <a:t>03 基地保水 — 雨水入滲與滯洪</a:t>
            </a:r>
          </a:p>
        </p:txBody>
      </p:sp>
      <p:sp>
        <p:nvSpPr>
          <p:cNvPr id="13" name="Rectangle 12"/>
          <p:cNvSpPr/>
          <p:nvPr/>
        </p:nvSpPr>
        <p:spPr>
          <a:xfrm>
            <a:off x="914400" y="2880360"/>
            <a:ext cx="10332720" cy="29260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905760"/>
            <a:ext cx="10058400" cy="256032"/>
          </a:xfrm>
          <a:prstGeom prst="rect">
            <a:avLst/>
          </a:prstGeom>
          <a:noFill/>
        </p:spPr>
        <p:txBody>
          <a:bodyPr wrap="square">
            <a:spAutoFit/>
          </a:bodyPr>
          <a:lstStyle/>
          <a:p>
            <a:pPr algn="l"/>
            <a:r>
              <a:rPr sz="1200" b="1" i="0">
                <a:solidFill>
                  <a:srgbClr val="FFFFFF"/>
                </a:solidFill>
              </a:rPr>
              <a:t>節能類 Energy Saving</a:t>
            </a:r>
          </a:p>
        </p:txBody>
      </p:sp>
      <p:sp>
        <p:nvSpPr>
          <p:cNvPr id="15" name="Rectangle 14"/>
          <p:cNvSpPr/>
          <p:nvPr/>
        </p:nvSpPr>
        <p:spPr>
          <a:xfrm>
            <a:off x="914400" y="3200400"/>
            <a:ext cx="10332720" cy="34747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238500"/>
            <a:ext cx="10058400" cy="292608"/>
          </a:xfrm>
          <a:prstGeom prst="rect">
            <a:avLst/>
          </a:prstGeom>
          <a:noFill/>
        </p:spPr>
        <p:txBody>
          <a:bodyPr wrap="square">
            <a:spAutoFit/>
          </a:bodyPr>
          <a:lstStyle/>
          <a:p>
            <a:pPr algn="l"/>
            <a:r>
              <a:rPr sz="1200" b="0" i="0">
                <a:solidFill>
                  <a:srgbClr val="1A1A1A"/>
                </a:solidFill>
              </a:rPr>
              <a:t>04 ★ 日常節能（必要）— ENVLOAD × 空調效率 × 照明效率</a:t>
            </a:r>
          </a:p>
        </p:txBody>
      </p:sp>
      <p:sp>
        <p:nvSpPr>
          <p:cNvPr id="17" name="Rectangle 16"/>
          <p:cNvSpPr/>
          <p:nvPr/>
        </p:nvSpPr>
        <p:spPr>
          <a:xfrm>
            <a:off x="914400" y="3611880"/>
            <a:ext cx="10332720" cy="2926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637280"/>
            <a:ext cx="10058400" cy="256032"/>
          </a:xfrm>
          <a:prstGeom prst="rect">
            <a:avLst/>
          </a:prstGeom>
          <a:noFill/>
        </p:spPr>
        <p:txBody>
          <a:bodyPr wrap="square">
            <a:spAutoFit/>
          </a:bodyPr>
          <a:lstStyle/>
          <a:p>
            <a:pPr algn="l"/>
            <a:r>
              <a:rPr sz="1200" b="1" i="0">
                <a:solidFill>
                  <a:srgbClr val="FFFFFF"/>
                </a:solidFill>
              </a:rPr>
              <a:t>減廢類 Waste Reduction</a:t>
            </a:r>
          </a:p>
        </p:txBody>
      </p:sp>
      <p:sp>
        <p:nvSpPr>
          <p:cNvPr id="19" name="Rectangle 18"/>
          <p:cNvSpPr/>
          <p:nvPr/>
        </p:nvSpPr>
        <p:spPr>
          <a:xfrm>
            <a:off x="914400" y="3931920"/>
            <a:ext cx="10332720" cy="347472"/>
          </a:xfrm>
          <a:prstGeom prst="rect">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3970020"/>
            <a:ext cx="10058400" cy="292608"/>
          </a:xfrm>
          <a:prstGeom prst="rect">
            <a:avLst/>
          </a:prstGeom>
          <a:noFill/>
        </p:spPr>
        <p:txBody>
          <a:bodyPr wrap="square">
            <a:spAutoFit/>
          </a:bodyPr>
          <a:lstStyle/>
          <a:p>
            <a:pPr algn="l"/>
            <a:r>
              <a:rPr sz="1200" b="0" i="0">
                <a:solidFill>
                  <a:srgbClr val="1A1A1A"/>
                </a:solidFill>
              </a:rPr>
              <a:t>05 CO₂ 減量 — 建材生命週期碳排（2023新增LCA）</a:t>
            </a:r>
          </a:p>
        </p:txBody>
      </p:sp>
      <p:sp>
        <p:nvSpPr>
          <p:cNvPr id="21" name="Rectangle 20"/>
          <p:cNvSpPr/>
          <p:nvPr/>
        </p:nvSpPr>
        <p:spPr>
          <a:xfrm>
            <a:off x="914400" y="4297680"/>
            <a:ext cx="10332720" cy="347472"/>
          </a:xfrm>
          <a:prstGeom prst="rect">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335780"/>
            <a:ext cx="10058400" cy="292608"/>
          </a:xfrm>
          <a:prstGeom prst="rect">
            <a:avLst/>
          </a:prstGeom>
          <a:noFill/>
        </p:spPr>
        <p:txBody>
          <a:bodyPr wrap="square">
            <a:spAutoFit/>
          </a:bodyPr>
          <a:lstStyle/>
          <a:p>
            <a:pPr algn="l"/>
            <a:r>
              <a:rPr sz="1200" b="0" i="0">
                <a:solidFill>
                  <a:srgbClr val="1A1A1A"/>
                </a:solidFill>
              </a:rPr>
              <a:t>06 廢棄物減量 — 施工廢料分類管控</a:t>
            </a:r>
          </a:p>
        </p:txBody>
      </p:sp>
      <p:sp>
        <p:nvSpPr>
          <p:cNvPr id="23" name="Rectangle 22"/>
          <p:cNvSpPr/>
          <p:nvPr/>
        </p:nvSpPr>
        <p:spPr>
          <a:xfrm>
            <a:off x="914400" y="4709160"/>
            <a:ext cx="10332720"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734560"/>
            <a:ext cx="10058400" cy="256032"/>
          </a:xfrm>
          <a:prstGeom prst="rect">
            <a:avLst/>
          </a:prstGeom>
          <a:noFill/>
        </p:spPr>
        <p:txBody>
          <a:bodyPr wrap="square">
            <a:spAutoFit/>
          </a:bodyPr>
          <a:lstStyle/>
          <a:p>
            <a:pPr algn="l"/>
            <a:r>
              <a:rPr sz="1200" b="1" i="0">
                <a:solidFill>
                  <a:srgbClr val="FFFFFF"/>
                </a:solidFill>
              </a:rPr>
              <a:t>健康類 Health</a:t>
            </a:r>
          </a:p>
        </p:txBody>
      </p:sp>
      <p:sp>
        <p:nvSpPr>
          <p:cNvPr id="25" name="Rectangle 24"/>
          <p:cNvSpPr/>
          <p:nvPr/>
        </p:nvSpPr>
        <p:spPr>
          <a:xfrm>
            <a:off x="914400" y="5029200"/>
            <a:ext cx="10332720" cy="347472"/>
          </a:xfrm>
          <a:prstGeom prst="rect">
            <a:avLst/>
          </a:prstGeom>
          <a:solidFill>
            <a:srgbClr val="F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5067300"/>
            <a:ext cx="10058400" cy="292608"/>
          </a:xfrm>
          <a:prstGeom prst="rect">
            <a:avLst/>
          </a:prstGeom>
          <a:noFill/>
        </p:spPr>
        <p:txBody>
          <a:bodyPr wrap="square">
            <a:spAutoFit/>
          </a:bodyPr>
          <a:lstStyle/>
          <a:p>
            <a:pPr algn="l"/>
            <a:r>
              <a:rPr sz="1200" b="0" i="0">
                <a:solidFill>
                  <a:srgbClr val="1A1A1A"/>
                </a:solidFill>
              </a:rPr>
              <a:t>07 ★ 室內環境（必要）— 採光、通風、PM2.5</a:t>
            </a:r>
          </a:p>
        </p:txBody>
      </p:sp>
      <p:sp>
        <p:nvSpPr>
          <p:cNvPr id="27" name="Rectangle 26"/>
          <p:cNvSpPr/>
          <p:nvPr/>
        </p:nvSpPr>
        <p:spPr>
          <a:xfrm>
            <a:off x="914400" y="5394960"/>
            <a:ext cx="10332720" cy="347472"/>
          </a:xfrm>
          <a:prstGeom prst="rect">
            <a:avLst/>
          </a:prstGeom>
          <a:solidFill>
            <a:srgbClr val="F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433060"/>
            <a:ext cx="10058400" cy="292608"/>
          </a:xfrm>
          <a:prstGeom prst="rect">
            <a:avLst/>
          </a:prstGeom>
          <a:noFill/>
        </p:spPr>
        <p:txBody>
          <a:bodyPr wrap="square">
            <a:spAutoFit/>
          </a:bodyPr>
          <a:lstStyle/>
          <a:p>
            <a:pPr algn="l"/>
            <a:r>
              <a:rPr sz="1200" b="0" i="0">
                <a:solidFill>
                  <a:srgbClr val="1A1A1A"/>
                </a:solidFill>
              </a:rPr>
              <a:t>08 ★ 水資源（必要）— 節水設備與回收利用</a:t>
            </a:r>
          </a:p>
        </p:txBody>
      </p:sp>
      <p:sp>
        <p:nvSpPr>
          <p:cNvPr id="29" name="Rectangle 28"/>
          <p:cNvSpPr/>
          <p:nvPr/>
        </p:nvSpPr>
        <p:spPr>
          <a:xfrm>
            <a:off x="914400" y="5760720"/>
            <a:ext cx="10332720" cy="347472"/>
          </a:xfrm>
          <a:prstGeom prst="rect">
            <a:avLst/>
          </a:prstGeom>
          <a:solidFill>
            <a:srgbClr val="F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798820"/>
            <a:ext cx="10058400" cy="292608"/>
          </a:xfrm>
          <a:prstGeom prst="rect">
            <a:avLst/>
          </a:prstGeom>
          <a:noFill/>
        </p:spPr>
        <p:txBody>
          <a:bodyPr wrap="square">
            <a:spAutoFit/>
          </a:bodyPr>
          <a:lstStyle/>
          <a:p>
            <a:pPr algn="l"/>
            <a:r>
              <a:rPr sz="1200" b="0" i="0">
                <a:solidFill>
                  <a:srgbClr val="1A1A1A"/>
                </a:solidFill>
              </a:rPr>
              <a:t>09 ★ 污水垃圾（必要）— 廢棄物處理設施</a:t>
            </a:r>
          </a:p>
        </p:txBody>
      </p:sp>
      <p:sp>
        <p:nvSpPr>
          <p:cNvPr id="31" name="TextBox 30"/>
          <p:cNvSpPr txBox="1"/>
          <p:nvPr/>
        </p:nvSpPr>
        <p:spPr>
          <a:xfrm>
            <a:off x="914400" y="6400800"/>
            <a:ext cx="10058400" cy="320040"/>
          </a:xfrm>
          <a:prstGeom prst="rect">
            <a:avLst/>
          </a:prstGeom>
          <a:noFill/>
        </p:spPr>
        <p:txBody>
          <a:bodyPr wrap="square">
            <a:spAutoFit/>
          </a:bodyPr>
          <a:lstStyle/>
          <a:p>
            <a:pPr algn="l"/>
            <a:r>
              <a:rPr sz="1100" b="0" i="1">
                <a:solidFill>
                  <a:srgbClr val="6B7280"/>
                </a:solidFill>
              </a:rPr>
              <a:t>★ 必要指標：所有類型均需全數通過，方可進入評分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4572000" cy="365760"/>
          </a:xfrm>
          <a:prstGeom prst="rect">
            <a:avLst/>
          </a:prstGeom>
          <a:noFill/>
        </p:spPr>
        <p:txBody>
          <a:bodyPr wrap="square">
            <a:spAutoFit/>
          </a:bodyPr>
          <a:lstStyle/>
          <a:p>
            <a:pPr algn="l"/>
            <a:r>
              <a:rPr sz="1200" b="0" i="0">
                <a:solidFill>
                  <a:srgbClr val="1E40AF"/>
                </a:solidFill>
              </a:rPr>
              <a:t>基本型 EEWH-BC</a:t>
            </a:r>
          </a:p>
        </p:txBody>
      </p:sp>
      <p:sp>
        <p:nvSpPr>
          <p:cNvPr id="3" name="Rectangle 2"/>
          <p:cNvSpPr/>
          <p:nvPr/>
        </p:nvSpPr>
        <p:spPr>
          <a:xfrm>
            <a:off x="914400" y="850392"/>
            <a:ext cx="109728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548640"/>
          </a:xfrm>
          <a:prstGeom prst="rect">
            <a:avLst/>
          </a:prstGeom>
          <a:noFill/>
        </p:spPr>
        <p:txBody>
          <a:bodyPr wrap="square">
            <a:spAutoFit/>
          </a:bodyPr>
          <a:lstStyle/>
          <a:p>
            <a:pPr algn="l"/>
            <a:r>
              <a:rPr sz="2800" b="1" i="0">
                <a:solidFill>
                  <a:srgbClr val="1A1A1A"/>
                </a:solidFill>
              </a:rPr>
              <a:t>基本型 — 商業・辦公・公共建築</a:t>
            </a:r>
          </a:p>
        </p:txBody>
      </p:sp>
      <p:sp>
        <p:nvSpPr>
          <p:cNvPr id="5" name="TextBox 4"/>
          <p:cNvSpPr txBox="1"/>
          <p:nvPr/>
        </p:nvSpPr>
        <p:spPr>
          <a:xfrm>
            <a:off x="914400" y="1645920"/>
            <a:ext cx="5943600" cy="1097280"/>
          </a:xfrm>
          <a:prstGeom prst="rect">
            <a:avLst/>
          </a:prstGeom>
          <a:noFill/>
        </p:spPr>
        <p:txBody>
          <a:bodyPr wrap="square">
            <a:spAutoFit/>
          </a:bodyPr>
          <a:lstStyle/>
          <a:p>
            <a:pPr algn="l"/>
            <a:r>
              <a:rPr sz="1400" b="0" i="0">
                <a:solidFill>
                  <a:srgbClr val="1A1A1A"/>
                </a:solidFill>
              </a:rPr>
              <a:t>基本型（EEWH-BC）適用於學校、辦公、商業、醫院、政府機關等各類非住宅建築，
是台灣使用最廣泛的綠建築評估版本，側重建築系統整體性能的提升。</a:t>
            </a:r>
          </a:p>
        </p:txBody>
      </p:sp>
      <p:sp>
        <p:nvSpPr>
          <p:cNvPr id="6" name="TextBox 5"/>
          <p:cNvSpPr txBox="1"/>
          <p:nvPr/>
        </p:nvSpPr>
        <p:spPr>
          <a:xfrm>
            <a:off x="914400" y="2834640"/>
            <a:ext cx="1463040" cy="640080"/>
          </a:xfrm>
          <a:prstGeom prst="rect">
            <a:avLst/>
          </a:prstGeom>
          <a:noFill/>
        </p:spPr>
        <p:txBody>
          <a:bodyPr wrap="square">
            <a:spAutoFit/>
          </a:bodyPr>
          <a:lstStyle/>
          <a:p>
            <a:pPr algn="l"/>
            <a:r>
              <a:rPr sz="3600" b="1" i="0">
                <a:solidFill>
                  <a:srgbClr val="064E3B"/>
                </a:solidFill>
              </a:rPr>
              <a:t>4</a:t>
            </a:r>
          </a:p>
        </p:txBody>
      </p:sp>
      <p:sp>
        <p:nvSpPr>
          <p:cNvPr id="7" name="TextBox 6"/>
          <p:cNvSpPr txBox="1"/>
          <p:nvPr/>
        </p:nvSpPr>
        <p:spPr>
          <a:xfrm>
            <a:off x="914400" y="3474720"/>
            <a:ext cx="1463040" cy="320040"/>
          </a:xfrm>
          <a:prstGeom prst="rect">
            <a:avLst/>
          </a:prstGeom>
          <a:noFill/>
        </p:spPr>
        <p:txBody>
          <a:bodyPr wrap="square">
            <a:spAutoFit/>
          </a:bodyPr>
          <a:lstStyle/>
          <a:p>
            <a:pPr algn="l"/>
            <a:r>
              <a:rPr sz="1200" b="0" i="0">
                <a:solidFill>
                  <a:srgbClr val="6B7280"/>
                </a:solidFill>
              </a:rPr>
              <a:t>必要指標</a:t>
            </a:r>
          </a:p>
        </p:txBody>
      </p:sp>
      <p:sp>
        <p:nvSpPr>
          <p:cNvPr id="8" name="TextBox 7"/>
          <p:cNvSpPr txBox="1"/>
          <p:nvPr/>
        </p:nvSpPr>
        <p:spPr>
          <a:xfrm>
            <a:off x="2560320" y="2834640"/>
            <a:ext cx="1463040" cy="640080"/>
          </a:xfrm>
          <a:prstGeom prst="rect">
            <a:avLst/>
          </a:prstGeom>
          <a:noFill/>
        </p:spPr>
        <p:txBody>
          <a:bodyPr wrap="square">
            <a:spAutoFit/>
          </a:bodyPr>
          <a:lstStyle/>
          <a:p>
            <a:pPr algn="l"/>
            <a:r>
              <a:rPr sz="3600" b="1" i="0">
                <a:solidFill>
                  <a:srgbClr val="064E3B"/>
                </a:solidFill>
              </a:rPr>
              <a:t>9</a:t>
            </a:r>
          </a:p>
        </p:txBody>
      </p:sp>
      <p:sp>
        <p:nvSpPr>
          <p:cNvPr id="9" name="TextBox 8"/>
          <p:cNvSpPr txBox="1"/>
          <p:nvPr/>
        </p:nvSpPr>
        <p:spPr>
          <a:xfrm>
            <a:off x="2560320" y="3474720"/>
            <a:ext cx="1463040" cy="320040"/>
          </a:xfrm>
          <a:prstGeom prst="rect">
            <a:avLst/>
          </a:prstGeom>
          <a:noFill/>
        </p:spPr>
        <p:txBody>
          <a:bodyPr wrap="square">
            <a:spAutoFit/>
          </a:bodyPr>
          <a:lstStyle/>
          <a:p>
            <a:pPr algn="l"/>
            <a:r>
              <a:rPr sz="1200" b="0" i="0">
                <a:solidFill>
                  <a:srgbClr val="6B7280"/>
                </a:solidFill>
              </a:rPr>
              <a:t>評估指標</a:t>
            </a:r>
          </a:p>
        </p:txBody>
      </p:sp>
      <p:sp>
        <p:nvSpPr>
          <p:cNvPr id="10" name="TextBox 9"/>
          <p:cNvSpPr txBox="1"/>
          <p:nvPr/>
        </p:nvSpPr>
        <p:spPr>
          <a:xfrm>
            <a:off x="914400" y="3931920"/>
            <a:ext cx="4572000" cy="320040"/>
          </a:xfrm>
          <a:prstGeom prst="rect">
            <a:avLst/>
          </a:prstGeom>
          <a:noFill/>
        </p:spPr>
        <p:txBody>
          <a:bodyPr wrap="square">
            <a:spAutoFit/>
          </a:bodyPr>
          <a:lstStyle/>
          <a:p>
            <a:pPr algn="l"/>
            <a:r>
              <a:rPr sz="1300" b="1" i="0">
                <a:solidFill>
                  <a:srgbClr val="1A1A1A"/>
                </a:solidFill>
              </a:rPr>
              <a:t>強制申請門檻</a:t>
            </a:r>
          </a:p>
        </p:txBody>
      </p:sp>
      <p:sp>
        <p:nvSpPr>
          <p:cNvPr id="11" name="TextBox 10"/>
          <p:cNvSpPr txBox="1"/>
          <p:nvPr/>
        </p:nvSpPr>
        <p:spPr>
          <a:xfrm>
            <a:off x="914400" y="4297680"/>
            <a:ext cx="5029200" cy="731520"/>
          </a:xfrm>
          <a:prstGeom prst="rect">
            <a:avLst/>
          </a:prstGeom>
          <a:noFill/>
        </p:spPr>
        <p:txBody>
          <a:bodyPr wrap="square">
            <a:spAutoFit/>
          </a:bodyPr>
          <a:lstStyle/>
          <a:p>
            <a:r>
              <a:rPr sz="1200" b="0">
                <a:solidFill>
                  <a:srgbClr val="1A1A1A"/>
                </a:solidFill>
              </a:rPr>
              <a:t>• 公有建築：樓地板面積 ≥ 500 m²</a:t>
            </a:r>
          </a:p>
          <a:p>
            <a:r>
              <a:rPr sz="1200" b="0">
                <a:solidFill>
                  <a:srgbClr val="1A1A1A"/>
                </a:solidFill>
              </a:rPr>
              <a:t>• 私有建築：依各縣市自治條例</a:t>
            </a:r>
          </a:p>
        </p:txBody>
      </p:sp>
      <p:sp>
        <p:nvSpPr>
          <p:cNvPr id="12" name="Rectangle 11"/>
          <p:cNvSpPr/>
          <p:nvPr/>
        </p:nvSpPr>
        <p:spPr>
          <a:xfrm>
            <a:off x="6858000" y="1645920"/>
            <a:ext cx="4572000" cy="18288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37360"/>
            <a:ext cx="4297680" cy="320040"/>
          </a:xfrm>
          <a:prstGeom prst="rect">
            <a:avLst/>
          </a:prstGeom>
          <a:noFill/>
        </p:spPr>
        <p:txBody>
          <a:bodyPr wrap="square">
            <a:spAutoFit/>
          </a:bodyPr>
          <a:lstStyle/>
          <a:p>
            <a:pPr algn="l"/>
            <a:r>
              <a:rPr sz="1300" b="1" i="0">
                <a:solidFill>
                  <a:srgbClr val="1E40AF"/>
                </a:solidFill>
              </a:rPr>
              <a:t>適用建築類型</a:t>
            </a:r>
          </a:p>
        </p:txBody>
      </p:sp>
      <p:sp>
        <p:nvSpPr>
          <p:cNvPr id="14" name="TextBox 13"/>
          <p:cNvSpPr txBox="1"/>
          <p:nvPr/>
        </p:nvSpPr>
        <p:spPr>
          <a:xfrm>
            <a:off x="6995160" y="2103120"/>
            <a:ext cx="4297680" cy="1188720"/>
          </a:xfrm>
          <a:prstGeom prst="rect">
            <a:avLst/>
          </a:prstGeom>
          <a:noFill/>
        </p:spPr>
        <p:txBody>
          <a:bodyPr wrap="square">
            <a:spAutoFit/>
          </a:bodyPr>
          <a:lstStyle/>
          <a:p>
            <a:r>
              <a:rPr sz="1200" b="0">
                <a:solidFill>
                  <a:srgbClr val="1A1A1A"/>
                </a:solidFill>
              </a:rPr>
              <a:t>• 辦公大樓</a:t>
            </a:r>
          </a:p>
          <a:p>
            <a:r>
              <a:rPr sz="1200" b="0">
                <a:solidFill>
                  <a:srgbClr val="1A1A1A"/>
                </a:solidFill>
              </a:rPr>
              <a:t>• 商業建築</a:t>
            </a:r>
          </a:p>
          <a:p>
            <a:r>
              <a:rPr sz="1200" b="0">
                <a:solidFill>
                  <a:srgbClr val="1A1A1A"/>
                </a:solidFill>
              </a:rPr>
              <a:t>• 學校教育</a:t>
            </a:r>
          </a:p>
          <a:p>
            <a:r>
              <a:rPr sz="1200" b="0">
                <a:solidFill>
                  <a:srgbClr val="1A1A1A"/>
                </a:solidFill>
              </a:rPr>
              <a:t>• 醫療院所</a:t>
            </a:r>
          </a:p>
          <a:p>
            <a:r>
              <a:rPr sz="1200" b="0">
                <a:solidFill>
                  <a:srgbClr val="1A1A1A"/>
                </a:solidFill>
              </a:rPr>
              <a:t>• 政府機關</a:t>
            </a:r>
          </a:p>
          <a:p>
            <a:r>
              <a:rPr sz="1200" b="0">
                <a:solidFill>
                  <a:srgbClr val="1A1A1A"/>
                </a:solidFill>
              </a:rPr>
              <a:t>• 旅館飯店</a:t>
            </a:r>
          </a:p>
        </p:txBody>
      </p:sp>
      <p:sp>
        <p:nvSpPr>
          <p:cNvPr id="15" name="Rectangle 14"/>
          <p:cNvSpPr/>
          <p:nvPr/>
        </p:nvSpPr>
        <p:spPr>
          <a:xfrm>
            <a:off x="6858000" y="3611880"/>
            <a:ext cx="4572000" cy="17373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3703320"/>
            <a:ext cx="4297680" cy="320040"/>
          </a:xfrm>
          <a:prstGeom prst="rect">
            <a:avLst/>
          </a:prstGeom>
          <a:noFill/>
        </p:spPr>
        <p:txBody>
          <a:bodyPr wrap="square">
            <a:spAutoFit/>
          </a:bodyPr>
          <a:lstStyle/>
          <a:p>
            <a:pPr algn="l"/>
            <a:r>
              <a:rPr sz="1300" b="1" i="0">
                <a:solidFill>
                  <a:srgbClr val="1E40AF"/>
                </a:solidFill>
              </a:rPr>
              <a:t>評估核心精神</a:t>
            </a:r>
          </a:p>
        </p:txBody>
      </p:sp>
      <p:sp>
        <p:nvSpPr>
          <p:cNvPr id="17" name="TextBox 16"/>
          <p:cNvSpPr txBox="1"/>
          <p:nvPr/>
        </p:nvSpPr>
        <p:spPr>
          <a:xfrm>
            <a:off x="6995160" y="4069080"/>
            <a:ext cx="4297680" cy="1097280"/>
          </a:xfrm>
          <a:prstGeom prst="rect">
            <a:avLst/>
          </a:prstGeom>
          <a:noFill/>
        </p:spPr>
        <p:txBody>
          <a:bodyPr wrap="square">
            <a:spAutoFit/>
          </a:bodyPr>
          <a:lstStyle/>
          <a:p>
            <a:r>
              <a:rPr sz="1200" b="0">
                <a:solidFill>
                  <a:srgbClr val="1A1A1A"/>
                </a:solidFill>
              </a:rPr>
              <a:t>• 建築系統整體能源效率</a:t>
            </a:r>
          </a:p>
          <a:p>
            <a:r>
              <a:rPr sz="1200" b="0">
                <a:solidFill>
                  <a:srgbClr val="1A1A1A"/>
                </a:solidFill>
              </a:rPr>
              <a:t>• 空調 × 照明 × 外殼節能三軸並進</a:t>
            </a:r>
          </a:p>
          <a:p>
            <a:r>
              <a:rPr sz="1200" b="0">
                <a:solidFill>
                  <a:srgbClr val="1A1A1A"/>
                </a:solidFill>
              </a:rPr>
              <a:t>• 建材碳排與廢料管控</a:t>
            </a:r>
          </a:p>
          <a:p>
            <a:r>
              <a:rPr sz="1200" b="0">
                <a:solidFill>
                  <a:srgbClr val="1A1A1A"/>
                </a:solidFill>
              </a:rPr>
              <a:t>• 基地生態環境品質提升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5486400" cy="365760"/>
          </a:xfrm>
          <a:prstGeom prst="rect">
            <a:avLst/>
          </a:prstGeom>
          <a:noFill/>
        </p:spPr>
        <p:txBody>
          <a:bodyPr wrap="square">
            <a:spAutoFit/>
          </a:bodyPr>
          <a:lstStyle/>
          <a:p>
            <a:pPr algn="l"/>
            <a:r>
              <a:rPr sz="1200" b="0" i="0">
                <a:solidFill>
                  <a:srgbClr val="1E40AF"/>
                </a:solidFill>
              </a:rPr>
              <a:t>基本型 EEWH-BC ／ 評估重點</a:t>
            </a:r>
          </a:p>
        </p:txBody>
      </p:sp>
      <p:sp>
        <p:nvSpPr>
          <p:cNvPr id="3" name="Rectangle 2"/>
          <p:cNvSpPr/>
          <p:nvPr/>
        </p:nvSpPr>
        <p:spPr>
          <a:xfrm>
            <a:off x="914400" y="850392"/>
            <a:ext cx="109728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548640"/>
          </a:xfrm>
          <a:prstGeom prst="rect">
            <a:avLst/>
          </a:prstGeom>
          <a:noFill/>
        </p:spPr>
        <p:txBody>
          <a:bodyPr wrap="square">
            <a:spAutoFit/>
          </a:bodyPr>
          <a:lstStyle/>
          <a:p>
            <a:pPr algn="l"/>
            <a:r>
              <a:rPr sz="2800" b="1" i="0">
                <a:solidFill>
                  <a:srgbClr val="1A1A1A"/>
                </a:solidFill>
              </a:rPr>
              <a:t>基本型四大評估核心</a:t>
            </a:r>
          </a:p>
        </p:txBody>
      </p:sp>
      <p:sp>
        <p:nvSpPr>
          <p:cNvPr id="5" name="Rectangle 4"/>
          <p:cNvSpPr/>
          <p:nvPr/>
        </p:nvSpPr>
        <p:spPr>
          <a:xfrm>
            <a:off x="914400" y="1828800"/>
            <a:ext cx="5303520" cy="21488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20240"/>
            <a:ext cx="5029200" cy="365760"/>
          </a:xfrm>
          <a:prstGeom prst="rect">
            <a:avLst/>
          </a:prstGeom>
          <a:noFill/>
        </p:spPr>
        <p:txBody>
          <a:bodyPr wrap="square">
            <a:spAutoFit/>
          </a:bodyPr>
          <a:lstStyle/>
          <a:p>
            <a:pPr algn="l"/>
            <a:r>
              <a:rPr sz="1400" b="1" i="0">
                <a:solidFill>
                  <a:srgbClr val="1E40AF"/>
                </a:solidFill>
              </a:rPr>
              <a:t>① 日常節能（必要）</a:t>
            </a:r>
          </a:p>
        </p:txBody>
      </p:sp>
      <p:sp>
        <p:nvSpPr>
          <p:cNvPr id="7" name="TextBox 6"/>
          <p:cNvSpPr txBox="1"/>
          <p:nvPr/>
        </p:nvSpPr>
        <p:spPr>
          <a:xfrm>
            <a:off x="1051560" y="2331720"/>
            <a:ext cx="5029200" cy="1554480"/>
          </a:xfrm>
          <a:prstGeom prst="rect">
            <a:avLst/>
          </a:prstGeom>
          <a:noFill/>
        </p:spPr>
        <p:txBody>
          <a:bodyPr wrap="square">
            <a:spAutoFit/>
          </a:bodyPr>
          <a:lstStyle/>
          <a:p>
            <a:r>
              <a:rPr sz="1200" b="0">
                <a:solidFill>
                  <a:srgbClr val="1A1A1A"/>
                </a:solidFill>
              </a:rPr>
              <a:t>• 外殼耗能 ENVLOAD 優於基準 15%（2023版）</a:t>
            </a:r>
          </a:p>
          <a:p>
            <a:r>
              <a:rPr sz="1200" b="0">
                <a:solidFill>
                  <a:srgbClr val="1A1A1A"/>
                </a:solidFill>
              </a:rPr>
              <a:t>• 空調效率 COP / EER 達省能標準</a:t>
            </a:r>
          </a:p>
          <a:p>
            <a:r>
              <a:rPr sz="1200" b="0">
                <a:solidFill>
                  <a:srgbClr val="1A1A1A"/>
                </a:solidFill>
              </a:rPr>
              <a:t>• 照明功率密度 LPD 符合規範</a:t>
            </a:r>
          </a:p>
        </p:txBody>
      </p:sp>
      <p:sp>
        <p:nvSpPr>
          <p:cNvPr id="8" name="Rectangle 7"/>
          <p:cNvSpPr/>
          <p:nvPr/>
        </p:nvSpPr>
        <p:spPr>
          <a:xfrm>
            <a:off x="6492240" y="1828800"/>
            <a:ext cx="5303520" cy="21488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920240"/>
            <a:ext cx="5029200" cy="365760"/>
          </a:xfrm>
          <a:prstGeom prst="rect">
            <a:avLst/>
          </a:prstGeom>
          <a:noFill/>
        </p:spPr>
        <p:txBody>
          <a:bodyPr wrap="square">
            <a:spAutoFit/>
          </a:bodyPr>
          <a:lstStyle/>
          <a:p>
            <a:pPr algn="l"/>
            <a:r>
              <a:rPr sz="1400" b="1" i="0">
                <a:solidFill>
                  <a:srgbClr val="1E40AF"/>
                </a:solidFill>
              </a:rPr>
              <a:t>② 水資源（必要）</a:t>
            </a:r>
          </a:p>
        </p:txBody>
      </p:sp>
      <p:sp>
        <p:nvSpPr>
          <p:cNvPr id="10" name="TextBox 9"/>
          <p:cNvSpPr txBox="1"/>
          <p:nvPr/>
        </p:nvSpPr>
        <p:spPr>
          <a:xfrm>
            <a:off x="6629400" y="2331720"/>
            <a:ext cx="5029200" cy="1554480"/>
          </a:xfrm>
          <a:prstGeom prst="rect">
            <a:avLst/>
          </a:prstGeom>
          <a:noFill/>
        </p:spPr>
        <p:txBody>
          <a:bodyPr wrap="square">
            <a:spAutoFit/>
          </a:bodyPr>
          <a:lstStyle/>
          <a:p>
            <a:r>
              <a:rPr sz="1200" b="0">
                <a:solidFill>
                  <a:srgbClr val="1A1A1A"/>
                </a:solidFill>
              </a:rPr>
              <a:t>• 全棟節水器具省水率 ≥ 20%</a:t>
            </a:r>
          </a:p>
          <a:p>
            <a:r>
              <a:rPr sz="1200" b="0">
                <a:solidFill>
                  <a:srgbClr val="1A1A1A"/>
                </a:solidFill>
              </a:rPr>
              <a:t>• 屋頂雨水回收 × 空調冷凝水利用</a:t>
            </a:r>
          </a:p>
          <a:p>
            <a:r>
              <a:rPr sz="1200" b="0">
                <a:solidFill>
                  <a:srgbClr val="1A1A1A"/>
                </a:solidFill>
              </a:rPr>
              <a:t>• 中水回收系統（免治馬桶／沖廁）</a:t>
            </a:r>
          </a:p>
          <a:p>
            <a:r>
              <a:rPr sz="1200" b="0">
                <a:solidFill>
                  <a:srgbClr val="1A1A1A"/>
                </a:solidFill>
              </a:rPr>
              <a:t>• 自動澆灌節水設計</a:t>
            </a:r>
          </a:p>
        </p:txBody>
      </p:sp>
      <p:sp>
        <p:nvSpPr>
          <p:cNvPr id="11" name="Rectangle 10"/>
          <p:cNvSpPr/>
          <p:nvPr/>
        </p:nvSpPr>
        <p:spPr>
          <a:xfrm>
            <a:off x="914400" y="4114800"/>
            <a:ext cx="5303520" cy="21488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206240"/>
            <a:ext cx="5029200" cy="365760"/>
          </a:xfrm>
          <a:prstGeom prst="rect">
            <a:avLst/>
          </a:prstGeom>
          <a:noFill/>
        </p:spPr>
        <p:txBody>
          <a:bodyPr wrap="square">
            <a:spAutoFit/>
          </a:bodyPr>
          <a:lstStyle/>
          <a:p>
            <a:pPr algn="l"/>
            <a:r>
              <a:rPr sz="1400" b="1" i="0">
                <a:solidFill>
                  <a:srgbClr val="1E40AF"/>
                </a:solidFill>
              </a:rPr>
              <a:t>③ CO₂ 減量（選擇）</a:t>
            </a:r>
          </a:p>
        </p:txBody>
      </p:sp>
      <p:sp>
        <p:nvSpPr>
          <p:cNvPr id="13" name="TextBox 12"/>
          <p:cNvSpPr txBox="1"/>
          <p:nvPr/>
        </p:nvSpPr>
        <p:spPr>
          <a:xfrm>
            <a:off x="1051560" y="4617720"/>
            <a:ext cx="5029200" cy="1554480"/>
          </a:xfrm>
          <a:prstGeom prst="rect">
            <a:avLst/>
          </a:prstGeom>
          <a:noFill/>
        </p:spPr>
        <p:txBody>
          <a:bodyPr wrap="square">
            <a:spAutoFit/>
          </a:bodyPr>
          <a:lstStyle/>
          <a:p>
            <a:r>
              <a:rPr sz="1200" b="0">
                <a:solidFill>
                  <a:srgbClr val="1A1A1A"/>
                </a:solidFill>
              </a:rPr>
              <a:t>• 主結構（RC / 鋼構）選材</a:t>
            </a:r>
          </a:p>
          <a:p>
            <a:r>
              <a:rPr sz="1200" b="0">
                <a:solidFill>
                  <a:srgbClr val="1A1A1A"/>
                </a:solidFill>
              </a:rPr>
              <a:t>• 建材隱含碳排放量計算</a:t>
            </a:r>
          </a:p>
          <a:p>
            <a:r>
              <a:rPr sz="1200" b="0">
                <a:solidFill>
                  <a:srgbClr val="1A1A1A"/>
                </a:solidFill>
              </a:rPr>
              <a:t>• 在地建材 × 低碳建材優先使用</a:t>
            </a:r>
          </a:p>
          <a:p>
            <a:r>
              <a:rPr sz="1200" b="0">
                <a:solidFill>
                  <a:srgbClr val="1A1A1A"/>
                </a:solidFill>
              </a:rPr>
              <a:t>• 生命週期碳排 LCA 報告（2023新增加分）</a:t>
            </a:r>
          </a:p>
        </p:txBody>
      </p:sp>
      <p:sp>
        <p:nvSpPr>
          <p:cNvPr id="14" name="Rectangle 13"/>
          <p:cNvSpPr/>
          <p:nvPr/>
        </p:nvSpPr>
        <p:spPr>
          <a:xfrm>
            <a:off x="6492240" y="4114800"/>
            <a:ext cx="5303520" cy="21488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206240"/>
            <a:ext cx="5029200" cy="365760"/>
          </a:xfrm>
          <a:prstGeom prst="rect">
            <a:avLst/>
          </a:prstGeom>
          <a:noFill/>
        </p:spPr>
        <p:txBody>
          <a:bodyPr wrap="square">
            <a:spAutoFit/>
          </a:bodyPr>
          <a:lstStyle/>
          <a:p>
            <a:pPr algn="l"/>
            <a:r>
              <a:rPr sz="1400" b="1" i="0">
                <a:solidFill>
                  <a:srgbClr val="1E40AF"/>
                </a:solidFill>
              </a:rPr>
              <a:t>④ 室內環境（必要）</a:t>
            </a:r>
          </a:p>
        </p:txBody>
      </p:sp>
      <p:sp>
        <p:nvSpPr>
          <p:cNvPr id="16" name="TextBox 15"/>
          <p:cNvSpPr txBox="1"/>
          <p:nvPr/>
        </p:nvSpPr>
        <p:spPr>
          <a:xfrm>
            <a:off x="6629400" y="4617720"/>
            <a:ext cx="5029200" cy="1554480"/>
          </a:xfrm>
          <a:prstGeom prst="rect">
            <a:avLst/>
          </a:prstGeom>
          <a:noFill/>
        </p:spPr>
        <p:txBody>
          <a:bodyPr wrap="square">
            <a:spAutoFit/>
          </a:bodyPr>
          <a:lstStyle/>
          <a:p>
            <a:r>
              <a:rPr sz="1200" b="0">
                <a:solidFill>
                  <a:srgbClr val="1A1A1A"/>
                </a:solidFill>
              </a:rPr>
              <a:t>• 採光：辦公空間照度達標</a:t>
            </a:r>
          </a:p>
          <a:p>
            <a:r>
              <a:rPr sz="1200" b="0">
                <a:solidFill>
                  <a:srgbClr val="1A1A1A"/>
                </a:solidFill>
              </a:rPr>
              <a:t>• 通風：換氣次數符合規範</a:t>
            </a:r>
          </a:p>
          <a:p>
            <a:r>
              <a:rPr sz="1200" b="0">
                <a:solidFill>
                  <a:srgbClr val="1A1A1A"/>
                </a:solidFill>
              </a:rPr>
              <a:t>• 音環境：隔音量 STC 基準</a:t>
            </a:r>
          </a:p>
          <a:p>
            <a:r>
              <a:rPr sz="1200" b="0">
                <a:solidFill>
                  <a:srgbClr val="1A1A1A"/>
                </a:solidFill>
              </a:rPr>
              <a:t>• PM2.5 ≤ 35 μg/m³（2023版新增）</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4572000" cy="365760"/>
          </a:xfrm>
          <a:prstGeom prst="rect">
            <a:avLst/>
          </a:prstGeom>
          <a:noFill/>
        </p:spPr>
        <p:txBody>
          <a:bodyPr wrap="square">
            <a:spAutoFit/>
          </a:bodyPr>
          <a:lstStyle/>
          <a:p>
            <a:pPr algn="l"/>
            <a:r>
              <a:rPr sz="1200" b="0" i="0">
                <a:solidFill>
                  <a:srgbClr val="064E3B"/>
                </a:solidFill>
              </a:rPr>
              <a:t>住宅型 EEWH-RS</a:t>
            </a:r>
          </a:p>
        </p:txBody>
      </p:sp>
      <p:sp>
        <p:nvSpPr>
          <p:cNvPr id="3" name="Rectangle 2"/>
          <p:cNvSpPr/>
          <p:nvPr/>
        </p:nvSpPr>
        <p:spPr>
          <a:xfrm>
            <a:off x="914400" y="850392"/>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548640"/>
          </a:xfrm>
          <a:prstGeom prst="rect">
            <a:avLst/>
          </a:prstGeom>
          <a:noFill/>
        </p:spPr>
        <p:txBody>
          <a:bodyPr wrap="square">
            <a:spAutoFit/>
          </a:bodyPr>
          <a:lstStyle/>
          <a:p>
            <a:pPr algn="l"/>
            <a:r>
              <a:rPr sz="2800" b="1" i="0">
                <a:solidFill>
                  <a:srgbClr val="1A1A1A"/>
                </a:solidFill>
              </a:rPr>
              <a:t>住宅型 — 以居住者健康為核心</a:t>
            </a:r>
          </a:p>
        </p:txBody>
      </p:sp>
      <p:sp>
        <p:nvSpPr>
          <p:cNvPr id="5" name="TextBox 4"/>
          <p:cNvSpPr txBox="1"/>
          <p:nvPr/>
        </p:nvSpPr>
        <p:spPr>
          <a:xfrm>
            <a:off x="914400" y="1645920"/>
            <a:ext cx="5943600" cy="1097280"/>
          </a:xfrm>
          <a:prstGeom prst="rect">
            <a:avLst/>
          </a:prstGeom>
          <a:noFill/>
        </p:spPr>
        <p:txBody>
          <a:bodyPr wrap="square">
            <a:spAutoFit/>
          </a:bodyPr>
          <a:lstStyle/>
          <a:p>
            <a:pPr algn="l"/>
            <a:r>
              <a:rPr sz="1400" b="0" i="0">
                <a:solidFill>
                  <a:srgbClr val="1A1A1A"/>
                </a:solidFill>
              </a:rPr>
              <a:t>住宅型（EEWH-RS）專門針對集合住宅及透天住宅設計，更強調健康舒適的生活環境、
外殼節能設計及以居住單元為基礎的細緻評估。</a:t>
            </a:r>
          </a:p>
        </p:txBody>
      </p:sp>
      <p:sp>
        <p:nvSpPr>
          <p:cNvPr id="6" name="TextBox 5"/>
          <p:cNvSpPr txBox="1"/>
          <p:nvPr/>
        </p:nvSpPr>
        <p:spPr>
          <a:xfrm>
            <a:off x="914400" y="2834640"/>
            <a:ext cx="2011680" cy="640080"/>
          </a:xfrm>
          <a:prstGeom prst="rect">
            <a:avLst/>
          </a:prstGeom>
          <a:noFill/>
        </p:spPr>
        <p:txBody>
          <a:bodyPr wrap="square">
            <a:spAutoFit/>
          </a:bodyPr>
          <a:lstStyle/>
          <a:p>
            <a:pPr algn="l"/>
            <a:r>
              <a:rPr sz="3200" b="1" i="0">
                <a:solidFill>
                  <a:srgbClr val="064E3B"/>
                </a:solidFill>
              </a:rPr>
              <a:t>4</a:t>
            </a:r>
          </a:p>
        </p:txBody>
      </p:sp>
      <p:sp>
        <p:nvSpPr>
          <p:cNvPr id="7" name="TextBox 6"/>
          <p:cNvSpPr txBox="1"/>
          <p:nvPr/>
        </p:nvSpPr>
        <p:spPr>
          <a:xfrm>
            <a:off x="914400" y="3474720"/>
            <a:ext cx="2011680" cy="320040"/>
          </a:xfrm>
          <a:prstGeom prst="rect">
            <a:avLst/>
          </a:prstGeom>
          <a:noFill/>
        </p:spPr>
        <p:txBody>
          <a:bodyPr wrap="square">
            <a:spAutoFit/>
          </a:bodyPr>
          <a:lstStyle/>
          <a:p>
            <a:pPr algn="l"/>
            <a:r>
              <a:rPr sz="1200" b="0" i="0">
                <a:solidFill>
                  <a:srgbClr val="6B7280"/>
                </a:solidFill>
              </a:rPr>
              <a:t>必要指標</a:t>
            </a:r>
          </a:p>
        </p:txBody>
      </p:sp>
      <p:sp>
        <p:nvSpPr>
          <p:cNvPr id="8" name="TextBox 7"/>
          <p:cNvSpPr txBox="1"/>
          <p:nvPr/>
        </p:nvSpPr>
        <p:spPr>
          <a:xfrm>
            <a:off x="3108960" y="2834640"/>
            <a:ext cx="2011680" cy="640080"/>
          </a:xfrm>
          <a:prstGeom prst="rect">
            <a:avLst/>
          </a:prstGeom>
          <a:noFill/>
        </p:spPr>
        <p:txBody>
          <a:bodyPr wrap="square">
            <a:spAutoFit/>
          </a:bodyPr>
          <a:lstStyle/>
          <a:p>
            <a:pPr algn="l"/>
            <a:r>
              <a:rPr sz="3200" b="1" i="0">
                <a:solidFill>
                  <a:srgbClr val="064E3B"/>
                </a:solidFill>
              </a:rPr>
              <a:t>24h</a:t>
            </a:r>
          </a:p>
        </p:txBody>
      </p:sp>
      <p:sp>
        <p:nvSpPr>
          <p:cNvPr id="9" name="TextBox 8"/>
          <p:cNvSpPr txBox="1"/>
          <p:nvPr/>
        </p:nvSpPr>
        <p:spPr>
          <a:xfrm>
            <a:off x="3108960" y="3474720"/>
            <a:ext cx="2011680" cy="320040"/>
          </a:xfrm>
          <a:prstGeom prst="rect">
            <a:avLst/>
          </a:prstGeom>
          <a:noFill/>
        </p:spPr>
        <p:txBody>
          <a:bodyPr wrap="square">
            <a:spAutoFit/>
          </a:bodyPr>
          <a:lstStyle/>
          <a:p>
            <a:pPr algn="l"/>
            <a:r>
              <a:rPr sz="1200" b="0" i="0">
                <a:solidFill>
                  <a:srgbClr val="6B7280"/>
                </a:solidFill>
              </a:rPr>
              <a:t>全天居住使用</a:t>
            </a:r>
          </a:p>
        </p:txBody>
      </p:sp>
      <p:sp>
        <p:nvSpPr>
          <p:cNvPr id="10" name="TextBox 9"/>
          <p:cNvSpPr txBox="1"/>
          <p:nvPr/>
        </p:nvSpPr>
        <p:spPr>
          <a:xfrm>
            <a:off x="914400" y="3931920"/>
            <a:ext cx="4572000" cy="320040"/>
          </a:xfrm>
          <a:prstGeom prst="rect">
            <a:avLst/>
          </a:prstGeom>
          <a:noFill/>
        </p:spPr>
        <p:txBody>
          <a:bodyPr wrap="square">
            <a:spAutoFit/>
          </a:bodyPr>
          <a:lstStyle/>
          <a:p>
            <a:pPr algn="l"/>
            <a:r>
              <a:rPr sz="1300" b="1" i="0">
                <a:solidFill>
                  <a:srgbClr val="1A1A1A"/>
                </a:solidFill>
              </a:rPr>
              <a:t>強制申請門檻</a:t>
            </a:r>
          </a:p>
        </p:txBody>
      </p:sp>
      <p:sp>
        <p:nvSpPr>
          <p:cNvPr id="11" name="TextBox 10"/>
          <p:cNvSpPr txBox="1"/>
          <p:nvPr/>
        </p:nvSpPr>
        <p:spPr>
          <a:xfrm>
            <a:off x="914400" y="4297680"/>
            <a:ext cx="5029200" cy="731520"/>
          </a:xfrm>
          <a:prstGeom prst="rect">
            <a:avLst/>
          </a:prstGeom>
          <a:noFill/>
        </p:spPr>
        <p:txBody>
          <a:bodyPr wrap="square">
            <a:spAutoFit/>
          </a:bodyPr>
          <a:lstStyle/>
          <a:p>
            <a:r>
              <a:rPr sz="1200" b="0">
                <a:solidFill>
                  <a:srgbClr val="1A1A1A"/>
                </a:solidFill>
              </a:rPr>
              <a:t>• 集合住宅：戶數 ≥ 30 戶</a:t>
            </a:r>
          </a:p>
          <a:p>
            <a:r>
              <a:rPr sz="1200" b="0">
                <a:solidFill>
                  <a:srgbClr val="1A1A1A"/>
                </a:solidFill>
              </a:rPr>
              <a:t>• 社區型集合住宅：基地面積 ≥ 3,000 m²</a:t>
            </a:r>
          </a:p>
        </p:txBody>
      </p:sp>
      <p:sp>
        <p:nvSpPr>
          <p:cNvPr id="12" name="Rectangle 11"/>
          <p:cNvSpPr/>
          <p:nvPr/>
        </p:nvSpPr>
        <p:spPr>
          <a:xfrm>
            <a:off x="6858000" y="1645920"/>
            <a:ext cx="4572000" cy="18288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37360"/>
            <a:ext cx="4297680" cy="320040"/>
          </a:xfrm>
          <a:prstGeom prst="rect">
            <a:avLst/>
          </a:prstGeom>
          <a:noFill/>
        </p:spPr>
        <p:txBody>
          <a:bodyPr wrap="square">
            <a:spAutoFit/>
          </a:bodyPr>
          <a:lstStyle/>
          <a:p>
            <a:pPr algn="l"/>
            <a:r>
              <a:rPr sz="1300" b="1" i="0">
                <a:solidFill>
                  <a:srgbClr val="064E3B"/>
                </a:solidFill>
              </a:rPr>
              <a:t>適用建築類型</a:t>
            </a:r>
          </a:p>
        </p:txBody>
      </p:sp>
      <p:sp>
        <p:nvSpPr>
          <p:cNvPr id="14" name="TextBox 13"/>
          <p:cNvSpPr txBox="1"/>
          <p:nvPr/>
        </p:nvSpPr>
        <p:spPr>
          <a:xfrm>
            <a:off x="6995160" y="2103120"/>
            <a:ext cx="4297680" cy="1188720"/>
          </a:xfrm>
          <a:prstGeom prst="rect">
            <a:avLst/>
          </a:prstGeom>
          <a:noFill/>
        </p:spPr>
        <p:txBody>
          <a:bodyPr wrap="square">
            <a:spAutoFit/>
          </a:bodyPr>
          <a:lstStyle/>
          <a:p>
            <a:r>
              <a:rPr sz="1200" b="0">
                <a:solidFill>
                  <a:srgbClr val="1A1A1A"/>
                </a:solidFill>
              </a:rPr>
              <a:t>• 集合住宅</a:t>
            </a:r>
          </a:p>
          <a:p>
            <a:r>
              <a:rPr sz="1200" b="0">
                <a:solidFill>
                  <a:srgbClr val="1A1A1A"/>
                </a:solidFill>
              </a:rPr>
              <a:t>• 公寓大廈</a:t>
            </a:r>
          </a:p>
          <a:p>
            <a:r>
              <a:rPr sz="1200" b="0">
                <a:solidFill>
                  <a:srgbClr val="1A1A1A"/>
                </a:solidFill>
              </a:rPr>
              <a:t>• 透天住宅</a:t>
            </a:r>
          </a:p>
          <a:p>
            <a:r>
              <a:rPr sz="1200" b="0">
                <a:solidFill>
                  <a:srgbClr val="1A1A1A"/>
                </a:solidFill>
              </a:rPr>
              <a:t>• 社區住宅</a:t>
            </a:r>
          </a:p>
          <a:p>
            <a:r>
              <a:rPr sz="1200" b="0">
                <a:solidFill>
                  <a:srgbClr val="1A1A1A"/>
                </a:solidFill>
              </a:rPr>
              <a:t>• 出租住宅</a:t>
            </a:r>
          </a:p>
          <a:p>
            <a:r>
              <a:rPr sz="1200" b="0">
                <a:solidFill>
                  <a:srgbClr val="1A1A1A"/>
                </a:solidFill>
              </a:rPr>
              <a:t>• 社會住宅</a:t>
            </a:r>
          </a:p>
        </p:txBody>
      </p:sp>
      <p:sp>
        <p:nvSpPr>
          <p:cNvPr id="15" name="Rectangle 14"/>
          <p:cNvSpPr/>
          <p:nvPr/>
        </p:nvSpPr>
        <p:spPr>
          <a:xfrm>
            <a:off x="6858000" y="3611880"/>
            <a:ext cx="4572000" cy="173736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3703320"/>
            <a:ext cx="4297680" cy="320040"/>
          </a:xfrm>
          <a:prstGeom prst="rect">
            <a:avLst/>
          </a:prstGeom>
          <a:noFill/>
        </p:spPr>
        <p:txBody>
          <a:bodyPr wrap="square">
            <a:spAutoFit/>
          </a:bodyPr>
          <a:lstStyle/>
          <a:p>
            <a:pPr algn="l"/>
            <a:r>
              <a:rPr sz="1300" b="1" i="0">
                <a:solidFill>
                  <a:srgbClr val="064E3B"/>
                </a:solidFill>
              </a:rPr>
              <a:t>住宅型核心精神</a:t>
            </a:r>
          </a:p>
        </p:txBody>
      </p:sp>
      <p:sp>
        <p:nvSpPr>
          <p:cNvPr id="17" name="TextBox 16"/>
          <p:cNvSpPr txBox="1"/>
          <p:nvPr/>
        </p:nvSpPr>
        <p:spPr>
          <a:xfrm>
            <a:off x="6995160" y="4069080"/>
            <a:ext cx="4297680" cy="1097280"/>
          </a:xfrm>
          <a:prstGeom prst="rect">
            <a:avLst/>
          </a:prstGeom>
          <a:noFill/>
        </p:spPr>
        <p:txBody>
          <a:bodyPr wrap="square">
            <a:spAutoFit/>
          </a:bodyPr>
          <a:lstStyle/>
          <a:p>
            <a:r>
              <a:rPr sz="1200" b="0">
                <a:solidFill>
                  <a:srgbClr val="1A1A1A"/>
                </a:solidFill>
              </a:rPr>
              <a:t>• 全天使用 → 外殼節能更嚴格</a:t>
            </a:r>
          </a:p>
          <a:p>
            <a:r>
              <a:rPr sz="1200" b="0">
                <a:solidFill>
                  <a:srgbClr val="1A1A1A"/>
                </a:solidFill>
              </a:rPr>
              <a:t>• 居住健康 → 室內環境細化評估</a:t>
            </a:r>
          </a:p>
          <a:p>
            <a:r>
              <a:rPr sz="1200" b="0">
                <a:solidFill>
                  <a:srgbClr val="1A1A1A"/>
                </a:solidFill>
              </a:rPr>
              <a:t>• 以戶計量 → 住戶節水獨立計量</a:t>
            </a:r>
          </a:p>
          <a:p>
            <a:r>
              <a:rPr sz="1200" b="0">
                <a:solidFill>
                  <a:srgbClr val="1A1A1A"/>
                </a:solidFill>
              </a:rPr>
              <a:t>• 社區生態 → 基地共用綠化空間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5486400" cy="365760"/>
          </a:xfrm>
          <a:prstGeom prst="rect">
            <a:avLst/>
          </a:prstGeom>
          <a:noFill/>
        </p:spPr>
        <p:txBody>
          <a:bodyPr wrap="square">
            <a:spAutoFit/>
          </a:bodyPr>
          <a:lstStyle/>
          <a:p>
            <a:pPr algn="l"/>
            <a:r>
              <a:rPr sz="1200" b="0" i="0">
                <a:solidFill>
                  <a:srgbClr val="064E3B"/>
                </a:solidFill>
              </a:rPr>
              <a:t>住宅型 EEWH-RS ／ 評估重點</a:t>
            </a:r>
          </a:p>
        </p:txBody>
      </p:sp>
      <p:sp>
        <p:nvSpPr>
          <p:cNvPr id="3" name="Rectangle 2"/>
          <p:cNvSpPr/>
          <p:nvPr/>
        </p:nvSpPr>
        <p:spPr>
          <a:xfrm>
            <a:off x="914400" y="850392"/>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548640"/>
          </a:xfrm>
          <a:prstGeom prst="rect">
            <a:avLst/>
          </a:prstGeom>
          <a:noFill/>
        </p:spPr>
        <p:txBody>
          <a:bodyPr wrap="square">
            <a:spAutoFit/>
          </a:bodyPr>
          <a:lstStyle/>
          <a:p>
            <a:pPr algn="l"/>
            <a:r>
              <a:rPr sz="2800" b="1" i="0">
                <a:solidFill>
                  <a:srgbClr val="1A1A1A"/>
                </a:solidFill>
              </a:rPr>
              <a:t>住宅型四大評估核心</a:t>
            </a:r>
          </a:p>
        </p:txBody>
      </p:sp>
      <p:sp>
        <p:nvSpPr>
          <p:cNvPr id="5" name="Rectangle 4"/>
          <p:cNvSpPr/>
          <p:nvPr/>
        </p:nvSpPr>
        <p:spPr>
          <a:xfrm>
            <a:off x="914400" y="1828800"/>
            <a:ext cx="5303520" cy="214884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20240"/>
            <a:ext cx="5029200" cy="365760"/>
          </a:xfrm>
          <a:prstGeom prst="rect">
            <a:avLst/>
          </a:prstGeom>
          <a:noFill/>
        </p:spPr>
        <p:txBody>
          <a:bodyPr wrap="square">
            <a:spAutoFit/>
          </a:bodyPr>
          <a:lstStyle/>
          <a:p>
            <a:pPr algn="l"/>
            <a:r>
              <a:rPr sz="1400" b="1" i="0">
                <a:solidFill>
                  <a:srgbClr val="064E3B"/>
                </a:solidFill>
              </a:rPr>
              <a:t>① 日常節能（必要）</a:t>
            </a:r>
          </a:p>
        </p:txBody>
      </p:sp>
      <p:sp>
        <p:nvSpPr>
          <p:cNvPr id="7" name="TextBox 6"/>
          <p:cNvSpPr txBox="1"/>
          <p:nvPr/>
        </p:nvSpPr>
        <p:spPr>
          <a:xfrm>
            <a:off x="1051560" y="2331720"/>
            <a:ext cx="5029200" cy="1554480"/>
          </a:xfrm>
          <a:prstGeom prst="rect">
            <a:avLst/>
          </a:prstGeom>
          <a:noFill/>
        </p:spPr>
        <p:txBody>
          <a:bodyPr wrap="square">
            <a:spAutoFit/>
          </a:bodyPr>
          <a:lstStyle/>
          <a:p>
            <a:r>
              <a:rPr sz="1200" b="0">
                <a:solidFill>
                  <a:srgbClr val="1A1A1A"/>
                </a:solidFill>
              </a:rPr>
              <a:t>• 外牆熱傳透率 U 值更嚴（較基本型提高 10%）</a:t>
            </a:r>
          </a:p>
          <a:p>
            <a:r>
              <a:rPr sz="1200" b="0">
                <a:solidFill>
                  <a:srgbClr val="1A1A1A"/>
                </a:solidFill>
              </a:rPr>
              <a:t>• 頂層樓板或屋頂遮陽隔熱設計</a:t>
            </a:r>
          </a:p>
          <a:p>
            <a:r>
              <a:rPr sz="1200" b="0">
                <a:solidFill>
                  <a:srgbClr val="1A1A1A"/>
                </a:solidFill>
              </a:rPr>
              <a:t>• 窗牆比控制 × 遮陽板 × Low-E 玻璃</a:t>
            </a:r>
          </a:p>
        </p:txBody>
      </p:sp>
      <p:sp>
        <p:nvSpPr>
          <p:cNvPr id="8" name="Rectangle 7"/>
          <p:cNvSpPr/>
          <p:nvPr/>
        </p:nvSpPr>
        <p:spPr>
          <a:xfrm>
            <a:off x="6492240" y="1828800"/>
            <a:ext cx="5303520" cy="214884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920240"/>
            <a:ext cx="5029200" cy="365760"/>
          </a:xfrm>
          <a:prstGeom prst="rect">
            <a:avLst/>
          </a:prstGeom>
          <a:noFill/>
        </p:spPr>
        <p:txBody>
          <a:bodyPr wrap="square">
            <a:spAutoFit/>
          </a:bodyPr>
          <a:lstStyle/>
          <a:p>
            <a:pPr algn="l"/>
            <a:r>
              <a:rPr sz="1400" b="1" i="0">
                <a:solidFill>
                  <a:srgbClr val="064E3B"/>
                </a:solidFill>
              </a:rPr>
              <a:t>② 水資源（必要）</a:t>
            </a:r>
          </a:p>
        </p:txBody>
      </p:sp>
      <p:sp>
        <p:nvSpPr>
          <p:cNvPr id="10" name="TextBox 9"/>
          <p:cNvSpPr txBox="1"/>
          <p:nvPr/>
        </p:nvSpPr>
        <p:spPr>
          <a:xfrm>
            <a:off x="6629400" y="2331720"/>
            <a:ext cx="5029200" cy="1554480"/>
          </a:xfrm>
          <a:prstGeom prst="rect">
            <a:avLst/>
          </a:prstGeom>
          <a:noFill/>
        </p:spPr>
        <p:txBody>
          <a:bodyPr wrap="square">
            <a:spAutoFit/>
          </a:bodyPr>
          <a:lstStyle/>
          <a:p>
            <a:r>
              <a:rPr sz="1200" b="0">
                <a:solidFill>
                  <a:srgbClr val="1A1A1A"/>
                </a:solidFill>
              </a:rPr>
              <a:t>• 每戶獨立水表計量（提高節水意識）</a:t>
            </a:r>
          </a:p>
          <a:p>
            <a:r>
              <a:rPr sz="1200" b="0">
                <a:solidFill>
                  <a:srgbClr val="1A1A1A"/>
                </a:solidFill>
              </a:rPr>
              <a:t>• 省水標章馬桶、水龍頭、蓮蓬頭</a:t>
            </a:r>
          </a:p>
          <a:p>
            <a:r>
              <a:rPr sz="1200" b="0">
                <a:solidFill>
                  <a:srgbClr val="1A1A1A"/>
                </a:solidFill>
              </a:rPr>
              <a:t>• 雨水回收 → 社區庭院澆灌</a:t>
            </a:r>
          </a:p>
          <a:p>
            <a:r>
              <a:rPr sz="1200" b="0">
                <a:solidFill>
                  <a:srgbClr val="1A1A1A"/>
                </a:solidFill>
              </a:rPr>
              <a:t>• 省水率整體 ≥ 20%</a:t>
            </a:r>
          </a:p>
        </p:txBody>
      </p:sp>
      <p:sp>
        <p:nvSpPr>
          <p:cNvPr id="11" name="Rectangle 10"/>
          <p:cNvSpPr/>
          <p:nvPr/>
        </p:nvSpPr>
        <p:spPr>
          <a:xfrm>
            <a:off x="914400" y="4114800"/>
            <a:ext cx="5303520" cy="214884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206240"/>
            <a:ext cx="5029200" cy="365760"/>
          </a:xfrm>
          <a:prstGeom prst="rect">
            <a:avLst/>
          </a:prstGeom>
          <a:noFill/>
        </p:spPr>
        <p:txBody>
          <a:bodyPr wrap="square">
            <a:spAutoFit/>
          </a:bodyPr>
          <a:lstStyle/>
          <a:p>
            <a:pPr algn="l"/>
            <a:r>
              <a:rPr sz="1400" b="1" i="0">
                <a:solidFill>
                  <a:srgbClr val="064E3B"/>
                </a:solidFill>
              </a:rPr>
              <a:t>③ 室內環境（必要）</a:t>
            </a:r>
          </a:p>
        </p:txBody>
      </p:sp>
      <p:sp>
        <p:nvSpPr>
          <p:cNvPr id="13" name="TextBox 12"/>
          <p:cNvSpPr txBox="1"/>
          <p:nvPr/>
        </p:nvSpPr>
        <p:spPr>
          <a:xfrm>
            <a:off x="1051560" y="4617720"/>
            <a:ext cx="5029200" cy="1554480"/>
          </a:xfrm>
          <a:prstGeom prst="rect">
            <a:avLst/>
          </a:prstGeom>
          <a:noFill/>
        </p:spPr>
        <p:txBody>
          <a:bodyPr wrap="square">
            <a:spAutoFit/>
          </a:bodyPr>
          <a:lstStyle/>
          <a:p>
            <a:r>
              <a:rPr sz="1200" b="0">
                <a:solidFill>
                  <a:srgbClr val="1A1A1A"/>
                </a:solidFill>
              </a:rPr>
              <a:t>• 採光：主要居室採光係數 ≥ 0.03</a:t>
            </a:r>
          </a:p>
          <a:p>
            <a:r>
              <a:rPr sz="1200" b="0">
                <a:solidFill>
                  <a:srgbClr val="1A1A1A"/>
                </a:solidFill>
              </a:rPr>
              <a:t>• 通風：自然通風開口比 ≥ 1/8 樓地板面積</a:t>
            </a:r>
          </a:p>
          <a:p>
            <a:r>
              <a:rPr sz="1200" b="0">
                <a:solidFill>
                  <a:srgbClr val="1A1A1A"/>
                </a:solidFill>
              </a:rPr>
              <a:t>• 隔音：樓板衝擊音 ≤ 58 dB（比辦公更嚴格）</a:t>
            </a:r>
          </a:p>
          <a:p>
            <a:r>
              <a:rPr sz="1200" b="0">
                <a:solidFill>
                  <a:srgbClr val="1A1A1A"/>
                </a:solidFill>
              </a:rPr>
              <a:t>• PM2.5：≤ 35 μg/m³ 年均值（2023新增）</a:t>
            </a:r>
          </a:p>
        </p:txBody>
      </p:sp>
      <p:sp>
        <p:nvSpPr>
          <p:cNvPr id="14" name="Rectangle 13"/>
          <p:cNvSpPr/>
          <p:nvPr/>
        </p:nvSpPr>
        <p:spPr>
          <a:xfrm>
            <a:off x="6492240" y="4114800"/>
            <a:ext cx="5303520" cy="214884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206240"/>
            <a:ext cx="5029200" cy="365760"/>
          </a:xfrm>
          <a:prstGeom prst="rect">
            <a:avLst/>
          </a:prstGeom>
          <a:noFill/>
        </p:spPr>
        <p:txBody>
          <a:bodyPr wrap="square">
            <a:spAutoFit/>
          </a:bodyPr>
          <a:lstStyle/>
          <a:p>
            <a:pPr algn="l"/>
            <a:r>
              <a:rPr sz="1400" b="1" i="0">
                <a:solidFill>
                  <a:srgbClr val="064E3B"/>
                </a:solidFill>
              </a:rPr>
              <a:t>④ 生態指標（選擇）</a:t>
            </a:r>
          </a:p>
        </p:txBody>
      </p:sp>
      <p:sp>
        <p:nvSpPr>
          <p:cNvPr id="16" name="TextBox 15"/>
          <p:cNvSpPr txBox="1"/>
          <p:nvPr/>
        </p:nvSpPr>
        <p:spPr>
          <a:xfrm>
            <a:off x="6629400" y="4617720"/>
            <a:ext cx="5029200" cy="1554480"/>
          </a:xfrm>
          <a:prstGeom prst="rect">
            <a:avLst/>
          </a:prstGeom>
          <a:noFill/>
        </p:spPr>
        <p:txBody>
          <a:bodyPr wrap="square">
            <a:spAutoFit/>
          </a:bodyPr>
          <a:lstStyle/>
          <a:p>
            <a:r>
              <a:rPr sz="1200" b="0">
                <a:solidFill>
                  <a:srgbClr val="1A1A1A"/>
                </a:solidFill>
              </a:rPr>
              <a:t>• 社區庭院 × 頂樓花園綠化量</a:t>
            </a:r>
          </a:p>
          <a:p>
            <a:r>
              <a:rPr sz="1200" b="0">
                <a:solidFill>
                  <a:srgbClr val="1A1A1A"/>
                </a:solidFill>
              </a:rPr>
              <a:t>• 基地保水：透水鋪面 × 雨水花園</a:t>
            </a:r>
          </a:p>
          <a:p>
            <a:r>
              <a:rPr sz="1200" b="0">
                <a:solidFill>
                  <a:srgbClr val="1A1A1A"/>
                </a:solidFill>
              </a:rPr>
              <a:t>• 生物多樣性：蟲鳥棲地植栽選種</a:t>
            </a:r>
          </a:p>
          <a:p>
            <a:r>
              <a:rPr sz="1200" b="0">
                <a:solidFill>
                  <a:srgbClr val="1A1A1A"/>
                </a:solidFill>
              </a:rPr>
              <a:t>• 生態廊道銜接設計（2023新增加分）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3657600" cy="365760"/>
          </a:xfrm>
          <a:prstGeom prst="rect">
            <a:avLst/>
          </a:prstGeom>
          <a:noFill/>
        </p:spPr>
        <p:txBody>
          <a:bodyPr wrap="square">
            <a:spAutoFit/>
          </a:bodyPr>
          <a:lstStyle/>
          <a:p>
            <a:pPr algn="l"/>
            <a:r>
              <a:rPr sz="1200" b="0" i="0">
                <a:solidFill>
                  <a:srgbClr val="6B7280"/>
                </a:solidFill>
              </a:rPr>
              <a:t>綜合比較</a:t>
            </a:r>
          </a:p>
        </p:txBody>
      </p:sp>
      <p:sp>
        <p:nvSpPr>
          <p:cNvPr id="3" name="Rectangle 2"/>
          <p:cNvSpPr/>
          <p:nvPr/>
        </p:nvSpPr>
        <p:spPr>
          <a:xfrm>
            <a:off x="914400" y="850392"/>
            <a:ext cx="1097280" cy="381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548640"/>
          </a:xfrm>
          <a:prstGeom prst="rect">
            <a:avLst/>
          </a:prstGeom>
          <a:noFill/>
        </p:spPr>
        <p:txBody>
          <a:bodyPr wrap="square">
            <a:spAutoFit/>
          </a:bodyPr>
          <a:lstStyle/>
          <a:p>
            <a:pPr algn="l"/>
            <a:r>
              <a:rPr sz="2800" b="1" i="0">
                <a:solidFill>
                  <a:srgbClr val="1A1A1A"/>
                </a:solidFill>
              </a:rPr>
              <a:t>基本型 vs 住宅型 — 差異對照</a:t>
            </a:r>
          </a:p>
        </p:txBody>
      </p:sp>
      <p:sp>
        <p:nvSpPr>
          <p:cNvPr id="5" name="Rectangle 4"/>
          <p:cNvSpPr/>
          <p:nvPr/>
        </p:nvSpPr>
        <p:spPr>
          <a:xfrm>
            <a:off x="914400" y="1691640"/>
            <a:ext cx="2286000"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19072"/>
            <a:ext cx="2194560" cy="347472"/>
          </a:xfrm>
          <a:prstGeom prst="rect">
            <a:avLst/>
          </a:prstGeom>
          <a:noFill/>
        </p:spPr>
        <p:txBody>
          <a:bodyPr wrap="square">
            <a:spAutoFit/>
          </a:bodyPr>
          <a:lstStyle/>
          <a:p>
            <a:pPr algn="l"/>
            <a:r>
              <a:rPr sz="1200" b="1" i="0">
                <a:solidFill>
                  <a:srgbClr val="FFFFFF"/>
                </a:solidFill>
              </a:rPr>
              <a:t>比較項目</a:t>
            </a:r>
          </a:p>
        </p:txBody>
      </p:sp>
      <p:sp>
        <p:nvSpPr>
          <p:cNvPr id="7" name="Rectangle 6"/>
          <p:cNvSpPr/>
          <p:nvPr/>
        </p:nvSpPr>
        <p:spPr>
          <a:xfrm>
            <a:off x="3246120" y="1691640"/>
            <a:ext cx="4114800" cy="38404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719072"/>
            <a:ext cx="4023360" cy="347472"/>
          </a:xfrm>
          <a:prstGeom prst="rect">
            <a:avLst/>
          </a:prstGeom>
          <a:noFill/>
        </p:spPr>
        <p:txBody>
          <a:bodyPr wrap="square">
            <a:spAutoFit/>
          </a:bodyPr>
          <a:lstStyle/>
          <a:p>
            <a:pPr algn="l"/>
            <a:r>
              <a:rPr sz="1200" b="1" i="0">
                <a:solidFill>
                  <a:srgbClr val="FFFFFF"/>
                </a:solidFill>
              </a:rPr>
              <a:t>基本型 EEWH-BC</a:t>
            </a:r>
          </a:p>
        </p:txBody>
      </p:sp>
      <p:sp>
        <p:nvSpPr>
          <p:cNvPr id="9" name="Rectangle 8"/>
          <p:cNvSpPr/>
          <p:nvPr/>
        </p:nvSpPr>
        <p:spPr>
          <a:xfrm>
            <a:off x="7406640" y="1691640"/>
            <a:ext cx="4114800" cy="384048"/>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1719072"/>
            <a:ext cx="4023360" cy="347472"/>
          </a:xfrm>
          <a:prstGeom prst="rect">
            <a:avLst/>
          </a:prstGeom>
          <a:noFill/>
        </p:spPr>
        <p:txBody>
          <a:bodyPr wrap="square">
            <a:spAutoFit/>
          </a:bodyPr>
          <a:lstStyle/>
          <a:p>
            <a:pPr algn="l"/>
            <a:r>
              <a:rPr sz="1200" b="1" i="0">
                <a:solidFill>
                  <a:srgbClr val="FFFFFF"/>
                </a:solidFill>
              </a:rPr>
              <a:t>住宅型 EEWH-RS</a:t>
            </a:r>
          </a:p>
        </p:txBody>
      </p:sp>
      <p:sp>
        <p:nvSpPr>
          <p:cNvPr id="11" name="Rectangle 10"/>
          <p:cNvSpPr/>
          <p:nvPr/>
        </p:nvSpPr>
        <p:spPr>
          <a:xfrm>
            <a:off x="914400" y="2148840"/>
            <a:ext cx="22860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2148840"/>
            <a:ext cx="41148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148840"/>
            <a:ext cx="41148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186940"/>
            <a:ext cx="2194560" cy="438912"/>
          </a:xfrm>
          <a:prstGeom prst="rect">
            <a:avLst/>
          </a:prstGeom>
          <a:noFill/>
        </p:spPr>
        <p:txBody>
          <a:bodyPr wrap="square">
            <a:spAutoFit/>
          </a:bodyPr>
          <a:lstStyle/>
          <a:p>
            <a:pPr algn="l"/>
            <a:r>
              <a:rPr sz="1100" b="1" i="0">
                <a:solidFill>
                  <a:srgbClr val="1A1A1A"/>
                </a:solidFill>
              </a:rPr>
              <a:t>適用建築</a:t>
            </a:r>
          </a:p>
        </p:txBody>
      </p:sp>
      <p:sp>
        <p:nvSpPr>
          <p:cNvPr id="15" name="TextBox 14"/>
          <p:cNvSpPr txBox="1"/>
          <p:nvPr/>
        </p:nvSpPr>
        <p:spPr>
          <a:xfrm>
            <a:off x="3291840" y="2186940"/>
            <a:ext cx="4023360" cy="438912"/>
          </a:xfrm>
          <a:prstGeom prst="rect">
            <a:avLst/>
          </a:prstGeom>
          <a:noFill/>
        </p:spPr>
        <p:txBody>
          <a:bodyPr wrap="square">
            <a:spAutoFit/>
          </a:bodyPr>
          <a:lstStyle/>
          <a:p>
            <a:pPr algn="l"/>
            <a:r>
              <a:rPr sz="1100" b="0" i="0">
                <a:solidFill>
                  <a:srgbClr val="1A1A1A"/>
                </a:solidFill>
              </a:rPr>
              <a:t>辦公、商業、學校、醫院、公共設施</a:t>
            </a:r>
          </a:p>
        </p:txBody>
      </p:sp>
      <p:sp>
        <p:nvSpPr>
          <p:cNvPr id="16" name="TextBox 15"/>
          <p:cNvSpPr txBox="1"/>
          <p:nvPr/>
        </p:nvSpPr>
        <p:spPr>
          <a:xfrm>
            <a:off x="7452360" y="2186940"/>
            <a:ext cx="4023360" cy="438912"/>
          </a:xfrm>
          <a:prstGeom prst="rect">
            <a:avLst/>
          </a:prstGeom>
          <a:noFill/>
        </p:spPr>
        <p:txBody>
          <a:bodyPr wrap="square">
            <a:spAutoFit/>
          </a:bodyPr>
          <a:lstStyle/>
          <a:p>
            <a:pPr algn="l"/>
            <a:r>
              <a:rPr sz="1100" b="0" i="0">
                <a:solidFill>
                  <a:srgbClr val="1A1A1A"/>
                </a:solidFill>
              </a:rPr>
              <a:t>集合住宅、公寓大廈、透天住宅</a:t>
            </a:r>
          </a:p>
        </p:txBody>
      </p:sp>
      <p:sp>
        <p:nvSpPr>
          <p:cNvPr id="17" name="Rectangle 16"/>
          <p:cNvSpPr/>
          <p:nvPr/>
        </p:nvSpPr>
        <p:spPr>
          <a:xfrm>
            <a:off x="914400" y="2697480"/>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6120" y="269748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269748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2735580"/>
            <a:ext cx="2194560" cy="438912"/>
          </a:xfrm>
          <a:prstGeom prst="rect">
            <a:avLst/>
          </a:prstGeom>
          <a:noFill/>
        </p:spPr>
        <p:txBody>
          <a:bodyPr wrap="square">
            <a:spAutoFit/>
          </a:bodyPr>
          <a:lstStyle/>
          <a:p>
            <a:pPr algn="l"/>
            <a:r>
              <a:rPr sz="1100" b="1" i="0">
                <a:solidFill>
                  <a:srgbClr val="1A1A1A"/>
                </a:solidFill>
              </a:rPr>
              <a:t>使用情境</a:t>
            </a:r>
          </a:p>
        </p:txBody>
      </p:sp>
      <p:sp>
        <p:nvSpPr>
          <p:cNvPr id="21" name="TextBox 20"/>
          <p:cNvSpPr txBox="1"/>
          <p:nvPr/>
        </p:nvSpPr>
        <p:spPr>
          <a:xfrm>
            <a:off x="3291840" y="2735580"/>
            <a:ext cx="4023360" cy="438912"/>
          </a:xfrm>
          <a:prstGeom prst="rect">
            <a:avLst/>
          </a:prstGeom>
          <a:noFill/>
        </p:spPr>
        <p:txBody>
          <a:bodyPr wrap="square">
            <a:spAutoFit/>
          </a:bodyPr>
          <a:lstStyle/>
          <a:p>
            <a:pPr algn="l"/>
            <a:r>
              <a:rPr sz="1100" b="0" i="0">
                <a:solidFill>
                  <a:srgbClr val="1A1A1A"/>
                </a:solidFill>
              </a:rPr>
              <a:t>日間為主（8–10 小時）</a:t>
            </a:r>
          </a:p>
        </p:txBody>
      </p:sp>
      <p:sp>
        <p:nvSpPr>
          <p:cNvPr id="22" name="TextBox 21"/>
          <p:cNvSpPr txBox="1"/>
          <p:nvPr/>
        </p:nvSpPr>
        <p:spPr>
          <a:xfrm>
            <a:off x="7452360" y="2735580"/>
            <a:ext cx="4023360" cy="438912"/>
          </a:xfrm>
          <a:prstGeom prst="rect">
            <a:avLst/>
          </a:prstGeom>
          <a:noFill/>
        </p:spPr>
        <p:txBody>
          <a:bodyPr wrap="square">
            <a:spAutoFit/>
          </a:bodyPr>
          <a:lstStyle/>
          <a:p>
            <a:pPr algn="l"/>
            <a:r>
              <a:rPr sz="1100" b="0" i="0">
                <a:solidFill>
                  <a:srgbClr val="1A1A1A"/>
                </a:solidFill>
              </a:rPr>
              <a:t>全天 24 小時居住使用</a:t>
            </a:r>
          </a:p>
        </p:txBody>
      </p:sp>
      <p:sp>
        <p:nvSpPr>
          <p:cNvPr id="23" name="Rectangle 22"/>
          <p:cNvSpPr/>
          <p:nvPr/>
        </p:nvSpPr>
        <p:spPr>
          <a:xfrm>
            <a:off x="914400" y="3246120"/>
            <a:ext cx="22860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46120" y="3246120"/>
            <a:ext cx="41148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06640" y="3246120"/>
            <a:ext cx="41148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3284220"/>
            <a:ext cx="2194560" cy="438912"/>
          </a:xfrm>
          <a:prstGeom prst="rect">
            <a:avLst/>
          </a:prstGeom>
          <a:noFill/>
        </p:spPr>
        <p:txBody>
          <a:bodyPr wrap="square">
            <a:spAutoFit/>
          </a:bodyPr>
          <a:lstStyle/>
          <a:p>
            <a:pPr algn="l"/>
            <a:r>
              <a:rPr sz="1100" b="1" i="0">
                <a:solidFill>
                  <a:srgbClr val="1A1A1A"/>
                </a:solidFill>
              </a:rPr>
              <a:t>節能重點</a:t>
            </a:r>
          </a:p>
        </p:txBody>
      </p:sp>
      <p:sp>
        <p:nvSpPr>
          <p:cNvPr id="27" name="TextBox 26"/>
          <p:cNvSpPr txBox="1"/>
          <p:nvPr/>
        </p:nvSpPr>
        <p:spPr>
          <a:xfrm>
            <a:off x="3291840" y="3284220"/>
            <a:ext cx="4023360" cy="438912"/>
          </a:xfrm>
          <a:prstGeom prst="rect">
            <a:avLst/>
          </a:prstGeom>
          <a:noFill/>
        </p:spPr>
        <p:txBody>
          <a:bodyPr wrap="square">
            <a:spAutoFit/>
          </a:bodyPr>
          <a:lstStyle/>
          <a:p>
            <a:pPr algn="l"/>
            <a:r>
              <a:rPr sz="1100" b="0" i="0">
                <a:solidFill>
                  <a:srgbClr val="1A1A1A"/>
                </a:solidFill>
              </a:rPr>
              <a:t>空調系統效率 COP/EER 為主</a:t>
            </a:r>
          </a:p>
        </p:txBody>
      </p:sp>
      <p:sp>
        <p:nvSpPr>
          <p:cNvPr id="28" name="TextBox 27"/>
          <p:cNvSpPr txBox="1"/>
          <p:nvPr/>
        </p:nvSpPr>
        <p:spPr>
          <a:xfrm>
            <a:off x="7452360" y="3284220"/>
            <a:ext cx="4023360" cy="438912"/>
          </a:xfrm>
          <a:prstGeom prst="rect">
            <a:avLst/>
          </a:prstGeom>
          <a:noFill/>
        </p:spPr>
        <p:txBody>
          <a:bodyPr wrap="square">
            <a:spAutoFit/>
          </a:bodyPr>
          <a:lstStyle/>
          <a:p>
            <a:pPr algn="l"/>
            <a:r>
              <a:rPr sz="1100" b="0" i="0">
                <a:solidFill>
                  <a:srgbClr val="1A1A1A"/>
                </a:solidFill>
              </a:rPr>
              <a:t>外殼隔熱設計（外牆 U 值更嚴格）</a:t>
            </a:r>
          </a:p>
        </p:txBody>
      </p:sp>
      <p:sp>
        <p:nvSpPr>
          <p:cNvPr id="29" name="Rectangle 28"/>
          <p:cNvSpPr/>
          <p:nvPr/>
        </p:nvSpPr>
        <p:spPr>
          <a:xfrm>
            <a:off x="914400" y="3794760"/>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46120" y="379476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06640" y="379476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3832860"/>
            <a:ext cx="2194560" cy="438912"/>
          </a:xfrm>
          <a:prstGeom prst="rect">
            <a:avLst/>
          </a:prstGeom>
          <a:noFill/>
        </p:spPr>
        <p:txBody>
          <a:bodyPr wrap="square">
            <a:spAutoFit/>
          </a:bodyPr>
          <a:lstStyle/>
          <a:p>
            <a:pPr algn="l"/>
            <a:r>
              <a:rPr sz="1100" b="1" i="0">
                <a:solidFill>
                  <a:srgbClr val="1A1A1A"/>
                </a:solidFill>
              </a:rPr>
              <a:t>水資源</a:t>
            </a:r>
          </a:p>
        </p:txBody>
      </p:sp>
      <p:sp>
        <p:nvSpPr>
          <p:cNvPr id="33" name="TextBox 32"/>
          <p:cNvSpPr txBox="1"/>
          <p:nvPr/>
        </p:nvSpPr>
        <p:spPr>
          <a:xfrm>
            <a:off x="3291840" y="3832860"/>
            <a:ext cx="4023360" cy="438912"/>
          </a:xfrm>
          <a:prstGeom prst="rect">
            <a:avLst/>
          </a:prstGeom>
          <a:noFill/>
        </p:spPr>
        <p:txBody>
          <a:bodyPr wrap="square">
            <a:spAutoFit/>
          </a:bodyPr>
          <a:lstStyle/>
          <a:p>
            <a:pPr algn="l"/>
            <a:r>
              <a:rPr sz="1100" b="0" i="0">
                <a:solidFill>
                  <a:srgbClr val="1A1A1A"/>
                </a:solidFill>
              </a:rPr>
              <a:t>系統性節水設備、中水回收</a:t>
            </a:r>
          </a:p>
        </p:txBody>
      </p:sp>
      <p:sp>
        <p:nvSpPr>
          <p:cNvPr id="34" name="TextBox 33"/>
          <p:cNvSpPr txBox="1"/>
          <p:nvPr/>
        </p:nvSpPr>
        <p:spPr>
          <a:xfrm>
            <a:off x="7452360" y="3832860"/>
            <a:ext cx="4023360" cy="438912"/>
          </a:xfrm>
          <a:prstGeom prst="rect">
            <a:avLst/>
          </a:prstGeom>
          <a:noFill/>
        </p:spPr>
        <p:txBody>
          <a:bodyPr wrap="square">
            <a:spAutoFit/>
          </a:bodyPr>
          <a:lstStyle/>
          <a:p>
            <a:pPr algn="l"/>
            <a:r>
              <a:rPr sz="1100" b="0" i="0">
                <a:solidFill>
                  <a:srgbClr val="1A1A1A"/>
                </a:solidFill>
              </a:rPr>
              <a:t>每戶獨立水表計量＋省水標章</a:t>
            </a:r>
          </a:p>
        </p:txBody>
      </p:sp>
      <p:sp>
        <p:nvSpPr>
          <p:cNvPr id="35" name="Rectangle 34"/>
          <p:cNvSpPr/>
          <p:nvPr/>
        </p:nvSpPr>
        <p:spPr>
          <a:xfrm>
            <a:off x="914400" y="4343400"/>
            <a:ext cx="22860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6120" y="4343400"/>
            <a:ext cx="41148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06640" y="4343400"/>
            <a:ext cx="41148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 y="4381500"/>
            <a:ext cx="2194560" cy="438912"/>
          </a:xfrm>
          <a:prstGeom prst="rect">
            <a:avLst/>
          </a:prstGeom>
          <a:noFill/>
        </p:spPr>
        <p:txBody>
          <a:bodyPr wrap="square">
            <a:spAutoFit/>
          </a:bodyPr>
          <a:lstStyle/>
          <a:p>
            <a:pPr algn="l"/>
            <a:r>
              <a:rPr sz="1100" b="1" i="0">
                <a:solidFill>
                  <a:srgbClr val="1A1A1A"/>
                </a:solidFill>
              </a:rPr>
              <a:t>室內環境</a:t>
            </a:r>
          </a:p>
        </p:txBody>
      </p:sp>
      <p:sp>
        <p:nvSpPr>
          <p:cNvPr id="39" name="TextBox 38"/>
          <p:cNvSpPr txBox="1"/>
          <p:nvPr/>
        </p:nvSpPr>
        <p:spPr>
          <a:xfrm>
            <a:off x="3291840" y="4381500"/>
            <a:ext cx="4023360" cy="438912"/>
          </a:xfrm>
          <a:prstGeom prst="rect">
            <a:avLst/>
          </a:prstGeom>
          <a:noFill/>
        </p:spPr>
        <p:txBody>
          <a:bodyPr wrap="square">
            <a:spAutoFit/>
          </a:bodyPr>
          <a:lstStyle/>
          <a:p>
            <a:pPr algn="l"/>
            <a:r>
              <a:rPr sz="1100" b="0" i="0">
                <a:solidFill>
                  <a:srgbClr val="1A1A1A"/>
                </a:solidFill>
              </a:rPr>
              <a:t>工作場域：照度、通風、音環境</a:t>
            </a:r>
          </a:p>
        </p:txBody>
      </p:sp>
      <p:sp>
        <p:nvSpPr>
          <p:cNvPr id="40" name="TextBox 39"/>
          <p:cNvSpPr txBox="1"/>
          <p:nvPr/>
        </p:nvSpPr>
        <p:spPr>
          <a:xfrm>
            <a:off x="7452360" y="4381500"/>
            <a:ext cx="4023360" cy="438912"/>
          </a:xfrm>
          <a:prstGeom prst="rect">
            <a:avLst/>
          </a:prstGeom>
          <a:noFill/>
        </p:spPr>
        <p:txBody>
          <a:bodyPr wrap="square">
            <a:spAutoFit/>
          </a:bodyPr>
          <a:lstStyle/>
          <a:p>
            <a:pPr algn="l"/>
            <a:r>
              <a:rPr sz="1100" b="0" i="0">
                <a:solidFill>
                  <a:srgbClr val="1A1A1A"/>
                </a:solidFill>
              </a:rPr>
              <a:t>居住健康：採光係數、自然通風、樓板隔音</a:t>
            </a:r>
          </a:p>
        </p:txBody>
      </p:sp>
      <p:sp>
        <p:nvSpPr>
          <p:cNvPr id="41" name="Rectangle 40"/>
          <p:cNvSpPr/>
          <p:nvPr/>
        </p:nvSpPr>
        <p:spPr>
          <a:xfrm>
            <a:off x="914400" y="4892040"/>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46120" y="489204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06640" y="489204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4930140"/>
            <a:ext cx="2194560" cy="438912"/>
          </a:xfrm>
          <a:prstGeom prst="rect">
            <a:avLst/>
          </a:prstGeom>
          <a:noFill/>
        </p:spPr>
        <p:txBody>
          <a:bodyPr wrap="square">
            <a:spAutoFit/>
          </a:bodyPr>
          <a:lstStyle/>
          <a:p>
            <a:pPr algn="l"/>
            <a:r>
              <a:rPr sz="1100" b="1" i="0">
                <a:solidFill>
                  <a:srgbClr val="1A1A1A"/>
                </a:solidFill>
              </a:rPr>
              <a:t>生態指標</a:t>
            </a:r>
          </a:p>
        </p:txBody>
      </p:sp>
      <p:sp>
        <p:nvSpPr>
          <p:cNvPr id="45" name="TextBox 44"/>
          <p:cNvSpPr txBox="1"/>
          <p:nvPr/>
        </p:nvSpPr>
        <p:spPr>
          <a:xfrm>
            <a:off x="3291840" y="4930140"/>
            <a:ext cx="4023360" cy="438912"/>
          </a:xfrm>
          <a:prstGeom prst="rect">
            <a:avLst/>
          </a:prstGeom>
          <a:noFill/>
        </p:spPr>
        <p:txBody>
          <a:bodyPr wrap="square">
            <a:spAutoFit/>
          </a:bodyPr>
          <a:lstStyle/>
          <a:p>
            <a:pPr algn="l"/>
            <a:r>
              <a:rPr sz="1100" b="0" i="0">
                <a:solidFill>
                  <a:srgbClr val="1A1A1A"/>
                </a:solidFill>
              </a:rPr>
              <a:t>基地生態與景觀綠化</a:t>
            </a:r>
          </a:p>
        </p:txBody>
      </p:sp>
      <p:sp>
        <p:nvSpPr>
          <p:cNvPr id="46" name="TextBox 45"/>
          <p:cNvSpPr txBox="1"/>
          <p:nvPr/>
        </p:nvSpPr>
        <p:spPr>
          <a:xfrm>
            <a:off x="7452360" y="4930140"/>
            <a:ext cx="4023360" cy="438912"/>
          </a:xfrm>
          <a:prstGeom prst="rect">
            <a:avLst/>
          </a:prstGeom>
          <a:noFill/>
        </p:spPr>
        <p:txBody>
          <a:bodyPr wrap="square">
            <a:spAutoFit/>
          </a:bodyPr>
          <a:lstStyle/>
          <a:p>
            <a:pPr algn="l"/>
            <a:r>
              <a:rPr sz="1100" b="0" i="0">
                <a:solidFill>
                  <a:srgbClr val="1A1A1A"/>
                </a:solidFill>
              </a:rPr>
              <a:t>社區共用庭院、頂樓綠化、生態廊道</a:t>
            </a:r>
          </a:p>
        </p:txBody>
      </p:sp>
      <p:sp>
        <p:nvSpPr>
          <p:cNvPr id="47" name="Rectangle 46"/>
          <p:cNvSpPr/>
          <p:nvPr/>
        </p:nvSpPr>
        <p:spPr>
          <a:xfrm>
            <a:off x="914400" y="5440679"/>
            <a:ext cx="22860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6120" y="5440679"/>
            <a:ext cx="41148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06640" y="5440679"/>
            <a:ext cx="41148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 y="5478779"/>
            <a:ext cx="2194560" cy="438912"/>
          </a:xfrm>
          <a:prstGeom prst="rect">
            <a:avLst/>
          </a:prstGeom>
          <a:noFill/>
        </p:spPr>
        <p:txBody>
          <a:bodyPr wrap="square">
            <a:spAutoFit/>
          </a:bodyPr>
          <a:lstStyle/>
          <a:p>
            <a:pPr algn="l"/>
            <a:r>
              <a:rPr sz="1100" b="1" i="0">
                <a:solidFill>
                  <a:srgbClr val="1A1A1A"/>
                </a:solidFill>
              </a:rPr>
              <a:t>強制對象</a:t>
            </a:r>
          </a:p>
        </p:txBody>
      </p:sp>
      <p:sp>
        <p:nvSpPr>
          <p:cNvPr id="51" name="TextBox 50"/>
          <p:cNvSpPr txBox="1"/>
          <p:nvPr/>
        </p:nvSpPr>
        <p:spPr>
          <a:xfrm>
            <a:off x="3291840" y="5478779"/>
            <a:ext cx="4023360" cy="438912"/>
          </a:xfrm>
          <a:prstGeom prst="rect">
            <a:avLst/>
          </a:prstGeom>
          <a:noFill/>
        </p:spPr>
        <p:txBody>
          <a:bodyPr wrap="square">
            <a:spAutoFit/>
          </a:bodyPr>
          <a:lstStyle/>
          <a:p>
            <a:pPr algn="l"/>
            <a:r>
              <a:rPr sz="1100" b="0" i="0">
                <a:solidFill>
                  <a:srgbClr val="1A1A1A"/>
                </a:solidFill>
              </a:rPr>
              <a:t>公有建築 ≥ 500 m²</a:t>
            </a:r>
          </a:p>
        </p:txBody>
      </p:sp>
      <p:sp>
        <p:nvSpPr>
          <p:cNvPr id="52" name="TextBox 51"/>
          <p:cNvSpPr txBox="1"/>
          <p:nvPr/>
        </p:nvSpPr>
        <p:spPr>
          <a:xfrm>
            <a:off x="7452360" y="5478779"/>
            <a:ext cx="4023360" cy="438912"/>
          </a:xfrm>
          <a:prstGeom prst="rect">
            <a:avLst/>
          </a:prstGeom>
          <a:noFill/>
        </p:spPr>
        <p:txBody>
          <a:bodyPr wrap="square">
            <a:spAutoFit/>
          </a:bodyPr>
          <a:lstStyle/>
          <a:p>
            <a:pPr algn="l"/>
            <a:r>
              <a:rPr sz="1100" b="0" i="0">
                <a:solidFill>
                  <a:srgbClr val="1A1A1A"/>
                </a:solidFill>
              </a:rPr>
              <a:t>集合住宅 ≥ 30 戶</a:t>
            </a:r>
          </a:p>
        </p:txBody>
      </p:sp>
      <p:sp>
        <p:nvSpPr>
          <p:cNvPr id="53" name="Rectangle 52"/>
          <p:cNvSpPr/>
          <p:nvPr/>
        </p:nvSpPr>
        <p:spPr>
          <a:xfrm>
            <a:off x="914400" y="5989320"/>
            <a:ext cx="2286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246120" y="598932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406640" y="598932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0120" y="6027420"/>
            <a:ext cx="2194560" cy="438912"/>
          </a:xfrm>
          <a:prstGeom prst="rect">
            <a:avLst/>
          </a:prstGeom>
          <a:noFill/>
        </p:spPr>
        <p:txBody>
          <a:bodyPr wrap="square">
            <a:spAutoFit/>
          </a:bodyPr>
          <a:lstStyle/>
          <a:p>
            <a:pPr algn="l"/>
            <a:r>
              <a:rPr sz="1100" b="1" i="0">
                <a:solidFill>
                  <a:srgbClr val="1A1A1A"/>
                </a:solidFill>
              </a:rPr>
              <a:t>評估單位</a:t>
            </a:r>
          </a:p>
        </p:txBody>
      </p:sp>
      <p:sp>
        <p:nvSpPr>
          <p:cNvPr id="57" name="TextBox 56"/>
          <p:cNvSpPr txBox="1"/>
          <p:nvPr/>
        </p:nvSpPr>
        <p:spPr>
          <a:xfrm>
            <a:off x="3291840" y="6027420"/>
            <a:ext cx="4023360" cy="438912"/>
          </a:xfrm>
          <a:prstGeom prst="rect">
            <a:avLst/>
          </a:prstGeom>
          <a:noFill/>
        </p:spPr>
        <p:txBody>
          <a:bodyPr wrap="square">
            <a:spAutoFit/>
          </a:bodyPr>
          <a:lstStyle/>
          <a:p>
            <a:pPr algn="l"/>
            <a:r>
              <a:rPr sz="1100" b="0" i="0">
                <a:solidFill>
                  <a:srgbClr val="1A1A1A"/>
                </a:solidFill>
              </a:rPr>
              <a:t>整棟建築系統</a:t>
            </a:r>
          </a:p>
        </p:txBody>
      </p:sp>
      <p:sp>
        <p:nvSpPr>
          <p:cNvPr id="58" name="TextBox 57"/>
          <p:cNvSpPr txBox="1"/>
          <p:nvPr/>
        </p:nvSpPr>
        <p:spPr>
          <a:xfrm>
            <a:off x="7452360" y="6027420"/>
            <a:ext cx="4023360" cy="438912"/>
          </a:xfrm>
          <a:prstGeom prst="rect">
            <a:avLst/>
          </a:prstGeom>
          <a:noFill/>
        </p:spPr>
        <p:txBody>
          <a:bodyPr wrap="square">
            <a:spAutoFit/>
          </a:bodyPr>
          <a:lstStyle/>
          <a:p>
            <a:pPr algn="l"/>
            <a:r>
              <a:rPr sz="1100" b="0" i="0">
                <a:solidFill>
                  <a:srgbClr val="1A1A1A"/>
                </a:solidFill>
              </a:rPr>
              <a:t>整棟 + 各居住單元細分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3657600" cy="365760"/>
          </a:xfrm>
          <a:prstGeom prst="rect">
            <a:avLst/>
          </a:prstGeom>
          <a:noFill/>
        </p:spPr>
        <p:txBody>
          <a:bodyPr wrap="square">
            <a:spAutoFit/>
          </a:bodyPr>
          <a:lstStyle/>
          <a:p>
            <a:pPr algn="l"/>
            <a:r>
              <a:rPr sz="1200" b="0" i="0">
                <a:solidFill>
                  <a:srgbClr val="064E3B"/>
                </a:solidFill>
              </a:rPr>
              <a:t>EEWH ／ 認證等級</a:t>
            </a:r>
          </a:p>
        </p:txBody>
      </p:sp>
      <p:sp>
        <p:nvSpPr>
          <p:cNvPr id="3" name="Rectangle 2"/>
          <p:cNvSpPr/>
          <p:nvPr/>
        </p:nvSpPr>
        <p:spPr>
          <a:xfrm>
            <a:off x="914400" y="850392"/>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548640"/>
          </a:xfrm>
          <a:prstGeom prst="rect">
            <a:avLst/>
          </a:prstGeom>
          <a:noFill/>
        </p:spPr>
        <p:txBody>
          <a:bodyPr wrap="square">
            <a:spAutoFit/>
          </a:bodyPr>
          <a:lstStyle/>
          <a:p>
            <a:pPr algn="l"/>
            <a:r>
              <a:rPr sz="2800" b="1" i="0">
                <a:solidFill>
                  <a:srgbClr val="1A1A1A"/>
                </a:solidFill>
              </a:rPr>
              <a:t>五個認證等級 — 基本型 × 住宅型共用</a:t>
            </a:r>
          </a:p>
        </p:txBody>
      </p:sp>
      <p:sp>
        <p:nvSpPr>
          <p:cNvPr id="5" name="Rectangle 4"/>
          <p:cNvSpPr/>
          <p:nvPr/>
        </p:nvSpPr>
        <p:spPr>
          <a:xfrm>
            <a:off x="914400" y="1691640"/>
            <a:ext cx="1965960" cy="2286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965960" cy="548640"/>
          </a:xfrm>
          <a:prstGeom prst="rect">
            <a:avLst/>
          </a:prstGeom>
          <a:noFill/>
        </p:spPr>
        <p:txBody>
          <a:bodyPr wrap="square">
            <a:spAutoFit/>
          </a:bodyPr>
          <a:lstStyle/>
          <a:p>
            <a:pPr algn="ctr"/>
            <a:r>
              <a:rPr sz="2800" b="0" i="0">
                <a:solidFill>
                  <a:srgbClr val="1A1A1A"/>
                </a:solidFill>
              </a:rPr>
              <a:t>🌿</a:t>
            </a:r>
          </a:p>
        </p:txBody>
      </p:sp>
      <p:sp>
        <p:nvSpPr>
          <p:cNvPr id="7" name="TextBox 6"/>
          <p:cNvSpPr txBox="1"/>
          <p:nvPr/>
        </p:nvSpPr>
        <p:spPr>
          <a:xfrm>
            <a:off x="914400" y="2423160"/>
            <a:ext cx="1965960" cy="365760"/>
          </a:xfrm>
          <a:prstGeom prst="rect">
            <a:avLst/>
          </a:prstGeom>
          <a:noFill/>
        </p:spPr>
        <p:txBody>
          <a:bodyPr wrap="square">
            <a:spAutoFit/>
          </a:bodyPr>
          <a:lstStyle/>
          <a:p>
            <a:pPr algn="ctr"/>
            <a:r>
              <a:rPr sz="1500" b="1" i="0">
                <a:solidFill>
                  <a:srgbClr val="6B7280"/>
                </a:solidFill>
              </a:rPr>
              <a:t>合格級</a:t>
            </a:r>
          </a:p>
        </p:txBody>
      </p:sp>
      <p:sp>
        <p:nvSpPr>
          <p:cNvPr id="8" name="TextBox 7"/>
          <p:cNvSpPr txBox="1"/>
          <p:nvPr/>
        </p:nvSpPr>
        <p:spPr>
          <a:xfrm>
            <a:off x="914400" y="2788920"/>
            <a:ext cx="1965960" cy="274320"/>
          </a:xfrm>
          <a:prstGeom prst="rect">
            <a:avLst/>
          </a:prstGeom>
          <a:noFill/>
        </p:spPr>
        <p:txBody>
          <a:bodyPr wrap="square">
            <a:spAutoFit/>
          </a:bodyPr>
          <a:lstStyle/>
          <a:p>
            <a:pPr algn="ctr"/>
            <a:r>
              <a:rPr sz="1100" b="0" i="0">
                <a:solidFill>
                  <a:srgbClr val="6B7280"/>
                </a:solidFill>
              </a:rPr>
              <a:t>Qualified</a:t>
            </a:r>
          </a:p>
        </p:txBody>
      </p:sp>
      <p:sp>
        <p:nvSpPr>
          <p:cNvPr id="9" name="TextBox 8"/>
          <p:cNvSpPr txBox="1"/>
          <p:nvPr/>
        </p:nvSpPr>
        <p:spPr>
          <a:xfrm>
            <a:off x="914400" y="3063240"/>
            <a:ext cx="1965960" cy="274320"/>
          </a:xfrm>
          <a:prstGeom prst="rect">
            <a:avLst/>
          </a:prstGeom>
          <a:noFill/>
        </p:spPr>
        <p:txBody>
          <a:bodyPr wrap="square">
            <a:spAutoFit/>
          </a:bodyPr>
          <a:lstStyle/>
          <a:p>
            <a:pPr algn="ctr"/>
            <a:r>
              <a:rPr sz="1200" b="1" i="0">
                <a:solidFill>
                  <a:srgbClr val="6B7280"/>
                </a:solidFill>
              </a:rPr>
              <a:t>基礎門檻</a:t>
            </a:r>
          </a:p>
        </p:txBody>
      </p:sp>
      <p:sp>
        <p:nvSpPr>
          <p:cNvPr id="10" name="Rectangle 9"/>
          <p:cNvSpPr/>
          <p:nvPr/>
        </p:nvSpPr>
        <p:spPr>
          <a:xfrm>
            <a:off x="3063240" y="1691640"/>
            <a:ext cx="1965960" cy="2286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1783080"/>
            <a:ext cx="1965960" cy="548640"/>
          </a:xfrm>
          <a:prstGeom prst="rect">
            <a:avLst/>
          </a:prstGeom>
          <a:noFill/>
        </p:spPr>
        <p:txBody>
          <a:bodyPr wrap="square">
            <a:spAutoFit/>
          </a:bodyPr>
          <a:lstStyle/>
          <a:p>
            <a:pPr algn="ctr"/>
            <a:r>
              <a:rPr sz="2800" b="0" i="0">
                <a:solidFill>
                  <a:srgbClr val="1A1A1A"/>
                </a:solidFill>
              </a:rPr>
              <a:t>🥉</a:t>
            </a:r>
          </a:p>
        </p:txBody>
      </p:sp>
      <p:sp>
        <p:nvSpPr>
          <p:cNvPr id="12" name="TextBox 11"/>
          <p:cNvSpPr txBox="1"/>
          <p:nvPr/>
        </p:nvSpPr>
        <p:spPr>
          <a:xfrm>
            <a:off x="3063240" y="2423160"/>
            <a:ext cx="1965960" cy="365760"/>
          </a:xfrm>
          <a:prstGeom prst="rect">
            <a:avLst/>
          </a:prstGeom>
          <a:noFill/>
        </p:spPr>
        <p:txBody>
          <a:bodyPr wrap="square">
            <a:spAutoFit/>
          </a:bodyPr>
          <a:lstStyle/>
          <a:p>
            <a:pPr algn="ctr"/>
            <a:r>
              <a:rPr sz="1500" b="1" i="0">
                <a:solidFill>
                  <a:srgbClr val="92400E"/>
                </a:solidFill>
              </a:rPr>
              <a:t>銅　級</a:t>
            </a:r>
          </a:p>
        </p:txBody>
      </p:sp>
      <p:sp>
        <p:nvSpPr>
          <p:cNvPr id="13" name="TextBox 12"/>
          <p:cNvSpPr txBox="1"/>
          <p:nvPr/>
        </p:nvSpPr>
        <p:spPr>
          <a:xfrm>
            <a:off x="3063240" y="2788920"/>
            <a:ext cx="1965960" cy="274320"/>
          </a:xfrm>
          <a:prstGeom prst="rect">
            <a:avLst/>
          </a:prstGeom>
          <a:noFill/>
        </p:spPr>
        <p:txBody>
          <a:bodyPr wrap="square">
            <a:spAutoFit/>
          </a:bodyPr>
          <a:lstStyle/>
          <a:p>
            <a:pPr algn="ctr"/>
            <a:r>
              <a:rPr sz="1100" b="0" i="0">
                <a:solidFill>
                  <a:srgbClr val="6B7280"/>
                </a:solidFill>
              </a:rPr>
              <a:t>Bronze</a:t>
            </a:r>
          </a:p>
        </p:txBody>
      </p:sp>
      <p:sp>
        <p:nvSpPr>
          <p:cNvPr id="14" name="TextBox 13"/>
          <p:cNvSpPr txBox="1"/>
          <p:nvPr/>
        </p:nvSpPr>
        <p:spPr>
          <a:xfrm>
            <a:off x="3063240" y="3063240"/>
            <a:ext cx="1965960" cy="274320"/>
          </a:xfrm>
          <a:prstGeom prst="rect">
            <a:avLst/>
          </a:prstGeom>
          <a:noFill/>
        </p:spPr>
        <p:txBody>
          <a:bodyPr wrap="square">
            <a:spAutoFit/>
          </a:bodyPr>
          <a:lstStyle/>
          <a:p>
            <a:pPr algn="ctr"/>
            <a:r>
              <a:rPr sz="1200" b="1" i="0">
                <a:solidFill>
                  <a:srgbClr val="92400E"/>
                </a:solidFill>
              </a:rPr>
              <a:t>良好表現</a:t>
            </a:r>
          </a:p>
        </p:txBody>
      </p:sp>
      <p:sp>
        <p:nvSpPr>
          <p:cNvPr id="15" name="Rectangle 14"/>
          <p:cNvSpPr/>
          <p:nvPr/>
        </p:nvSpPr>
        <p:spPr>
          <a:xfrm>
            <a:off x="5212080" y="1691640"/>
            <a:ext cx="1965960" cy="2286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1783080"/>
            <a:ext cx="1965960" cy="548640"/>
          </a:xfrm>
          <a:prstGeom prst="rect">
            <a:avLst/>
          </a:prstGeom>
          <a:noFill/>
        </p:spPr>
        <p:txBody>
          <a:bodyPr wrap="square">
            <a:spAutoFit/>
          </a:bodyPr>
          <a:lstStyle/>
          <a:p>
            <a:pPr algn="ctr"/>
            <a:r>
              <a:rPr sz="2800" b="0" i="0">
                <a:solidFill>
                  <a:srgbClr val="1A1A1A"/>
                </a:solidFill>
              </a:rPr>
              <a:t>🥈</a:t>
            </a:r>
          </a:p>
        </p:txBody>
      </p:sp>
      <p:sp>
        <p:nvSpPr>
          <p:cNvPr id="17" name="TextBox 16"/>
          <p:cNvSpPr txBox="1"/>
          <p:nvPr/>
        </p:nvSpPr>
        <p:spPr>
          <a:xfrm>
            <a:off x="5212080" y="2423160"/>
            <a:ext cx="1965960" cy="365760"/>
          </a:xfrm>
          <a:prstGeom prst="rect">
            <a:avLst/>
          </a:prstGeom>
          <a:noFill/>
        </p:spPr>
        <p:txBody>
          <a:bodyPr wrap="square">
            <a:spAutoFit/>
          </a:bodyPr>
          <a:lstStyle/>
          <a:p>
            <a:pPr algn="ctr"/>
            <a:r>
              <a:rPr sz="1500" b="1" i="0">
                <a:solidFill>
                  <a:srgbClr val="64748B"/>
                </a:solidFill>
              </a:rPr>
              <a:t>銀　級</a:t>
            </a:r>
          </a:p>
        </p:txBody>
      </p:sp>
      <p:sp>
        <p:nvSpPr>
          <p:cNvPr id="18" name="TextBox 17"/>
          <p:cNvSpPr txBox="1"/>
          <p:nvPr/>
        </p:nvSpPr>
        <p:spPr>
          <a:xfrm>
            <a:off x="5212080" y="2788920"/>
            <a:ext cx="1965960" cy="274320"/>
          </a:xfrm>
          <a:prstGeom prst="rect">
            <a:avLst/>
          </a:prstGeom>
          <a:noFill/>
        </p:spPr>
        <p:txBody>
          <a:bodyPr wrap="square">
            <a:spAutoFit/>
          </a:bodyPr>
          <a:lstStyle/>
          <a:p>
            <a:pPr algn="ctr"/>
            <a:r>
              <a:rPr sz="1100" b="0" i="0">
                <a:solidFill>
                  <a:srgbClr val="6B7280"/>
                </a:solidFill>
              </a:rPr>
              <a:t>Silver</a:t>
            </a:r>
          </a:p>
        </p:txBody>
      </p:sp>
      <p:sp>
        <p:nvSpPr>
          <p:cNvPr id="19" name="TextBox 18"/>
          <p:cNvSpPr txBox="1"/>
          <p:nvPr/>
        </p:nvSpPr>
        <p:spPr>
          <a:xfrm>
            <a:off x="5212080" y="3063240"/>
            <a:ext cx="1965960" cy="274320"/>
          </a:xfrm>
          <a:prstGeom prst="rect">
            <a:avLst/>
          </a:prstGeom>
          <a:noFill/>
        </p:spPr>
        <p:txBody>
          <a:bodyPr wrap="square">
            <a:spAutoFit/>
          </a:bodyPr>
          <a:lstStyle/>
          <a:p>
            <a:pPr algn="ctr"/>
            <a:r>
              <a:rPr sz="1200" b="1" i="0">
                <a:solidFill>
                  <a:srgbClr val="64748B"/>
                </a:solidFill>
              </a:rPr>
              <a:t>優良表現</a:t>
            </a:r>
          </a:p>
        </p:txBody>
      </p:sp>
      <p:sp>
        <p:nvSpPr>
          <p:cNvPr id="20" name="Rectangle 19"/>
          <p:cNvSpPr/>
          <p:nvPr/>
        </p:nvSpPr>
        <p:spPr>
          <a:xfrm>
            <a:off x="7360920" y="1691640"/>
            <a:ext cx="1965960" cy="2286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0920" y="1783080"/>
            <a:ext cx="1965960" cy="548640"/>
          </a:xfrm>
          <a:prstGeom prst="rect">
            <a:avLst/>
          </a:prstGeom>
          <a:noFill/>
        </p:spPr>
        <p:txBody>
          <a:bodyPr wrap="square">
            <a:spAutoFit/>
          </a:bodyPr>
          <a:lstStyle/>
          <a:p>
            <a:pPr algn="ctr"/>
            <a:r>
              <a:rPr sz="2800" b="0" i="0">
                <a:solidFill>
                  <a:srgbClr val="1A1A1A"/>
                </a:solidFill>
              </a:rPr>
              <a:t>🥇</a:t>
            </a:r>
          </a:p>
        </p:txBody>
      </p:sp>
      <p:sp>
        <p:nvSpPr>
          <p:cNvPr id="22" name="TextBox 21"/>
          <p:cNvSpPr txBox="1"/>
          <p:nvPr/>
        </p:nvSpPr>
        <p:spPr>
          <a:xfrm>
            <a:off x="7360920" y="2423160"/>
            <a:ext cx="1965960" cy="365760"/>
          </a:xfrm>
          <a:prstGeom prst="rect">
            <a:avLst/>
          </a:prstGeom>
          <a:noFill/>
        </p:spPr>
        <p:txBody>
          <a:bodyPr wrap="square">
            <a:spAutoFit/>
          </a:bodyPr>
          <a:lstStyle/>
          <a:p>
            <a:pPr algn="ctr"/>
            <a:r>
              <a:rPr sz="1500" b="1" i="0">
                <a:solidFill>
                  <a:srgbClr val="B45309"/>
                </a:solidFill>
              </a:rPr>
              <a:t>黃金級</a:t>
            </a:r>
          </a:p>
        </p:txBody>
      </p:sp>
      <p:sp>
        <p:nvSpPr>
          <p:cNvPr id="23" name="TextBox 22"/>
          <p:cNvSpPr txBox="1"/>
          <p:nvPr/>
        </p:nvSpPr>
        <p:spPr>
          <a:xfrm>
            <a:off x="7360920" y="2788920"/>
            <a:ext cx="1965960" cy="274320"/>
          </a:xfrm>
          <a:prstGeom prst="rect">
            <a:avLst/>
          </a:prstGeom>
          <a:noFill/>
        </p:spPr>
        <p:txBody>
          <a:bodyPr wrap="square">
            <a:spAutoFit/>
          </a:bodyPr>
          <a:lstStyle/>
          <a:p>
            <a:pPr algn="ctr"/>
            <a:r>
              <a:rPr sz="1100" b="0" i="0">
                <a:solidFill>
                  <a:srgbClr val="6B7280"/>
                </a:solidFill>
              </a:rPr>
              <a:t>Gold</a:t>
            </a:r>
          </a:p>
        </p:txBody>
      </p:sp>
      <p:sp>
        <p:nvSpPr>
          <p:cNvPr id="24" name="TextBox 23"/>
          <p:cNvSpPr txBox="1"/>
          <p:nvPr/>
        </p:nvSpPr>
        <p:spPr>
          <a:xfrm>
            <a:off x="7360920" y="3063240"/>
            <a:ext cx="1965960" cy="274320"/>
          </a:xfrm>
          <a:prstGeom prst="rect">
            <a:avLst/>
          </a:prstGeom>
          <a:noFill/>
        </p:spPr>
        <p:txBody>
          <a:bodyPr wrap="square">
            <a:spAutoFit/>
          </a:bodyPr>
          <a:lstStyle/>
          <a:p>
            <a:pPr algn="ctr"/>
            <a:r>
              <a:rPr sz="1200" b="1" i="0">
                <a:solidFill>
                  <a:srgbClr val="B45309"/>
                </a:solidFill>
              </a:rPr>
              <a:t>卓越表現</a:t>
            </a:r>
          </a:p>
        </p:txBody>
      </p:sp>
      <p:sp>
        <p:nvSpPr>
          <p:cNvPr id="25" name="Rectangle 24"/>
          <p:cNvSpPr/>
          <p:nvPr/>
        </p:nvSpPr>
        <p:spPr>
          <a:xfrm>
            <a:off x="9509760" y="1691640"/>
            <a:ext cx="1965960" cy="2286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0" y="1783080"/>
            <a:ext cx="1965960" cy="548640"/>
          </a:xfrm>
          <a:prstGeom prst="rect">
            <a:avLst/>
          </a:prstGeom>
          <a:noFill/>
        </p:spPr>
        <p:txBody>
          <a:bodyPr wrap="square">
            <a:spAutoFit/>
          </a:bodyPr>
          <a:lstStyle/>
          <a:p>
            <a:pPr algn="ctr"/>
            <a:r>
              <a:rPr sz="2800" b="0" i="0">
                <a:solidFill>
                  <a:srgbClr val="1A1A1A"/>
                </a:solidFill>
              </a:rPr>
              <a:t>💎</a:t>
            </a:r>
          </a:p>
        </p:txBody>
      </p:sp>
      <p:sp>
        <p:nvSpPr>
          <p:cNvPr id="27" name="TextBox 26"/>
          <p:cNvSpPr txBox="1"/>
          <p:nvPr/>
        </p:nvSpPr>
        <p:spPr>
          <a:xfrm>
            <a:off x="9509760" y="2423160"/>
            <a:ext cx="1965960" cy="365760"/>
          </a:xfrm>
          <a:prstGeom prst="rect">
            <a:avLst/>
          </a:prstGeom>
          <a:noFill/>
        </p:spPr>
        <p:txBody>
          <a:bodyPr wrap="square">
            <a:spAutoFit/>
          </a:bodyPr>
          <a:lstStyle/>
          <a:p>
            <a:pPr algn="ctr"/>
            <a:r>
              <a:rPr sz="1500" b="1" i="0">
                <a:solidFill>
                  <a:srgbClr val="1E40AF"/>
                </a:solidFill>
              </a:rPr>
              <a:t>鑽石級</a:t>
            </a:r>
          </a:p>
        </p:txBody>
      </p:sp>
      <p:sp>
        <p:nvSpPr>
          <p:cNvPr id="28" name="TextBox 27"/>
          <p:cNvSpPr txBox="1"/>
          <p:nvPr/>
        </p:nvSpPr>
        <p:spPr>
          <a:xfrm>
            <a:off x="9509760" y="2788920"/>
            <a:ext cx="1965960" cy="274320"/>
          </a:xfrm>
          <a:prstGeom prst="rect">
            <a:avLst/>
          </a:prstGeom>
          <a:noFill/>
        </p:spPr>
        <p:txBody>
          <a:bodyPr wrap="square">
            <a:spAutoFit/>
          </a:bodyPr>
          <a:lstStyle/>
          <a:p>
            <a:pPr algn="ctr"/>
            <a:r>
              <a:rPr sz="1100" b="0" i="0">
                <a:solidFill>
                  <a:srgbClr val="6B7280"/>
                </a:solidFill>
              </a:rPr>
              <a:t>Diamond</a:t>
            </a:r>
          </a:p>
        </p:txBody>
      </p:sp>
      <p:sp>
        <p:nvSpPr>
          <p:cNvPr id="29" name="TextBox 28"/>
          <p:cNvSpPr txBox="1"/>
          <p:nvPr/>
        </p:nvSpPr>
        <p:spPr>
          <a:xfrm>
            <a:off x="9509760" y="3063240"/>
            <a:ext cx="1965960" cy="274320"/>
          </a:xfrm>
          <a:prstGeom prst="rect">
            <a:avLst/>
          </a:prstGeom>
          <a:noFill/>
        </p:spPr>
        <p:txBody>
          <a:bodyPr wrap="square">
            <a:spAutoFit/>
          </a:bodyPr>
          <a:lstStyle/>
          <a:p>
            <a:pPr algn="ctr"/>
            <a:r>
              <a:rPr sz="1200" b="1" i="0">
                <a:solidFill>
                  <a:srgbClr val="1E40AF"/>
                </a:solidFill>
              </a:rPr>
              <a:t>頂尖典範</a:t>
            </a:r>
          </a:p>
        </p:txBody>
      </p:sp>
      <p:sp>
        <p:nvSpPr>
          <p:cNvPr id="30" name="TextBox 29"/>
          <p:cNvSpPr txBox="1"/>
          <p:nvPr/>
        </p:nvSpPr>
        <p:spPr>
          <a:xfrm>
            <a:off x="914400" y="4206240"/>
            <a:ext cx="10058400" cy="365760"/>
          </a:xfrm>
          <a:prstGeom prst="rect">
            <a:avLst/>
          </a:prstGeom>
          <a:noFill/>
        </p:spPr>
        <p:txBody>
          <a:bodyPr wrap="square">
            <a:spAutoFit/>
          </a:bodyPr>
          <a:lstStyle/>
          <a:p>
            <a:pPr algn="l"/>
            <a:r>
              <a:rPr sz="1600" b="1" i="0">
                <a:solidFill>
                  <a:srgbClr val="1A1A1A"/>
                </a:solidFill>
              </a:rPr>
              <a:t>評分邏輯</a:t>
            </a:r>
          </a:p>
        </p:txBody>
      </p:sp>
      <p:sp>
        <p:nvSpPr>
          <p:cNvPr id="31" name="Rectangle 30"/>
          <p:cNvSpPr/>
          <p:nvPr/>
        </p:nvSpPr>
        <p:spPr>
          <a:xfrm>
            <a:off x="914400" y="4617720"/>
            <a:ext cx="5303520" cy="155448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709160"/>
            <a:ext cx="5029200" cy="320040"/>
          </a:xfrm>
          <a:prstGeom prst="rect">
            <a:avLst/>
          </a:prstGeom>
          <a:noFill/>
        </p:spPr>
        <p:txBody>
          <a:bodyPr wrap="square">
            <a:spAutoFit/>
          </a:bodyPr>
          <a:lstStyle/>
          <a:p>
            <a:pPr algn="l"/>
            <a:r>
              <a:rPr sz="1300" b="1" i="0">
                <a:solidFill>
                  <a:srgbClr val="1A1A1A"/>
                </a:solidFill>
              </a:rPr>
              <a:t>通過條件</a:t>
            </a:r>
          </a:p>
        </p:txBody>
      </p:sp>
      <p:sp>
        <p:nvSpPr>
          <p:cNvPr id="33" name="TextBox 32"/>
          <p:cNvSpPr txBox="1"/>
          <p:nvPr/>
        </p:nvSpPr>
        <p:spPr>
          <a:xfrm>
            <a:off x="1051560" y="5074920"/>
            <a:ext cx="5029200" cy="914400"/>
          </a:xfrm>
          <a:prstGeom prst="rect">
            <a:avLst/>
          </a:prstGeom>
          <a:noFill/>
        </p:spPr>
        <p:txBody>
          <a:bodyPr wrap="square">
            <a:spAutoFit/>
          </a:bodyPr>
          <a:lstStyle/>
          <a:p>
            <a:r>
              <a:rPr sz="1200" b="0">
                <a:solidFill>
                  <a:srgbClr val="1A1A1A"/>
                </a:solidFill>
              </a:rPr>
              <a:t>• 4 項必要指標全數通過</a:t>
            </a:r>
          </a:p>
          <a:p>
            <a:r>
              <a:rPr sz="1200" b="0">
                <a:solidFill>
                  <a:srgbClr val="1A1A1A"/>
                </a:solidFill>
              </a:rPr>
              <a:t>• 選擇指標累計得分達等級門檻</a:t>
            </a:r>
          </a:p>
          <a:p>
            <a:r>
              <a:rPr sz="1200" b="0">
                <a:solidFill>
                  <a:srgbClr val="1A1A1A"/>
                </a:solidFill>
              </a:rPr>
              <a:t>• 基本型與住宅型分開計算基準值</a:t>
            </a:r>
          </a:p>
        </p:txBody>
      </p:sp>
      <p:sp>
        <p:nvSpPr>
          <p:cNvPr id="34" name="Rectangle 33"/>
          <p:cNvSpPr/>
          <p:nvPr/>
        </p:nvSpPr>
        <p:spPr>
          <a:xfrm>
            <a:off x="6492240" y="4617720"/>
            <a:ext cx="5029200" cy="155448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4709160"/>
            <a:ext cx="4754880" cy="320040"/>
          </a:xfrm>
          <a:prstGeom prst="rect">
            <a:avLst/>
          </a:prstGeom>
          <a:noFill/>
        </p:spPr>
        <p:txBody>
          <a:bodyPr wrap="square">
            <a:spAutoFit/>
          </a:bodyPr>
          <a:lstStyle/>
          <a:p>
            <a:pPr algn="l"/>
            <a:r>
              <a:rPr sz="1300" b="1" i="0">
                <a:solidFill>
                  <a:srgbClr val="1A1A1A"/>
                </a:solidFill>
              </a:rPr>
              <a:t>有效期限</a:t>
            </a:r>
          </a:p>
        </p:txBody>
      </p:sp>
      <p:sp>
        <p:nvSpPr>
          <p:cNvPr id="36" name="TextBox 35"/>
          <p:cNvSpPr txBox="1"/>
          <p:nvPr/>
        </p:nvSpPr>
        <p:spPr>
          <a:xfrm>
            <a:off x="6629400" y="5074920"/>
            <a:ext cx="4754880" cy="914400"/>
          </a:xfrm>
          <a:prstGeom prst="rect">
            <a:avLst/>
          </a:prstGeom>
          <a:noFill/>
        </p:spPr>
        <p:txBody>
          <a:bodyPr wrap="square">
            <a:spAutoFit/>
          </a:bodyPr>
          <a:lstStyle/>
          <a:p>
            <a:r>
              <a:rPr sz="1200" b="0">
                <a:solidFill>
                  <a:srgbClr val="1A1A1A"/>
                </a:solidFill>
              </a:rPr>
              <a:t>• 標章有效期 5 年</a:t>
            </a:r>
          </a:p>
          <a:p>
            <a:r>
              <a:rPr sz="1200" b="0">
                <a:solidFill>
                  <a:srgbClr val="1A1A1A"/>
                </a:solidFill>
              </a:rPr>
              <a:t>• 到期前需重新評定或展延</a:t>
            </a:r>
          </a:p>
          <a:p>
            <a:r>
              <a:rPr sz="1200" b="0">
                <a:solidFill>
                  <a:srgbClr val="1A1A1A"/>
                </a:solidFill>
              </a:rPr>
              <a:t>• 建築改善後可申請升級評定</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3657600" cy="365760"/>
          </a:xfrm>
          <a:prstGeom prst="rect">
            <a:avLst/>
          </a:prstGeom>
          <a:noFill/>
        </p:spPr>
        <p:txBody>
          <a:bodyPr wrap="square">
            <a:spAutoFit/>
          </a:bodyPr>
          <a:lstStyle/>
          <a:p>
            <a:pPr algn="l"/>
            <a:r>
              <a:rPr sz="1200" b="0" i="0">
                <a:solidFill>
                  <a:srgbClr val="064E3B"/>
                </a:solidFill>
              </a:rPr>
              <a:t>EEWH ／ 申請程序</a:t>
            </a:r>
          </a:p>
        </p:txBody>
      </p:sp>
      <p:sp>
        <p:nvSpPr>
          <p:cNvPr id="3" name="Rectangle 2"/>
          <p:cNvSpPr/>
          <p:nvPr/>
        </p:nvSpPr>
        <p:spPr>
          <a:xfrm>
            <a:off x="914400" y="850392"/>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548640"/>
          </a:xfrm>
          <a:prstGeom prst="rect">
            <a:avLst/>
          </a:prstGeom>
          <a:noFill/>
        </p:spPr>
        <p:txBody>
          <a:bodyPr wrap="square">
            <a:spAutoFit/>
          </a:bodyPr>
          <a:lstStyle/>
          <a:p>
            <a:pPr algn="l"/>
            <a:r>
              <a:rPr sz="2800" b="1" i="0">
                <a:solidFill>
                  <a:srgbClr val="1A1A1A"/>
                </a:solidFill>
              </a:rPr>
              <a:t>申請流程（基本型 × 住宅型相同）</a:t>
            </a:r>
          </a:p>
        </p:txBody>
      </p:sp>
      <p:sp>
        <p:nvSpPr>
          <p:cNvPr id="5" name="Rectangle 4"/>
          <p:cNvSpPr/>
          <p:nvPr/>
        </p:nvSpPr>
        <p:spPr>
          <a:xfrm>
            <a:off x="914400" y="1828800"/>
            <a:ext cx="3474720" cy="22860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20240"/>
            <a:ext cx="3200400" cy="274320"/>
          </a:xfrm>
          <a:prstGeom prst="rect">
            <a:avLst/>
          </a:prstGeom>
          <a:noFill/>
        </p:spPr>
        <p:txBody>
          <a:bodyPr wrap="square">
            <a:spAutoFit/>
          </a:bodyPr>
          <a:lstStyle/>
          <a:p>
            <a:pPr algn="l"/>
            <a:r>
              <a:rPr sz="1100" b="0" i="0">
                <a:solidFill>
                  <a:srgbClr val="064E3B"/>
                </a:solidFill>
              </a:rPr>
              <a:t>STEP 01</a:t>
            </a:r>
          </a:p>
        </p:txBody>
      </p:sp>
      <p:sp>
        <p:nvSpPr>
          <p:cNvPr id="7" name="TextBox 6"/>
          <p:cNvSpPr txBox="1"/>
          <p:nvPr/>
        </p:nvSpPr>
        <p:spPr>
          <a:xfrm>
            <a:off x="1051560" y="2212848"/>
            <a:ext cx="3200400" cy="411480"/>
          </a:xfrm>
          <a:prstGeom prst="rect">
            <a:avLst/>
          </a:prstGeom>
          <a:noFill/>
        </p:spPr>
        <p:txBody>
          <a:bodyPr wrap="square">
            <a:spAutoFit/>
          </a:bodyPr>
          <a:lstStyle/>
          <a:p>
            <a:pPr algn="l"/>
            <a:r>
              <a:rPr sz="2200" b="0" i="0">
                <a:solidFill>
                  <a:srgbClr val="1A1A1A"/>
                </a:solidFill>
              </a:rPr>
              <a:t>📋</a:t>
            </a:r>
          </a:p>
        </p:txBody>
      </p:sp>
      <p:sp>
        <p:nvSpPr>
          <p:cNvPr id="8" name="TextBox 7"/>
          <p:cNvSpPr txBox="1"/>
          <p:nvPr/>
        </p:nvSpPr>
        <p:spPr>
          <a:xfrm>
            <a:off x="1051560" y="2697480"/>
            <a:ext cx="3200400" cy="502920"/>
          </a:xfrm>
          <a:prstGeom prst="rect">
            <a:avLst/>
          </a:prstGeom>
          <a:noFill/>
        </p:spPr>
        <p:txBody>
          <a:bodyPr wrap="square">
            <a:spAutoFit/>
          </a:bodyPr>
          <a:lstStyle/>
          <a:p>
            <a:pPr algn="l"/>
            <a:r>
              <a:rPr sz="1400" b="1" i="0">
                <a:solidFill>
                  <a:srgbClr val="1A1A1A"/>
                </a:solidFill>
              </a:rPr>
              <a:t>設計階段
申請候選</a:t>
            </a:r>
          </a:p>
        </p:txBody>
      </p:sp>
      <p:sp>
        <p:nvSpPr>
          <p:cNvPr id="9" name="TextBox 8"/>
          <p:cNvSpPr txBox="1"/>
          <p:nvPr/>
        </p:nvSpPr>
        <p:spPr>
          <a:xfrm>
            <a:off x="1051560" y="3246120"/>
            <a:ext cx="3200400" cy="731520"/>
          </a:xfrm>
          <a:prstGeom prst="rect">
            <a:avLst/>
          </a:prstGeom>
          <a:noFill/>
        </p:spPr>
        <p:txBody>
          <a:bodyPr wrap="square">
            <a:spAutoFit/>
          </a:bodyPr>
          <a:lstStyle/>
          <a:p>
            <a:pPr algn="l"/>
            <a:r>
              <a:rPr sz="1100" b="0" i="0">
                <a:solidFill>
                  <a:srgbClr val="6B7280"/>
                </a:solidFill>
              </a:rPr>
              <a:t>取得「候選綠建築證書」，確認設計方向符合評估需求</a:t>
            </a:r>
          </a:p>
        </p:txBody>
      </p:sp>
      <p:sp>
        <p:nvSpPr>
          <p:cNvPr id="10" name="TextBox 9"/>
          <p:cNvSpPr txBox="1"/>
          <p:nvPr/>
        </p:nvSpPr>
        <p:spPr>
          <a:xfrm>
            <a:off x="4434840" y="2743200"/>
            <a:ext cx="365760" cy="365760"/>
          </a:xfrm>
          <a:prstGeom prst="rect">
            <a:avLst/>
          </a:prstGeom>
          <a:noFill/>
        </p:spPr>
        <p:txBody>
          <a:bodyPr wrap="square">
            <a:spAutoFit/>
          </a:bodyPr>
          <a:lstStyle/>
          <a:p>
            <a:pPr algn="l"/>
            <a:r>
              <a:rPr sz="1800" b="0" i="0">
                <a:solidFill>
                  <a:srgbClr val="6B7280"/>
                </a:solidFill>
              </a:rPr>
              <a:t>→</a:t>
            </a:r>
          </a:p>
        </p:txBody>
      </p:sp>
      <p:sp>
        <p:nvSpPr>
          <p:cNvPr id="11" name="Rectangle 10"/>
          <p:cNvSpPr/>
          <p:nvPr/>
        </p:nvSpPr>
        <p:spPr>
          <a:xfrm>
            <a:off x="4663440" y="1828800"/>
            <a:ext cx="3474720" cy="22860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920240"/>
            <a:ext cx="3200400" cy="274320"/>
          </a:xfrm>
          <a:prstGeom prst="rect">
            <a:avLst/>
          </a:prstGeom>
          <a:noFill/>
        </p:spPr>
        <p:txBody>
          <a:bodyPr wrap="square">
            <a:spAutoFit/>
          </a:bodyPr>
          <a:lstStyle/>
          <a:p>
            <a:pPr algn="l"/>
            <a:r>
              <a:rPr sz="1100" b="0" i="0">
                <a:solidFill>
                  <a:srgbClr val="064E3B"/>
                </a:solidFill>
              </a:rPr>
              <a:t>STEP 02</a:t>
            </a:r>
          </a:p>
        </p:txBody>
      </p:sp>
      <p:sp>
        <p:nvSpPr>
          <p:cNvPr id="13" name="TextBox 12"/>
          <p:cNvSpPr txBox="1"/>
          <p:nvPr/>
        </p:nvSpPr>
        <p:spPr>
          <a:xfrm>
            <a:off x="4800600" y="2212848"/>
            <a:ext cx="3200400" cy="411480"/>
          </a:xfrm>
          <a:prstGeom prst="rect">
            <a:avLst/>
          </a:prstGeom>
          <a:noFill/>
        </p:spPr>
        <p:txBody>
          <a:bodyPr wrap="square">
            <a:spAutoFit/>
          </a:bodyPr>
          <a:lstStyle/>
          <a:p>
            <a:pPr algn="l"/>
            <a:r>
              <a:rPr sz="2200" b="0" i="0">
                <a:solidFill>
                  <a:srgbClr val="1A1A1A"/>
                </a:solidFill>
              </a:rPr>
              <a:t>🏗️</a:t>
            </a:r>
          </a:p>
        </p:txBody>
      </p:sp>
      <p:sp>
        <p:nvSpPr>
          <p:cNvPr id="14" name="TextBox 13"/>
          <p:cNvSpPr txBox="1"/>
          <p:nvPr/>
        </p:nvSpPr>
        <p:spPr>
          <a:xfrm>
            <a:off x="4800600" y="2697480"/>
            <a:ext cx="3200400" cy="502920"/>
          </a:xfrm>
          <a:prstGeom prst="rect">
            <a:avLst/>
          </a:prstGeom>
          <a:noFill/>
        </p:spPr>
        <p:txBody>
          <a:bodyPr wrap="square">
            <a:spAutoFit/>
          </a:bodyPr>
          <a:lstStyle/>
          <a:p>
            <a:pPr algn="l"/>
            <a:r>
              <a:rPr sz="1400" b="1" i="0">
                <a:solidFill>
                  <a:srgbClr val="1A1A1A"/>
                </a:solidFill>
              </a:rPr>
              <a:t>施工期間
文件蒐集</a:t>
            </a:r>
          </a:p>
        </p:txBody>
      </p:sp>
      <p:sp>
        <p:nvSpPr>
          <p:cNvPr id="15" name="TextBox 14"/>
          <p:cNvSpPr txBox="1"/>
          <p:nvPr/>
        </p:nvSpPr>
        <p:spPr>
          <a:xfrm>
            <a:off x="4800600" y="3246120"/>
            <a:ext cx="3200400" cy="731520"/>
          </a:xfrm>
          <a:prstGeom prst="rect">
            <a:avLst/>
          </a:prstGeom>
          <a:noFill/>
        </p:spPr>
        <p:txBody>
          <a:bodyPr wrap="square">
            <a:spAutoFit/>
          </a:bodyPr>
          <a:lstStyle/>
          <a:p>
            <a:pPr algn="l"/>
            <a:r>
              <a:rPr sz="1100" b="0" i="0">
                <a:solidFill>
                  <a:srgbClr val="6B7280"/>
                </a:solidFill>
              </a:rPr>
              <a:t>建材採購單、施工照片、節水設備規格書等文件備齊</a:t>
            </a:r>
          </a:p>
        </p:txBody>
      </p:sp>
      <p:sp>
        <p:nvSpPr>
          <p:cNvPr id="16" name="TextBox 15"/>
          <p:cNvSpPr txBox="1"/>
          <p:nvPr/>
        </p:nvSpPr>
        <p:spPr>
          <a:xfrm>
            <a:off x="8183879" y="2743200"/>
            <a:ext cx="365760" cy="365760"/>
          </a:xfrm>
          <a:prstGeom prst="rect">
            <a:avLst/>
          </a:prstGeom>
          <a:noFill/>
        </p:spPr>
        <p:txBody>
          <a:bodyPr wrap="square">
            <a:spAutoFit/>
          </a:bodyPr>
          <a:lstStyle/>
          <a:p>
            <a:pPr algn="l"/>
            <a:r>
              <a:rPr sz="1800" b="0" i="0">
                <a:solidFill>
                  <a:srgbClr val="6B7280"/>
                </a:solidFill>
              </a:rPr>
              <a:t>→</a:t>
            </a:r>
          </a:p>
        </p:txBody>
      </p:sp>
      <p:sp>
        <p:nvSpPr>
          <p:cNvPr id="17" name="Rectangle 16"/>
          <p:cNvSpPr/>
          <p:nvPr/>
        </p:nvSpPr>
        <p:spPr>
          <a:xfrm>
            <a:off x="8412480" y="1828800"/>
            <a:ext cx="3474720" cy="22860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1920240"/>
            <a:ext cx="3200400" cy="274320"/>
          </a:xfrm>
          <a:prstGeom prst="rect">
            <a:avLst/>
          </a:prstGeom>
          <a:noFill/>
        </p:spPr>
        <p:txBody>
          <a:bodyPr wrap="square">
            <a:spAutoFit/>
          </a:bodyPr>
          <a:lstStyle/>
          <a:p>
            <a:pPr algn="l"/>
            <a:r>
              <a:rPr sz="1100" b="0" i="0">
                <a:solidFill>
                  <a:srgbClr val="064E3B"/>
                </a:solidFill>
              </a:rPr>
              <a:t>STEP 03</a:t>
            </a:r>
          </a:p>
        </p:txBody>
      </p:sp>
      <p:sp>
        <p:nvSpPr>
          <p:cNvPr id="19" name="TextBox 18"/>
          <p:cNvSpPr txBox="1"/>
          <p:nvPr/>
        </p:nvSpPr>
        <p:spPr>
          <a:xfrm>
            <a:off x="8549640" y="2212848"/>
            <a:ext cx="3200400" cy="411480"/>
          </a:xfrm>
          <a:prstGeom prst="rect">
            <a:avLst/>
          </a:prstGeom>
          <a:noFill/>
        </p:spPr>
        <p:txBody>
          <a:bodyPr wrap="square">
            <a:spAutoFit/>
          </a:bodyPr>
          <a:lstStyle/>
          <a:p>
            <a:pPr algn="l"/>
            <a:r>
              <a:rPr sz="2200" b="0" i="0">
                <a:solidFill>
                  <a:srgbClr val="1A1A1A"/>
                </a:solidFill>
              </a:rPr>
              <a:t>✅</a:t>
            </a:r>
          </a:p>
        </p:txBody>
      </p:sp>
      <p:sp>
        <p:nvSpPr>
          <p:cNvPr id="20" name="TextBox 19"/>
          <p:cNvSpPr txBox="1"/>
          <p:nvPr/>
        </p:nvSpPr>
        <p:spPr>
          <a:xfrm>
            <a:off x="8549640" y="2697480"/>
            <a:ext cx="3200400" cy="502920"/>
          </a:xfrm>
          <a:prstGeom prst="rect">
            <a:avLst/>
          </a:prstGeom>
          <a:noFill/>
        </p:spPr>
        <p:txBody>
          <a:bodyPr wrap="square">
            <a:spAutoFit/>
          </a:bodyPr>
          <a:lstStyle/>
          <a:p>
            <a:pPr algn="l"/>
            <a:r>
              <a:rPr sz="1400" b="1" i="0">
                <a:solidFill>
                  <a:srgbClr val="1A1A1A"/>
                </a:solidFill>
              </a:rPr>
              <a:t>竣工後
正式評定</a:t>
            </a:r>
          </a:p>
        </p:txBody>
      </p:sp>
      <p:sp>
        <p:nvSpPr>
          <p:cNvPr id="21" name="TextBox 20"/>
          <p:cNvSpPr txBox="1"/>
          <p:nvPr/>
        </p:nvSpPr>
        <p:spPr>
          <a:xfrm>
            <a:off x="8549640" y="3246120"/>
            <a:ext cx="3200400" cy="731520"/>
          </a:xfrm>
          <a:prstGeom prst="rect">
            <a:avLst/>
          </a:prstGeom>
          <a:noFill/>
        </p:spPr>
        <p:txBody>
          <a:bodyPr wrap="square">
            <a:spAutoFit/>
          </a:bodyPr>
          <a:lstStyle/>
          <a:p>
            <a:pPr algn="l"/>
            <a:r>
              <a:rPr sz="1100" b="0" i="0">
                <a:solidFill>
                  <a:srgbClr val="6B7280"/>
                </a:solidFill>
              </a:rPr>
              <a:t>向建研所申請書面審查＋現場勘查，核發正式標章</a:t>
            </a:r>
          </a:p>
        </p:txBody>
      </p:sp>
      <p:sp>
        <p:nvSpPr>
          <p:cNvPr id="22" name="TextBox 21"/>
          <p:cNvSpPr txBox="1"/>
          <p:nvPr/>
        </p:nvSpPr>
        <p:spPr>
          <a:xfrm>
            <a:off x="914400" y="4434840"/>
            <a:ext cx="5029200" cy="320040"/>
          </a:xfrm>
          <a:prstGeom prst="rect">
            <a:avLst/>
          </a:prstGeom>
          <a:noFill/>
        </p:spPr>
        <p:txBody>
          <a:bodyPr wrap="square">
            <a:spAutoFit/>
          </a:bodyPr>
          <a:lstStyle/>
          <a:p>
            <a:pPr algn="l"/>
            <a:r>
              <a:rPr sz="1300" b="1" i="0">
                <a:solidFill>
                  <a:srgbClr val="1E40AF"/>
                </a:solidFill>
              </a:rPr>
              <a:t>基本型申請注意事項</a:t>
            </a:r>
          </a:p>
        </p:txBody>
      </p:sp>
      <p:sp>
        <p:nvSpPr>
          <p:cNvPr id="23" name="TextBox 22"/>
          <p:cNvSpPr txBox="1"/>
          <p:nvPr/>
        </p:nvSpPr>
        <p:spPr>
          <a:xfrm>
            <a:off x="914400" y="4800600"/>
            <a:ext cx="5029200" cy="822960"/>
          </a:xfrm>
          <a:prstGeom prst="rect">
            <a:avLst/>
          </a:prstGeom>
          <a:noFill/>
        </p:spPr>
        <p:txBody>
          <a:bodyPr wrap="square">
            <a:spAutoFit/>
          </a:bodyPr>
          <a:lstStyle/>
          <a:p>
            <a:r>
              <a:rPr sz="1200" b="0">
                <a:solidFill>
                  <a:srgbClr val="1A1A1A"/>
                </a:solidFill>
              </a:rPr>
              <a:t>• 空調系統須有機電技師簽證</a:t>
            </a:r>
          </a:p>
          <a:p>
            <a:r>
              <a:rPr sz="1200" b="0">
                <a:solidFill>
                  <a:srgbClr val="1A1A1A"/>
                </a:solidFill>
              </a:rPr>
              <a:t>• 照明計算需附設計圖說</a:t>
            </a:r>
          </a:p>
          <a:p>
            <a:r>
              <a:rPr sz="1200" b="0">
                <a:solidFill>
                  <a:srgbClr val="1A1A1A"/>
                </a:solidFill>
              </a:rPr>
              <a:t>• 建材碳排計算表格（2023版新增）</a:t>
            </a:r>
          </a:p>
        </p:txBody>
      </p:sp>
      <p:sp>
        <p:nvSpPr>
          <p:cNvPr id="24" name="TextBox 23"/>
          <p:cNvSpPr txBox="1"/>
          <p:nvPr/>
        </p:nvSpPr>
        <p:spPr>
          <a:xfrm>
            <a:off x="6400800" y="4434840"/>
            <a:ext cx="5029200" cy="320040"/>
          </a:xfrm>
          <a:prstGeom prst="rect">
            <a:avLst/>
          </a:prstGeom>
          <a:noFill/>
        </p:spPr>
        <p:txBody>
          <a:bodyPr wrap="square">
            <a:spAutoFit/>
          </a:bodyPr>
          <a:lstStyle/>
          <a:p>
            <a:pPr algn="l"/>
            <a:r>
              <a:rPr sz="1300" b="1" i="0">
                <a:solidFill>
                  <a:srgbClr val="064E3B"/>
                </a:solidFill>
              </a:rPr>
              <a:t>住宅型申請注意事項</a:t>
            </a:r>
          </a:p>
        </p:txBody>
      </p:sp>
      <p:sp>
        <p:nvSpPr>
          <p:cNvPr id="25" name="TextBox 24"/>
          <p:cNvSpPr txBox="1"/>
          <p:nvPr/>
        </p:nvSpPr>
        <p:spPr>
          <a:xfrm>
            <a:off x="6400800" y="4800600"/>
            <a:ext cx="5029200" cy="822960"/>
          </a:xfrm>
          <a:prstGeom prst="rect">
            <a:avLst/>
          </a:prstGeom>
          <a:noFill/>
        </p:spPr>
        <p:txBody>
          <a:bodyPr wrap="square">
            <a:spAutoFit/>
          </a:bodyPr>
          <a:lstStyle/>
          <a:p>
            <a:r>
              <a:rPr sz="1200" b="0">
                <a:solidFill>
                  <a:srgbClr val="1A1A1A"/>
                </a:solidFill>
              </a:rPr>
              <a:t>• 須附每戶水表配置圖</a:t>
            </a:r>
          </a:p>
          <a:p>
            <a:r>
              <a:rPr sz="1200" b="0">
                <a:solidFill>
                  <a:srgbClr val="1A1A1A"/>
                </a:solidFill>
              </a:rPr>
              <a:t>• 隔音工程需有施工說明書</a:t>
            </a:r>
          </a:p>
          <a:p>
            <a:r>
              <a:rPr sz="1200" b="0">
                <a:solidFill>
                  <a:srgbClr val="1A1A1A"/>
                </a:solidFill>
              </a:rPr>
              <a:t>• 頂樓/外牆隔熱材料規格文件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4E3B"/>
        </a:solidFill>
        <a:effectLst/>
      </p:bgPr>
    </p:bg>
    <p:spTree>
      <p:nvGrpSpPr>
        <p:cNvPr id="1" name=""/>
        <p:cNvGrpSpPr/>
        <p:nvPr/>
      </p:nvGrpSpPr>
      <p:grpSpPr/>
      <p:sp>
        <p:nvSpPr>
          <p:cNvPr id="2" name="TextBox 1"/>
          <p:cNvSpPr txBox="1"/>
          <p:nvPr/>
        </p:nvSpPr>
        <p:spPr>
          <a:xfrm>
            <a:off x="914400" y="1097280"/>
            <a:ext cx="10058400" cy="365760"/>
          </a:xfrm>
          <a:prstGeom prst="rect">
            <a:avLst/>
          </a:prstGeom>
          <a:noFill/>
        </p:spPr>
        <p:txBody>
          <a:bodyPr wrap="square">
            <a:spAutoFit/>
          </a:bodyPr>
          <a:lstStyle/>
          <a:p>
            <a:pPr algn="l"/>
            <a:r>
              <a:rPr sz="1300" b="0" i="0">
                <a:solidFill>
                  <a:srgbClr val="A7F3D0"/>
                </a:solidFill>
              </a:rPr>
              <a:t>PART 02</a:t>
            </a:r>
          </a:p>
        </p:txBody>
      </p:sp>
      <p:sp>
        <p:nvSpPr>
          <p:cNvPr id="3" name="TextBox 2"/>
          <p:cNvSpPr txBox="1"/>
          <p:nvPr/>
        </p:nvSpPr>
        <p:spPr>
          <a:xfrm>
            <a:off x="914400" y="1645920"/>
            <a:ext cx="10058400" cy="1645920"/>
          </a:xfrm>
          <a:prstGeom prst="rect">
            <a:avLst/>
          </a:prstGeom>
          <a:noFill/>
        </p:spPr>
        <p:txBody>
          <a:bodyPr wrap="square">
            <a:spAutoFit/>
          </a:bodyPr>
          <a:lstStyle/>
          <a:p>
            <a:pPr algn="l"/>
            <a:r>
              <a:rPr sz="4400" b="1" i="0">
                <a:solidFill>
                  <a:srgbClr val="FFFFFF"/>
                </a:solidFill>
              </a:rPr>
              <a:t>傑丞建築機構
專案成果</a:t>
            </a:r>
          </a:p>
        </p:txBody>
      </p:sp>
      <p:sp>
        <p:nvSpPr>
          <p:cNvPr id="4" name="Rectangle 3"/>
          <p:cNvSpPr/>
          <p:nvPr/>
        </p:nvSpPr>
        <p:spPr>
          <a:xfrm>
            <a:off x="914400" y="3383280"/>
            <a:ext cx="54864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566160"/>
            <a:ext cx="9144000" cy="914400"/>
          </a:xfrm>
          <a:prstGeom prst="rect">
            <a:avLst/>
          </a:prstGeom>
          <a:noFill/>
        </p:spPr>
        <p:txBody>
          <a:bodyPr wrap="square">
            <a:spAutoFit/>
          </a:bodyPr>
          <a:lstStyle/>
          <a:p>
            <a:pPr algn="l"/>
            <a:r>
              <a:rPr sz="1600" b="0" i="0">
                <a:solidFill>
                  <a:srgbClr val="A7F3D0"/>
                </a:solidFill>
              </a:rPr>
              <a:t>以 EEWH 精神為設計基底，將開放建築、SI 工法、節能外殼設計融入每一個空間，
打造符合永續標準的居住與商業環境。</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3657600" cy="365760"/>
          </a:xfrm>
          <a:prstGeom prst="rect">
            <a:avLst/>
          </a:prstGeom>
          <a:noFill/>
        </p:spPr>
        <p:txBody>
          <a:bodyPr wrap="square">
            <a:spAutoFit/>
          </a:bodyPr>
          <a:lstStyle/>
          <a:p>
            <a:pPr algn="l"/>
            <a:r>
              <a:rPr sz="1200" b="0" i="0">
                <a:solidFill>
                  <a:srgbClr val="064E3B"/>
                </a:solidFill>
              </a:rPr>
              <a:t>傑丞建築機構</a:t>
            </a:r>
          </a:p>
        </p:txBody>
      </p:sp>
      <p:sp>
        <p:nvSpPr>
          <p:cNvPr id="3" name="Rectangle 2"/>
          <p:cNvSpPr/>
          <p:nvPr/>
        </p:nvSpPr>
        <p:spPr>
          <a:xfrm>
            <a:off x="914400" y="850392"/>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548640"/>
          </a:xfrm>
          <a:prstGeom prst="rect">
            <a:avLst/>
          </a:prstGeom>
          <a:noFill/>
        </p:spPr>
        <p:txBody>
          <a:bodyPr wrap="square">
            <a:spAutoFit/>
          </a:bodyPr>
          <a:lstStyle/>
          <a:p>
            <a:pPr algn="l"/>
            <a:r>
              <a:rPr sz="2800" b="1" i="0">
                <a:solidFill>
                  <a:srgbClr val="1A1A1A"/>
                </a:solidFill>
              </a:rPr>
              <a:t>理念 · 工法 · 空間美學</a:t>
            </a:r>
          </a:p>
        </p:txBody>
      </p:sp>
      <p:sp>
        <p:nvSpPr>
          <p:cNvPr id="5" name="TextBox 4"/>
          <p:cNvSpPr txBox="1"/>
          <p:nvPr/>
        </p:nvSpPr>
        <p:spPr>
          <a:xfrm>
            <a:off x="914400" y="1645920"/>
            <a:ext cx="5943600" cy="1097280"/>
          </a:xfrm>
          <a:prstGeom prst="rect">
            <a:avLst/>
          </a:prstGeom>
          <a:noFill/>
        </p:spPr>
        <p:txBody>
          <a:bodyPr wrap="square">
            <a:spAutoFit/>
          </a:bodyPr>
          <a:lstStyle/>
          <a:p>
            <a:pPr algn="l"/>
            <a:r>
              <a:rPr sz="1400" b="0" i="0">
                <a:solidFill>
                  <a:srgbClr val="1A1A1A"/>
                </a:solidFill>
              </a:rPr>
              <a:t>傑丞建築機構以極簡留白與優雅動態傳遞品牌的專業工法與空間美學，
致力於將最新建築技術融入人性化設計，打造能隨時間進化的永續居住環境。</a:t>
            </a:r>
          </a:p>
        </p:txBody>
      </p:sp>
      <p:sp>
        <p:nvSpPr>
          <p:cNvPr id="6" name="TextBox 5"/>
          <p:cNvSpPr txBox="1"/>
          <p:nvPr/>
        </p:nvSpPr>
        <p:spPr>
          <a:xfrm>
            <a:off x="914400" y="2834640"/>
            <a:ext cx="5943600" cy="1463040"/>
          </a:xfrm>
          <a:prstGeom prst="rect">
            <a:avLst/>
          </a:prstGeom>
          <a:noFill/>
        </p:spPr>
        <p:txBody>
          <a:bodyPr wrap="square">
            <a:spAutoFit/>
          </a:bodyPr>
          <a:lstStyle/>
          <a:p>
            <a:r>
              <a:rPr sz="1300" b="0">
                <a:solidFill>
                  <a:srgbClr val="1A1A1A"/>
                </a:solidFill>
              </a:rPr>
              <a:t>• 開放建築（Open Building）專利應用</a:t>
            </a:r>
          </a:p>
          <a:p>
            <a:r>
              <a:rPr sz="1300" b="0">
                <a:solidFill>
                  <a:srgbClr val="1A1A1A"/>
                </a:solidFill>
              </a:rPr>
              <a:t>• SI 管線分離工法（當層配管）</a:t>
            </a:r>
          </a:p>
          <a:p>
            <a:r>
              <a:rPr sz="1300" b="0">
                <a:solidFill>
                  <a:srgbClr val="1A1A1A"/>
                </a:solidFill>
              </a:rPr>
              <a:t>• 全案管理 PCM 顧問服務</a:t>
            </a:r>
          </a:p>
          <a:p>
            <a:r>
              <a:rPr sz="1300" b="0">
                <a:solidFill>
                  <a:srgbClr val="1A1A1A"/>
                </a:solidFill>
              </a:rPr>
              <a:t>• EEWH 住宅型永續設計規劃</a:t>
            </a:r>
          </a:p>
        </p:txBody>
      </p:sp>
      <p:sp>
        <p:nvSpPr>
          <p:cNvPr id="7" name="Rectangle 6"/>
          <p:cNvSpPr/>
          <p:nvPr/>
        </p:nvSpPr>
        <p:spPr>
          <a:xfrm>
            <a:off x="7406640" y="1645920"/>
            <a:ext cx="1920240" cy="18288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0" y="1920240"/>
            <a:ext cx="1920240" cy="822960"/>
          </a:xfrm>
          <a:prstGeom prst="rect">
            <a:avLst/>
          </a:prstGeom>
          <a:noFill/>
        </p:spPr>
        <p:txBody>
          <a:bodyPr wrap="square">
            <a:spAutoFit/>
          </a:bodyPr>
          <a:lstStyle/>
          <a:p>
            <a:pPr algn="ctr"/>
            <a:r>
              <a:rPr sz="2800" b="1" i="0">
                <a:solidFill>
                  <a:srgbClr val="064E3B"/>
                </a:solidFill>
              </a:rPr>
              <a:t>4+</a:t>
            </a:r>
          </a:p>
        </p:txBody>
      </p:sp>
      <p:sp>
        <p:nvSpPr>
          <p:cNvPr id="9" name="TextBox 8"/>
          <p:cNvSpPr txBox="1"/>
          <p:nvPr/>
        </p:nvSpPr>
        <p:spPr>
          <a:xfrm>
            <a:off x="7406640" y="2743200"/>
            <a:ext cx="1920240" cy="365760"/>
          </a:xfrm>
          <a:prstGeom prst="rect">
            <a:avLst/>
          </a:prstGeom>
          <a:noFill/>
        </p:spPr>
        <p:txBody>
          <a:bodyPr wrap="square">
            <a:spAutoFit/>
          </a:bodyPr>
          <a:lstStyle/>
          <a:p>
            <a:pPr algn="ctr"/>
            <a:r>
              <a:rPr sz="1100" b="0" i="0">
                <a:solidFill>
                  <a:srgbClr val="6B7280"/>
                </a:solidFill>
              </a:rPr>
              <a:t>代表作品</a:t>
            </a:r>
          </a:p>
        </p:txBody>
      </p:sp>
      <p:sp>
        <p:nvSpPr>
          <p:cNvPr id="10" name="Rectangle 9"/>
          <p:cNvSpPr/>
          <p:nvPr/>
        </p:nvSpPr>
        <p:spPr>
          <a:xfrm>
            <a:off x="9509759" y="1645920"/>
            <a:ext cx="1920240" cy="18288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59" y="1920240"/>
            <a:ext cx="1920240" cy="822960"/>
          </a:xfrm>
          <a:prstGeom prst="rect">
            <a:avLst/>
          </a:prstGeom>
          <a:noFill/>
        </p:spPr>
        <p:txBody>
          <a:bodyPr wrap="square">
            <a:spAutoFit/>
          </a:bodyPr>
          <a:lstStyle/>
          <a:p>
            <a:pPr algn="ctr"/>
            <a:r>
              <a:rPr sz="2800" b="1" i="0">
                <a:solidFill>
                  <a:srgbClr val="064E3B"/>
                </a:solidFill>
              </a:rPr>
              <a:t>PCM</a:t>
            </a:r>
          </a:p>
        </p:txBody>
      </p:sp>
      <p:sp>
        <p:nvSpPr>
          <p:cNvPr id="12" name="TextBox 11"/>
          <p:cNvSpPr txBox="1"/>
          <p:nvPr/>
        </p:nvSpPr>
        <p:spPr>
          <a:xfrm>
            <a:off x="9509759" y="2743200"/>
            <a:ext cx="1920240" cy="365760"/>
          </a:xfrm>
          <a:prstGeom prst="rect">
            <a:avLst/>
          </a:prstGeom>
          <a:noFill/>
        </p:spPr>
        <p:txBody>
          <a:bodyPr wrap="square">
            <a:spAutoFit/>
          </a:bodyPr>
          <a:lstStyle/>
          <a:p>
            <a:pPr algn="ctr"/>
            <a:r>
              <a:rPr sz="1100" b="0" i="0">
                <a:solidFill>
                  <a:srgbClr val="6B7280"/>
                </a:solidFill>
              </a:rPr>
              <a:t>全案管理服務</a:t>
            </a:r>
          </a:p>
        </p:txBody>
      </p:sp>
      <p:sp>
        <p:nvSpPr>
          <p:cNvPr id="13" name="Rectangle 12"/>
          <p:cNvSpPr/>
          <p:nvPr/>
        </p:nvSpPr>
        <p:spPr>
          <a:xfrm>
            <a:off x="7406640" y="3749039"/>
            <a:ext cx="1920240" cy="18288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0" y="4023359"/>
            <a:ext cx="1920240" cy="822960"/>
          </a:xfrm>
          <a:prstGeom prst="rect">
            <a:avLst/>
          </a:prstGeom>
          <a:noFill/>
        </p:spPr>
        <p:txBody>
          <a:bodyPr wrap="square">
            <a:spAutoFit/>
          </a:bodyPr>
          <a:lstStyle/>
          <a:p>
            <a:pPr algn="ctr"/>
            <a:r>
              <a:rPr sz="2800" b="1" i="0">
                <a:solidFill>
                  <a:srgbClr val="064E3B"/>
                </a:solidFill>
              </a:rPr>
              <a:t>SI</a:t>
            </a:r>
          </a:p>
        </p:txBody>
      </p:sp>
      <p:sp>
        <p:nvSpPr>
          <p:cNvPr id="15" name="TextBox 14"/>
          <p:cNvSpPr txBox="1"/>
          <p:nvPr/>
        </p:nvSpPr>
        <p:spPr>
          <a:xfrm>
            <a:off x="7406640" y="4846319"/>
            <a:ext cx="1920240" cy="365760"/>
          </a:xfrm>
          <a:prstGeom prst="rect">
            <a:avLst/>
          </a:prstGeom>
          <a:noFill/>
        </p:spPr>
        <p:txBody>
          <a:bodyPr wrap="square">
            <a:spAutoFit/>
          </a:bodyPr>
          <a:lstStyle/>
          <a:p>
            <a:pPr algn="ctr"/>
            <a:r>
              <a:rPr sz="1100" b="0" i="0">
                <a:solidFill>
                  <a:srgbClr val="6B7280"/>
                </a:solidFill>
              </a:rPr>
              <a:t>管線分離工法</a:t>
            </a:r>
          </a:p>
        </p:txBody>
      </p:sp>
      <p:sp>
        <p:nvSpPr>
          <p:cNvPr id="16" name="Rectangle 15"/>
          <p:cNvSpPr/>
          <p:nvPr/>
        </p:nvSpPr>
        <p:spPr>
          <a:xfrm>
            <a:off x="9509759" y="3749039"/>
            <a:ext cx="1920240" cy="18288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59" y="4023359"/>
            <a:ext cx="1920240" cy="822960"/>
          </a:xfrm>
          <a:prstGeom prst="rect">
            <a:avLst/>
          </a:prstGeom>
          <a:noFill/>
        </p:spPr>
        <p:txBody>
          <a:bodyPr wrap="square">
            <a:spAutoFit/>
          </a:bodyPr>
          <a:lstStyle/>
          <a:p>
            <a:pPr algn="ctr"/>
            <a:r>
              <a:rPr sz="2800" b="1" i="0">
                <a:solidFill>
                  <a:srgbClr val="064E3B"/>
                </a:solidFill>
              </a:rPr>
              <a:t>EEWH</a:t>
            </a:r>
          </a:p>
        </p:txBody>
      </p:sp>
      <p:sp>
        <p:nvSpPr>
          <p:cNvPr id="18" name="TextBox 17"/>
          <p:cNvSpPr txBox="1"/>
          <p:nvPr/>
        </p:nvSpPr>
        <p:spPr>
          <a:xfrm>
            <a:off x="9509759" y="4846319"/>
            <a:ext cx="1920240" cy="365760"/>
          </a:xfrm>
          <a:prstGeom prst="rect">
            <a:avLst/>
          </a:prstGeom>
          <a:noFill/>
        </p:spPr>
        <p:txBody>
          <a:bodyPr wrap="square">
            <a:spAutoFit/>
          </a:bodyPr>
          <a:lstStyle/>
          <a:p>
            <a:pPr algn="ctr"/>
            <a:r>
              <a:rPr sz="1100" b="0" i="0">
                <a:solidFill>
                  <a:srgbClr val="6B7280"/>
                </a:solidFill>
              </a:rPr>
              <a:t>綠建築設計導入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r>
              <a:rPr sz="1200" b="0" i="0">
                <a:solidFill>
                  <a:srgbClr val="6B7280"/>
                </a:solidFill>
              </a:rPr>
              <a:t>Residential ／ 台北市 信義區 ／ 2024</a:t>
            </a:r>
          </a:p>
        </p:txBody>
      </p:sp>
      <p:sp>
        <p:nvSpPr>
          <p:cNvPr id="3" name="Rectangle 2"/>
          <p:cNvSpPr/>
          <p:nvPr/>
        </p:nvSpPr>
        <p:spPr>
          <a:xfrm>
            <a:off x="914400" y="850392"/>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640080"/>
          </a:xfrm>
          <a:prstGeom prst="rect">
            <a:avLst/>
          </a:prstGeom>
          <a:noFill/>
        </p:spPr>
        <p:txBody>
          <a:bodyPr wrap="square">
            <a:spAutoFit/>
          </a:bodyPr>
          <a:lstStyle/>
          <a:p>
            <a:pPr algn="l"/>
            <a:r>
              <a:rPr sz="3400" b="1" i="0">
                <a:solidFill>
                  <a:srgbClr val="1A1A1A"/>
                </a:solidFill>
              </a:rPr>
              <a:t>開放建築</a:t>
            </a:r>
          </a:p>
        </p:txBody>
      </p:sp>
      <p:sp>
        <p:nvSpPr>
          <p:cNvPr id="5" name="Rectangle 4"/>
          <p:cNvSpPr/>
          <p:nvPr/>
        </p:nvSpPr>
        <p:spPr>
          <a:xfrm>
            <a:off x="914400" y="1737360"/>
            <a:ext cx="2286000" cy="201168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103120"/>
            <a:ext cx="1005840" cy="822960"/>
          </a:xfrm>
          <a:prstGeom prst="rect">
            <a:avLst/>
          </a:prstGeom>
          <a:noFill/>
        </p:spPr>
        <p:txBody>
          <a:bodyPr wrap="square">
            <a:spAutoFit/>
          </a:bodyPr>
          <a:lstStyle/>
          <a:p>
            <a:pPr algn="ctr"/>
            <a:r>
              <a:rPr sz="4000" b="0" i="0">
                <a:solidFill>
                  <a:srgbClr val="1A1A1A"/>
                </a:solidFill>
              </a:rPr>
              <a:t>🏠</a:t>
            </a:r>
          </a:p>
        </p:txBody>
      </p:sp>
      <p:sp>
        <p:nvSpPr>
          <p:cNvPr id="7" name="TextBox 6"/>
          <p:cNvSpPr txBox="1"/>
          <p:nvPr/>
        </p:nvSpPr>
        <p:spPr>
          <a:xfrm>
            <a:off x="3474720" y="1737360"/>
            <a:ext cx="8046720" cy="1005840"/>
          </a:xfrm>
          <a:prstGeom prst="rect">
            <a:avLst/>
          </a:prstGeom>
          <a:noFill/>
        </p:spPr>
        <p:txBody>
          <a:bodyPr wrap="square">
            <a:spAutoFit/>
          </a:bodyPr>
          <a:lstStyle/>
          <a:p>
            <a:pPr algn="l"/>
            <a:r>
              <a:rPr sz="1300" b="0" i="0">
                <a:solidFill>
                  <a:srgbClr val="1A1A1A"/>
                </a:solidFill>
              </a:rPr>
              <a:t>利用自然採光與極簡線條，打造開放式居住空間。採用可變動的彈性隔間技術，
讓住戶能隨著生命週期的變化，自由調整室內佈局。</a:t>
            </a:r>
          </a:p>
        </p:txBody>
      </p:sp>
      <p:sp>
        <p:nvSpPr>
          <p:cNvPr id="8" name="TextBox 7"/>
          <p:cNvSpPr txBox="1"/>
          <p:nvPr/>
        </p:nvSpPr>
        <p:spPr>
          <a:xfrm>
            <a:off x="3474720" y="2880360"/>
            <a:ext cx="2560320" cy="274320"/>
          </a:xfrm>
          <a:prstGeom prst="rect">
            <a:avLst/>
          </a:prstGeom>
          <a:noFill/>
        </p:spPr>
        <p:txBody>
          <a:bodyPr wrap="square">
            <a:spAutoFit/>
          </a:bodyPr>
          <a:lstStyle/>
          <a:p>
            <a:pPr algn="l"/>
            <a:r>
              <a:rPr sz="1100" b="0" i="0">
                <a:solidFill>
                  <a:srgbClr val="6B7280"/>
                </a:solidFill>
              </a:rPr>
              <a:t>地點</a:t>
            </a:r>
          </a:p>
        </p:txBody>
      </p:sp>
      <p:sp>
        <p:nvSpPr>
          <p:cNvPr id="9" name="TextBox 8"/>
          <p:cNvSpPr txBox="1"/>
          <p:nvPr/>
        </p:nvSpPr>
        <p:spPr>
          <a:xfrm>
            <a:off x="3474720" y="3154680"/>
            <a:ext cx="2560320" cy="320040"/>
          </a:xfrm>
          <a:prstGeom prst="rect">
            <a:avLst/>
          </a:prstGeom>
          <a:noFill/>
        </p:spPr>
        <p:txBody>
          <a:bodyPr wrap="square">
            <a:spAutoFit/>
          </a:bodyPr>
          <a:lstStyle/>
          <a:p>
            <a:pPr algn="l"/>
            <a:r>
              <a:rPr sz="1300" b="1" i="0">
                <a:solidFill>
                  <a:srgbClr val="1A1A1A"/>
                </a:solidFill>
              </a:rPr>
              <a:t>台北市 信義區</a:t>
            </a:r>
          </a:p>
        </p:txBody>
      </p:sp>
      <p:sp>
        <p:nvSpPr>
          <p:cNvPr id="10" name="TextBox 9"/>
          <p:cNvSpPr txBox="1"/>
          <p:nvPr/>
        </p:nvSpPr>
        <p:spPr>
          <a:xfrm>
            <a:off x="6217920" y="2880360"/>
            <a:ext cx="2560320" cy="274320"/>
          </a:xfrm>
          <a:prstGeom prst="rect">
            <a:avLst/>
          </a:prstGeom>
          <a:noFill/>
        </p:spPr>
        <p:txBody>
          <a:bodyPr wrap="square">
            <a:spAutoFit/>
          </a:bodyPr>
          <a:lstStyle/>
          <a:p>
            <a:pPr algn="l"/>
            <a:r>
              <a:rPr sz="1100" b="0" i="0">
                <a:solidFill>
                  <a:srgbClr val="6B7280"/>
                </a:solidFill>
              </a:rPr>
              <a:t>完工年</a:t>
            </a:r>
          </a:p>
        </p:txBody>
      </p:sp>
      <p:sp>
        <p:nvSpPr>
          <p:cNvPr id="11" name="TextBox 10"/>
          <p:cNvSpPr txBox="1"/>
          <p:nvPr/>
        </p:nvSpPr>
        <p:spPr>
          <a:xfrm>
            <a:off x="6217920" y="3154680"/>
            <a:ext cx="2560320" cy="320040"/>
          </a:xfrm>
          <a:prstGeom prst="rect">
            <a:avLst/>
          </a:prstGeom>
          <a:noFill/>
        </p:spPr>
        <p:txBody>
          <a:bodyPr wrap="square">
            <a:spAutoFit/>
          </a:bodyPr>
          <a:lstStyle/>
          <a:p>
            <a:pPr algn="l"/>
            <a:r>
              <a:rPr sz="1300" b="1" i="0">
                <a:solidFill>
                  <a:srgbClr val="1A1A1A"/>
                </a:solidFill>
              </a:rPr>
              <a:t>2024</a:t>
            </a:r>
          </a:p>
        </p:txBody>
      </p:sp>
      <p:sp>
        <p:nvSpPr>
          <p:cNvPr id="12" name="TextBox 11"/>
          <p:cNvSpPr txBox="1"/>
          <p:nvPr/>
        </p:nvSpPr>
        <p:spPr>
          <a:xfrm>
            <a:off x="8961120" y="2880360"/>
            <a:ext cx="2560320" cy="274320"/>
          </a:xfrm>
          <a:prstGeom prst="rect">
            <a:avLst/>
          </a:prstGeom>
          <a:noFill/>
        </p:spPr>
        <p:txBody>
          <a:bodyPr wrap="square">
            <a:spAutoFit/>
          </a:bodyPr>
          <a:lstStyle/>
          <a:p>
            <a:pPr algn="l"/>
            <a:r>
              <a:rPr sz="1100" b="0" i="0">
                <a:solidFill>
                  <a:srgbClr val="6B7280"/>
                </a:solidFill>
              </a:rPr>
              <a:t>面積</a:t>
            </a:r>
          </a:p>
        </p:txBody>
      </p:sp>
      <p:sp>
        <p:nvSpPr>
          <p:cNvPr id="13" name="TextBox 12"/>
          <p:cNvSpPr txBox="1"/>
          <p:nvPr/>
        </p:nvSpPr>
        <p:spPr>
          <a:xfrm>
            <a:off x="8961120" y="3154680"/>
            <a:ext cx="2560320" cy="320040"/>
          </a:xfrm>
          <a:prstGeom prst="rect">
            <a:avLst/>
          </a:prstGeom>
          <a:noFill/>
        </p:spPr>
        <p:txBody>
          <a:bodyPr wrap="square">
            <a:spAutoFit/>
          </a:bodyPr>
          <a:lstStyle/>
          <a:p>
            <a:pPr algn="l"/>
            <a:r>
              <a:rPr sz="1300" b="1" i="0">
                <a:solidFill>
                  <a:srgbClr val="1A1A1A"/>
                </a:solidFill>
              </a:rPr>
              <a:t>120 sqm</a:t>
            </a:r>
          </a:p>
        </p:txBody>
      </p:sp>
      <p:sp>
        <p:nvSpPr>
          <p:cNvPr id="14" name="TextBox 13"/>
          <p:cNvSpPr txBox="1"/>
          <p:nvPr/>
        </p:nvSpPr>
        <p:spPr>
          <a:xfrm>
            <a:off x="3474720" y="3657600"/>
            <a:ext cx="8046720" cy="320040"/>
          </a:xfrm>
          <a:prstGeom prst="rect">
            <a:avLst/>
          </a:prstGeom>
          <a:noFill/>
        </p:spPr>
        <p:txBody>
          <a:bodyPr wrap="square">
            <a:spAutoFit/>
          </a:bodyPr>
          <a:lstStyle/>
          <a:p>
            <a:pPr algn="l"/>
            <a:r>
              <a:rPr sz="1200" b="1" i="0">
                <a:solidFill>
                  <a:srgbClr val="064E3B"/>
                </a:solidFill>
              </a:rPr>
              <a:t>EEWH-RS 住宅型 | Open Building Patent</a:t>
            </a:r>
          </a:p>
        </p:txBody>
      </p:sp>
      <p:sp>
        <p:nvSpPr>
          <p:cNvPr id="15" name="Rectangle 14"/>
          <p:cNvSpPr/>
          <p:nvPr/>
        </p:nvSpPr>
        <p:spPr>
          <a:xfrm>
            <a:off x="914400" y="4114800"/>
            <a:ext cx="10332720" cy="109728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224528"/>
            <a:ext cx="10058400" cy="914400"/>
          </a:xfrm>
          <a:prstGeom prst="rect">
            <a:avLst/>
          </a:prstGeom>
          <a:noFill/>
        </p:spPr>
        <p:txBody>
          <a:bodyPr wrap="square">
            <a:spAutoFit/>
          </a:bodyPr>
          <a:lstStyle/>
          <a:p>
            <a:pPr algn="l"/>
            <a:r>
              <a:rPr sz="1200" b="0" i="0">
                <a:solidFill>
                  <a:srgbClr val="065F46"/>
                </a:solidFill>
              </a:rPr>
              <a:t>彈性隔間設計降低裝修碳排，延長建物使用壽命，
契合 EEWH-RS CO₂ 減量及室內環境指標精神。</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r>
              <a:rPr sz="1200" b="0" i="0">
                <a:solidFill>
                  <a:srgbClr val="6B7280"/>
                </a:solidFill>
              </a:rPr>
              <a:t>Commercial ／ 新北市 板橋區 ／ 2023</a:t>
            </a:r>
          </a:p>
        </p:txBody>
      </p:sp>
      <p:sp>
        <p:nvSpPr>
          <p:cNvPr id="3" name="Rectangle 2"/>
          <p:cNvSpPr/>
          <p:nvPr/>
        </p:nvSpPr>
        <p:spPr>
          <a:xfrm>
            <a:off x="914400" y="850392"/>
            <a:ext cx="109728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640080"/>
          </a:xfrm>
          <a:prstGeom prst="rect">
            <a:avLst/>
          </a:prstGeom>
          <a:noFill/>
        </p:spPr>
        <p:txBody>
          <a:bodyPr wrap="square">
            <a:spAutoFit/>
          </a:bodyPr>
          <a:lstStyle/>
          <a:p>
            <a:pPr algn="l"/>
            <a:r>
              <a:rPr sz="3400" b="1" i="0">
                <a:solidFill>
                  <a:srgbClr val="1A1A1A"/>
                </a:solidFill>
              </a:rPr>
              <a:t>當層配管</a:t>
            </a:r>
          </a:p>
        </p:txBody>
      </p:sp>
      <p:sp>
        <p:nvSpPr>
          <p:cNvPr id="5" name="Rectangle 4"/>
          <p:cNvSpPr/>
          <p:nvPr/>
        </p:nvSpPr>
        <p:spPr>
          <a:xfrm>
            <a:off x="914400" y="1737360"/>
            <a:ext cx="2286000" cy="201168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103120"/>
            <a:ext cx="1005840" cy="822960"/>
          </a:xfrm>
          <a:prstGeom prst="rect">
            <a:avLst/>
          </a:prstGeom>
          <a:noFill/>
        </p:spPr>
        <p:txBody>
          <a:bodyPr wrap="square">
            <a:spAutoFit/>
          </a:bodyPr>
          <a:lstStyle/>
          <a:p>
            <a:pPr algn="ctr"/>
            <a:r>
              <a:rPr sz="4000" b="0" i="0">
                <a:solidFill>
                  <a:srgbClr val="1A1A1A"/>
                </a:solidFill>
              </a:rPr>
              <a:t>🏠</a:t>
            </a:r>
          </a:p>
        </p:txBody>
      </p:sp>
      <p:sp>
        <p:nvSpPr>
          <p:cNvPr id="7" name="TextBox 6"/>
          <p:cNvSpPr txBox="1"/>
          <p:nvPr/>
        </p:nvSpPr>
        <p:spPr>
          <a:xfrm>
            <a:off x="3474720" y="1737360"/>
            <a:ext cx="8046720" cy="1005840"/>
          </a:xfrm>
          <a:prstGeom prst="rect">
            <a:avLst/>
          </a:prstGeom>
          <a:noFill/>
        </p:spPr>
        <p:txBody>
          <a:bodyPr wrap="square">
            <a:spAutoFit/>
          </a:bodyPr>
          <a:lstStyle/>
          <a:p>
            <a:pPr algn="l"/>
            <a:r>
              <a:rPr sz="1300" b="0" i="0">
                <a:solidFill>
                  <a:srgbClr val="1A1A1A"/>
                </a:solidFill>
              </a:rPr>
              <a:t>引進當層配管專利技術，解決傳統建築漏水難以維修的痛點，
實現管線與結構體徹底分離，大幅提升建物壽命，並結合工業風格與綠色植物。</a:t>
            </a:r>
          </a:p>
        </p:txBody>
      </p:sp>
      <p:sp>
        <p:nvSpPr>
          <p:cNvPr id="8" name="TextBox 7"/>
          <p:cNvSpPr txBox="1"/>
          <p:nvPr/>
        </p:nvSpPr>
        <p:spPr>
          <a:xfrm>
            <a:off x="3474720" y="2880360"/>
            <a:ext cx="2560320" cy="274320"/>
          </a:xfrm>
          <a:prstGeom prst="rect">
            <a:avLst/>
          </a:prstGeom>
          <a:noFill/>
        </p:spPr>
        <p:txBody>
          <a:bodyPr wrap="square">
            <a:spAutoFit/>
          </a:bodyPr>
          <a:lstStyle/>
          <a:p>
            <a:pPr algn="l"/>
            <a:r>
              <a:rPr sz="1100" b="0" i="0">
                <a:solidFill>
                  <a:srgbClr val="6B7280"/>
                </a:solidFill>
              </a:rPr>
              <a:t>地點</a:t>
            </a:r>
          </a:p>
        </p:txBody>
      </p:sp>
      <p:sp>
        <p:nvSpPr>
          <p:cNvPr id="9" name="TextBox 8"/>
          <p:cNvSpPr txBox="1"/>
          <p:nvPr/>
        </p:nvSpPr>
        <p:spPr>
          <a:xfrm>
            <a:off x="3474720" y="3154680"/>
            <a:ext cx="2560320" cy="320040"/>
          </a:xfrm>
          <a:prstGeom prst="rect">
            <a:avLst/>
          </a:prstGeom>
          <a:noFill/>
        </p:spPr>
        <p:txBody>
          <a:bodyPr wrap="square">
            <a:spAutoFit/>
          </a:bodyPr>
          <a:lstStyle/>
          <a:p>
            <a:pPr algn="l"/>
            <a:r>
              <a:rPr sz="1300" b="1" i="0">
                <a:solidFill>
                  <a:srgbClr val="1A1A1A"/>
                </a:solidFill>
              </a:rPr>
              <a:t>新北市 板橋區</a:t>
            </a:r>
          </a:p>
        </p:txBody>
      </p:sp>
      <p:sp>
        <p:nvSpPr>
          <p:cNvPr id="10" name="TextBox 9"/>
          <p:cNvSpPr txBox="1"/>
          <p:nvPr/>
        </p:nvSpPr>
        <p:spPr>
          <a:xfrm>
            <a:off x="6217920" y="2880360"/>
            <a:ext cx="2560320" cy="274320"/>
          </a:xfrm>
          <a:prstGeom prst="rect">
            <a:avLst/>
          </a:prstGeom>
          <a:noFill/>
        </p:spPr>
        <p:txBody>
          <a:bodyPr wrap="square">
            <a:spAutoFit/>
          </a:bodyPr>
          <a:lstStyle/>
          <a:p>
            <a:pPr algn="l"/>
            <a:r>
              <a:rPr sz="1100" b="0" i="0">
                <a:solidFill>
                  <a:srgbClr val="6B7280"/>
                </a:solidFill>
              </a:rPr>
              <a:t>完工年</a:t>
            </a:r>
          </a:p>
        </p:txBody>
      </p:sp>
      <p:sp>
        <p:nvSpPr>
          <p:cNvPr id="11" name="TextBox 10"/>
          <p:cNvSpPr txBox="1"/>
          <p:nvPr/>
        </p:nvSpPr>
        <p:spPr>
          <a:xfrm>
            <a:off x="6217920" y="3154680"/>
            <a:ext cx="2560320" cy="320040"/>
          </a:xfrm>
          <a:prstGeom prst="rect">
            <a:avLst/>
          </a:prstGeom>
          <a:noFill/>
        </p:spPr>
        <p:txBody>
          <a:bodyPr wrap="square">
            <a:spAutoFit/>
          </a:bodyPr>
          <a:lstStyle/>
          <a:p>
            <a:pPr algn="l"/>
            <a:r>
              <a:rPr sz="1300" b="1" i="0">
                <a:solidFill>
                  <a:srgbClr val="1A1A1A"/>
                </a:solidFill>
              </a:rPr>
              <a:t>2023</a:t>
            </a:r>
          </a:p>
        </p:txBody>
      </p:sp>
      <p:sp>
        <p:nvSpPr>
          <p:cNvPr id="12" name="TextBox 11"/>
          <p:cNvSpPr txBox="1"/>
          <p:nvPr/>
        </p:nvSpPr>
        <p:spPr>
          <a:xfrm>
            <a:off x="8961120" y="2880360"/>
            <a:ext cx="2560320" cy="274320"/>
          </a:xfrm>
          <a:prstGeom prst="rect">
            <a:avLst/>
          </a:prstGeom>
          <a:noFill/>
        </p:spPr>
        <p:txBody>
          <a:bodyPr wrap="square">
            <a:spAutoFit/>
          </a:bodyPr>
          <a:lstStyle/>
          <a:p>
            <a:pPr algn="l"/>
            <a:r>
              <a:rPr sz="1100" b="0" i="0">
                <a:solidFill>
                  <a:srgbClr val="6B7280"/>
                </a:solidFill>
              </a:rPr>
              <a:t>面積</a:t>
            </a:r>
          </a:p>
        </p:txBody>
      </p:sp>
      <p:sp>
        <p:nvSpPr>
          <p:cNvPr id="13" name="TextBox 12"/>
          <p:cNvSpPr txBox="1"/>
          <p:nvPr/>
        </p:nvSpPr>
        <p:spPr>
          <a:xfrm>
            <a:off x="8961120" y="3154680"/>
            <a:ext cx="2560320" cy="320040"/>
          </a:xfrm>
          <a:prstGeom prst="rect">
            <a:avLst/>
          </a:prstGeom>
          <a:noFill/>
        </p:spPr>
        <p:txBody>
          <a:bodyPr wrap="square">
            <a:spAutoFit/>
          </a:bodyPr>
          <a:lstStyle/>
          <a:p>
            <a:pPr algn="l"/>
            <a:r>
              <a:rPr sz="1300" b="1" i="0">
                <a:solidFill>
                  <a:srgbClr val="1A1A1A"/>
                </a:solidFill>
              </a:rPr>
              <a:t>450 sqm</a:t>
            </a:r>
          </a:p>
        </p:txBody>
      </p:sp>
      <p:sp>
        <p:nvSpPr>
          <p:cNvPr id="14" name="TextBox 13"/>
          <p:cNvSpPr txBox="1"/>
          <p:nvPr/>
        </p:nvSpPr>
        <p:spPr>
          <a:xfrm>
            <a:off x="3474720" y="3657600"/>
            <a:ext cx="8046720" cy="320040"/>
          </a:xfrm>
          <a:prstGeom prst="rect">
            <a:avLst/>
          </a:prstGeom>
          <a:noFill/>
        </p:spPr>
        <p:txBody>
          <a:bodyPr wrap="square">
            <a:spAutoFit/>
          </a:bodyPr>
          <a:lstStyle/>
          <a:p>
            <a:pPr algn="l"/>
            <a:r>
              <a:rPr sz="1200" b="1" i="0">
                <a:solidFill>
                  <a:srgbClr val="3B82F6"/>
                </a:solidFill>
              </a:rPr>
              <a:t>EEWH-BC 基本型 | SI Separation</a:t>
            </a:r>
          </a:p>
        </p:txBody>
      </p:sp>
      <p:sp>
        <p:nvSpPr>
          <p:cNvPr id="15" name="Rectangle 14"/>
          <p:cNvSpPr/>
          <p:nvPr/>
        </p:nvSpPr>
        <p:spPr>
          <a:xfrm>
            <a:off x="914400" y="4114800"/>
            <a:ext cx="10332720" cy="109728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224528"/>
            <a:ext cx="10058400" cy="914400"/>
          </a:xfrm>
          <a:prstGeom prst="rect">
            <a:avLst/>
          </a:prstGeom>
          <a:noFill/>
        </p:spPr>
        <p:txBody>
          <a:bodyPr wrap="square">
            <a:spAutoFit/>
          </a:bodyPr>
          <a:lstStyle/>
          <a:p>
            <a:pPr algn="l"/>
            <a:r>
              <a:rPr sz="1200" b="0" i="0">
                <a:solidFill>
                  <a:srgbClr val="065F46"/>
                </a:solidFill>
              </a:rPr>
              <a:t>SI 工法將管線獨立於當層樓板，維修不擾鄰，
對應 EEWH-BC 水資源指標中的管路維護效益。</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r>
              <a:rPr sz="1200" b="0" i="0">
                <a:solidFill>
                  <a:srgbClr val="6B7280"/>
                </a:solidFill>
              </a:rPr>
              <a:t>Landscape ／ 台中市 西屯區 ／ 2024</a:t>
            </a:r>
          </a:p>
        </p:txBody>
      </p:sp>
      <p:sp>
        <p:nvSpPr>
          <p:cNvPr id="3" name="Rectangle 2"/>
          <p:cNvSpPr/>
          <p:nvPr/>
        </p:nvSpPr>
        <p:spPr>
          <a:xfrm>
            <a:off x="914400" y="850392"/>
            <a:ext cx="1097280" cy="381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640080"/>
          </a:xfrm>
          <a:prstGeom prst="rect">
            <a:avLst/>
          </a:prstGeom>
          <a:noFill/>
        </p:spPr>
        <p:txBody>
          <a:bodyPr wrap="square">
            <a:spAutoFit/>
          </a:bodyPr>
          <a:lstStyle/>
          <a:p>
            <a:pPr algn="l"/>
            <a:r>
              <a:rPr sz="3400" b="1" i="0">
                <a:solidFill>
                  <a:srgbClr val="1A1A1A"/>
                </a:solidFill>
              </a:rPr>
              <a:t>複層樓板</a:t>
            </a:r>
          </a:p>
        </p:txBody>
      </p:sp>
      <p:sp>
        <p:nvSpPr>
          <p:cNvPr id="5" name="Rectangle 4"/>
          <p:cNvSpPr/>
          <p:nvPr/>
        </p:nvSpPr>
        <p:spPr>
          <a:xfrm>
            <a:off x="914400" y="1737360"/>
            <a:ext cx="2286000" cy="201168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103120"/>
            <a:ext cx="1005840" cy="822960"/>
          </a:xfrm>
          <a:prstGeom prst="rect">
            <a:avLst/>
          </a:prstGeom>
          <a:noFill/>
        </p:spPr>
        <p:txBody>
          <a:bodyPr wrap="square">
            <a:spAutoFit/>
          </a:bodyPr>
          <a:lstStyle/>
          <a:p>
            <a:pPr algn="ctr"/>
            <a:r>
              <a:rPr sz="4000" b="0" i="0">
                <a:solidFill>
                  <a:srgbClr val="1A1A1A"/>
                </a:solidFill>
              </a:rPr>
              <a:t>🏠</a:t>
            </a:r>
          </a:p>
        </p:txBody>
      </p:sp>
      <p:sp>
        <p:nvSpPr>
          <p:cNvPr id="7" name="TextBox 6"/>
          <p:cNvSpPr txBox="1"/>
          <p:nvPr/>
        </p:nvSpPr>
        <p:spPr>
          <a:xfrm>
            <a:off x="3474720" y="1737360"/>
            <a:ext cx="8046720" cy="1005840"/>
          </a:xfrm>
          <a:prstGeom prst="rect">
            <a:avLst/>
          </a:prstGeom>
          <a:noFill/>
        </p:spPr>
        <p:txBody>
          <a:bodyPr wrap="square">
            <a:spAutoFit/>
          </a:bodyPr>
          <a:lstStyle/>
          <a:p>
            <a:pPr algn="l"/>
            <a:r>
              <a:rPr sz="1300" b="0" i="0">
                <a:solidFill>
                  <a:srgbClr val="1A1A1A"/>
                </a:solidFill>
              </a:rPr>
              <a:t>透過複層樓板設計創造出極佳的隔音效果與微氣候調節空間，
強調人與自然互動，讓室內環境不受外界噪音干擾，維持恆溫舒適。</a:t>
            </a:r>
          </a:p>
        </p:txBody>
      </p:sp>
      <p:sp>
        <p:nvSpPr>
          <p:cNvPr id="8" name="TextBox 7"/>
          <p:cNvSpPr txBox="1"/>
          <p:nvPr/>
        </p:nvSpPr>
        <p:spPr>
          <a:xfrm>
            <a:off x="3474720" y="2880360"/>
            <a:ext cx="2560320" cy="274320"/>
          </a:xfrm>
          <a:prstGeom prst="rect">
            <a:avLst/>
          </a:prstGeom>
          <a:noFill/>
        </p:spPr>
        <p:txBody>
          <a:bodyPr wrap="square">
            <a:spAutoFit/>
          </a:bodyPr>
          <a:lstStyle/>
          <a:p>
            <a:pPr algn="l"/>
            <a:r>
              <a:rPr sz="1100" b="0" i="0">
                <a:solidFill>
                  <a:srgbClr val="6B7280"/>
                </a:solidFill>
              </a:rPr>
              <a:t>地點</a:t>
            </a:r>
          </a:p>
        </p:txBody>
      </p:sp>
      <p:sp>
        <p:nvSpPr>
          <p:cNvPr id="9" name="TextBox 8"/>
          <p:cNvSpPr txBox="1"/>
          <p:nvPr/>
        </p:nvSpPr>
        <p:spPr>
          <a:xfrm>
            <a:off x="3474720" y="3154680"/>
            <a:ext cx="2560320" cy="320040"/>
          </a:xfrm>
          <a:prstGeom prst="rect">
            <a:avLst/>
          </a:prstGeom>
          <a:noFill/>
        </p:spPr>
        <p:txBody>
          <a:bodyPr wrap="square">
            <a:spAutoFit/>
          </a:bodyPr>
          <a:lstStyle/>
          <a:p>
            <a:pPr algn="l"/>
            <a:r>
              <a:rPr sz="1300" b="1" i="0">
                <a:solidFill>
                  <a:srgbClr val="1A1A1A"/>
                </a:solidFill>
              </a:rPr>
              <a:t>台中市 西屯區</a:t>
            </a:r>
          </a:p>
        </p:txBody>
      </p:sp>
      <p:sp>
        <p:nvSpPr>
          <p:cNvPr id="10" name="TextBox 9"/>
          <p:cNvSpPr txBox="1"/>
          <p:nvPr/>
        </p:nvSpPr>
        <p:spPr>
          <a:xfrm>
            <a:off x="6217920" y="2880360"/>
            <a:ext cx="2560320" cy="274320"/>
          </a:xfrm>
          <a:prstGeom prst="rect">
            <a:avLst/>
          </a:prstGeom>
          <a:noFill/>
        </p:spPr>
        <p:txBody>
          <a:bodyPr wrap="square">
            <a:spAutoFit/>
          </a:bodyPr>
          <a:lstStyle/>
          <a:p>
            <a:pPr algn="l"/>
            <a:r>
              <a:rPr sz="1100" b="0" i="0">
                <a:solidFill>
                  <a:srgbClr val="6B7280"/>
                </a:solidFill>
              </a:rPr>
              <a:t>完工年</a:t>
            </a:r>
          </a:p>
        </p:txBody>
      </p:sp>
      <p:sp>
        <p:nvSpPr>
          <p:cNvPr id="11" name="TextBox 10"/>
          <p:cNvSpPr txBox="1"/>
          <p:nvPr/>
        </p:nvSpPr>
        <p:spPr>
          <a:xfrm>
            <a:off x="6217920" y="3154680"/>
            <a:ext cx="2560320" cy="320040"/>
          </a:xfrm>
          <a:prstGeom prst="rect">
            <a:avLst/>
          </a:prstGeom>
          <a:noFill/>
        </p:spPr>
        <p:txBody>
          <a:bodyPr wrap="square">
            <a:spAutoFit/>
          </a:bodyPr>
          <a:lstStyle/>
          <a:p>
            <a:pPr algn="l"/>
            <a:r>
              <a:rPr sz="1300" b="1" i="0">
                <a:solidFill>
                  <a:srgbClr val="1A1A1A"/>
                </a:solidFill>
              </a:rPr>
              <a:t>2024</a:t>
            </a:r>
          </a:p>
        </p:txBody>
      </p:sp>
      <p:sp>
        <p:nvSpPr>
          <p:cNvPr id="12" name="TextBox 11"/>
          <p:cNvSpPr txBox="1"/>
          <p:nvPr/>
        </p:nvSpPr>
        <p:spPr>
          <a:xfrm>
            <a:off x="8961120" y="2880360"/>
            <a:ext cx="2560320" cy="274320"/>
          </a:xfrm>
          <a:prstGeom prst="rect">
            <a:avLst/>
          </a:prstGeom>
          <a:noFill/>
        </p:spPr>
        <p:txBody>
          <a:bodyPr wrap="square">
            <a:spAutoFit/>
          </a:bodyPr>
          <a:lstStyle/>
          <a:p>
            <a:pPr algn="l"/>
            <a:r>
              <a:rPr sz="1100" b="0" i="0">
                <a:solidFill>
                  <a:srgbClr val="6B7280"/>
                </a:solidFill>
              </a:rPr>
              <a:t>面積</a:t>
            </a:r>
          </a:p>
        </p:txBody>
      </p:sp>
      <p:sp>
        <p:nvSpPr>
          <p:cNvPr id="13" name="TextBox 12"/>
          <p:cNvSpPr txBox="1"/>
          <p:nvPr/>
        </p:nvSpPr>
        <p:spPr>
          <a:xfrm>
            <a:off x="8961120" y="3154680"/>
            <a:ext cx="2560320" cy="320040"/>
          </a:xfrm>
          <a:prstGeom prst="rect">
            <a:avLst/>
          </a:prstGeom>
          <a:noFill/>
        </p:spPr>
        <p:txBody>
          <a:bodyPr wrap="square">
            <a:spAutoFit/>
          </a:bodyPr>
          <a:lstStyle/>
          <a:p>
            <a:pPr algn="l"/>
            <a:r>
              <a:rPr sz="1300" b="1" i="0">
                <a:solidFill>
                  <a:srgbClr val="1A1A1A"/>
                </a:solidFill>
              </a:rPr>
              <a:t>800 sqm</a:t>
            </a:r>
          </a:p>
        </p:txBody>
      </p:sp>
      <p:sp>
        <p:nvSpPr>
          <p:cNvPr id="14" name="TextBox 13"/>
          <p:cNvSpPr txBox="1"/>
          <p:nvPr/>
        </p:nvSpPr>
        <p:spPr>
          <a:xfrm>
            <a:off x="3474720" y="3657600"/>
            <a:ext cx="8046720" cy="320040"/>
          </a:xfrm>
          <a:prstGeom prst="rect">
            <a:avLst/>
          </a:prstGeom>
          <a:noFill/>
        </p:spPr>
        <p:txBody>
          <a:bodyPr wrap="square">
            <a:spAutoFit/>
          </a:bodyPr>
          <a:lstStyle/>
          <a:p>
            <a:pPr algn="l"/>
            <a:r>
              <a:rPr sz="1200" b="1" i="0">
                <a:solidFill>
                  <a:srgbClr val="064E3B"/>
                </a:solidFill>
              </a:rPr>
              <a:t>EEWH-RS 住宅型 | Double-Layer Floor</a:t>
            </a:r>
          </a:p>
        </p:txBody>
      </p:sp>
      <p:sp>
        <p:nvSpPr>
          <p:cNvPr id="15" name="Rectangle 14"/>
          <p:cNvSpPr/>
          <p:nvPr/>
        </p:nvSpPr>
        <p:spPr>
          <a:xfrm>
            <a:off x="914400" y="4114800"/>
            <a:ext cx="10332720" cy="109728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224528"/>
            <a:ext cx="10058400" cy="914400"/>
          </a:xfrm>
          <a:prstGeom prst="rect">
            <a:avLst/>
          </a:prstGeom>
          <a:noFill/>
        </p:spPr>
        <p:txBody>
          <a:bodyPr wrap="square">
            <a:spAutoFit/>
          </a:bodyPr>
          <a:lstStyle/>
          <a:p>
            <a:pPr algn="l"/>
            <a:r>
              <a:rPr sz="1200" b="0" i="0">
                <a:solidFill>
                  <a:srgbClr val="065F46"/>
                </a:solidFill>
              </a:rPr>
              <a:t>空氣層設計同步達到隔音（≤ 58 dB）、隔熱、管線整合三重效益，
完整呼應 EEWH-RS 室內環境指標樓板隔音要求。</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r>
              <a:rPr sz="1200" b="0" i="0">
                <a:solidFill>
                  <a:srgbClr val="6B7280"/>
                </a:solidFill>
              </a:rPr>
              <a:t>Renovation ／ 台北市 大同區 ／ 2023</a:t>
            </a:r>
          </a:p>
        </p:txBody>
      </p:sp>
      <p:sp>
        <p:nvSpPr>
          <p:cNvPr id="3" name="Rectangle 2"/>
          <p:cNvSpPr/>
          <p:nvPr/>
        </p:nvSpPr>
        <p:spPr>
          <a:xfrm>
            <a:off x="914400" y="850392"/>
            <a:ext cx="1097280" cy="381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78408"/>
            <a:ext cx="10058400" cy="640080"/>
          </a:xfrm>
          <a:prstGeom prst="rect">
            <a:avLst/>
          </a:prstGeom>
          <a:noFill/>
        </p:spPr>
        <p:txBody>
          <a:bodyPr wrap="square">
            <a:spAutoFit/>
          </a:bodyPr>
          <a:lstStyle/>
          <a:p>
            <a:pPr algn="l"/>
            <a:r>
              <a:rPr sz="3400" b="1" i="0">
                <a:solidFill>
                  <a:srgbClr val="1A1A1A"/>
                </a:solidFill>
              </a:rPr>
              <a:t>都市更新</a:t>
            </a:r>
          </a:p>
        </p:txBody>
      </p:sp>
      <p:sp>
        <p:nvSpPr>
          <p:cNvPr id="5" name="Rectangle 4"/>
          <p:cNvSpPr/>
          <p:nvPr/>
        </p:nvSpPr>
        <p:spPr>
          <a:xfrm>
            <a:off x="914400" y="1737360"/>
            <a:ext cx="2286000" cy="2011680"/>
          </a:xfrm>
          <a:prstGeom prst="rect">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103120"/>
            <a:ext cx="1005840" cy="822960"/>
          </a:xfrm>
          <a:prstGeom prst="rect">
            <a:avLst/>
          </a:prstGeom>
          <a:noFill/>
        </p:spPr>
        <p:txBody>
          <a:bodyPr wrap="square">
            <a:spAutoFit/>
          </a:bodyPr>
          <a:lstStyle/>
          <a:p>
            <a:pPr algn="ctr"/>
            <a:r>
              <a:rPr sz="4000" b="0" i="0">
                <a:solidFill>
                  <a:srgbClr val="1A1A1A"/>
                </a:solidFill>
              </a:rPr>
              <a:t>🏠</a:t>
            </a:r>
          </a:p>
        </p:txBody>
      </p:sp>
      <p:sp>
        <p:nvSpPr>
          <p:cNvPr id="7" name="TextBox 6"/>
          <p:cNvSpPr txBox="1"/>
          <p:nvPr/>
        </p:nvSpPr>
        <p:spPr>
          <a:xfrm>
            <a:off x="3474720" y="1737360"/>
            <a:ext cx="8046720" cy="1005840"/>
          </a:xfrm>
          <a:prstGeom prst="rect">
            <a:avLst/>
          </a:prstGeom>
          <a:noFill/>
        </p:spPr>
        <p:txBody>
          <a:bodyPr wrap="square">
            <a:spAutoFit/>
          </a:bodyPr>
          <a:lstStyle/>
          <a:p>
            <a:pPr algn="l"/>
            <a:r>
              <a:rPr sz="1300" b="0" i="0">
                <a:solidFill>
                  <a:srgbClr val="1A1A1A"/>
                </a:solidFill>
              </a:rPr>
              <a:t>保留歷史紋理，注入現代機能，賦予老建築新生命。
在尊重原有結構與街區記憶的前提下，導入現代化機能與安全規範。</a:t>
            </a:r>
          </a:p>
        </p:txBody>
      </p:sp>
      <p:sp>
        <p:nvSpPr>
          <p:cNvPr id="8" name="TextBox 7"/>
          <p:cNvSpPr txBox="1"/>
          <p:nvPr/>
        </p:nvSpPr>
        <p:spPr>
          <a:xfrm>
            <a:off x="3474720" y="2880360"/>
            <a:ext cx="2560320" cy="274320"/>
          </a:xfrm>
          <a:prstGeom prst="rect">
            <a:avLst/>
          </a:prstGeom>
          <a:noFill/>
        </p:spPr>
        <p:txBody>
          <a:bodyPr wrap="square">
            <a:spAutoFit/>
          </a:bodyPr>
          <a:lstStyle/>
          <a:p>
            <a:pPr algn="l"/>
            <a:r>
              <a:rPr sz="1100" b="0" i="0">
                <a:solidFill>
                  <a:srgbClr val="6B7280"/>
                </a:solidFill>
              </a:rPr>
              <a:t>地點</a:t>
            </a:r>
          </a:p>
        </p:txBody>
      </p:sp>
      <p:sp>
        <p:nvSpPr>
          <p:cNvPr id="9" name="TextBox 8"/>
          <p:cNvSpPr txBox="1"/>
          <p:nvPr/>
        </p:nvSpPr>
        <p:spPr>
          <a:xfrm>
            <a:off x="3474720" y="3154680"/>
            <a:ext cx="2560320" cy="320040"/>
          </a:xfrm>
          <a:prstGeom prst="rect">
            <a:avLst/>
          </a:prstGeom>
          <a:noFill/>
        </p:spPr>
        <p:txBody>
          <a:bodyPr wrap="square">
            <a:spAutoFit/>
          </a:bodyPr>
          <a:lstStyle/>
          <a:p>
            <a:pPr algn="l"/>
            <a:r>
              <a:rPr sz="1300" b="1" i="0">
                <a:solidFill>
                  <a:srgbClr val="1A1A1A"/>
                </a:solidFill>
              </a:rPr>
              <a:t>台北市 大同區</a:t>
            </a:r>
          </a:p>
        </p:txBody>
      </p:sp>
      <p:sp>
        <p:nvSpPr>
          <p:cNvPr id="10" name="TextBox 9"/>
          <p:cNvSpPr txBox="1"/>
          <p:nvPr/>
        </p:nvSpPr>
        <p:spPr>
          <a:xfrm>
            <a:off x="6217920" y="2880360"/>
            <a:ext cx="2560320" cy="274320"/>
          </a:xfrm>
          <a:prstGeom prst="rect">
            <a:avLst/>
          </a:prstGeom>
          <a:noFill/>
        </p:spPr>
        <p:txBody>
          <a:bodyPr wrap="square">
            <a:spAutoFit/>
          </a:bodyPr>
          <a:lstStyle/>
          <a:p>
            <a:pPr algn="l"/>
            <a:r>
              <a:rPr sz="1100" b="0" i="0">
                <a:solidFill>
                  <a:srgbClr val="6B7280"/>
                </a:solidFill>
              </a:rPr>
              <a:t>完工年</a:t>
            </a:r>
          </a:p>
        </p:txBody>
      </p:sp>
      <p:sp>
        <p:nvSpPr>
          <p:cNvPr id="11" name="TextBox 10"/>
          <p:cNvSpPr txBox="1"/>
          <p:nvPr/>
        </p:nvSpPr>
        <p:spPr>
          <a:xfrm>
            <a:off x="6217920" y="3154680"/>
            <a:ext cx="2560320" cy="320040"/>
          </a:xfrm>
          <a:prstGeom prst="rect">
            <a:avLst/>
          </a:prstGeom>
          <a:noFill/>
        </p:spPr>
        <p:txBody>
          <a:bodyPr wrap="square">
            <a:spAutoFit/>
          </a:bodyPr>
          <a:lstStyle/>
          <a:p>
            <a:pPr algn="l"/>
            <a:r>
              <a:rPr sz="1300" b="1" i="0">
                <a:solidFill>
                  <a:srgbClr val="1A1A1A"/>
                </a:solidFill>
              </a:rPr>
              <a:t>2023</a:t>
            </a:r>
          </a:p>
        </p:txBody>
      </p:sp>
      <p:sp>
        <p:nvSpPr>
          <p:cNvPr id="12" name="TextBox 11"/>
          <p:cNvSpPr txBox="1"/>
          <p:nvPr/>
        </p:nvSpPr>
        <p:spPr>
          <a:xfrm>
            <a:off x="8961120" y="2880360"/>
            <a:ext cx="2560320" cy="274320"/>
          </a:xfrm>
          <a:prstGeom prst="rect">
            <a:avLst/>
          </a:prstGeom>
          <a:noFill/>
        </p:spPr>
        <p:txBody>
          <a:bodyPr wrap="square">
            <a:spAutoFit/>
          </a:bodyPr>
          <a:lstStyle/>
          <a:p>
            <a:pPr algn="l"/>
            <a:r>
              <a:rPr sz="1100" b="0" i="0">
                <a:solidFill>
                  <a:srgbClr val="6B7280"/>
                </a:solidFill>
              </a:rPr>
              <a:t>面積</a:t>
            </a:r>
          </a:p>
        </p:txBody>
      </p:sp>
      <p:sp>
        <p:nvSpPr>
          <p:cNvPr id="13" name="TextBox 12"/>
          <p:cNvSpPr txBox="1"/>
          <p:nvPr/>
        </p:nvSpPr>
        <p:spPr>
          <a:xfrm>
            <a:off x="8961120" y="3154680"/>
            <a:ext cx="2560320" cy="320040"/>
          </a:xfrm>
          <a:prstGeom prst="rect">
            <a:avLst/>
          </a:prstGeom>
          <a:noFill/>
        </p:spPr>
        <p:txBody>
          <a:bodyPr wrap="square">
            <a:spAutoFit/>
          </a:bodyPr>
          <a:lstStyle/>
          <a:p>
            <a:pPr algn="l"/>
            <a:r>
              <a:rPr sz="1300" b="1" i="0">
                <a:solidFill>
                  <a:srgbClr val="1A1A1A"/>
                </a:solidFill>
              </a:rPr>
              <a:t>320 sqm</a:t>
            </a:r>
          </a:p>
        </p:txBody>
      </p:sp>
      <p:sp>
        <p:nvSpPr>
          <p:cNvPr id="14" name="TextBox 13"/>
          <p:cNvSpPr txBox="1"/>
          <p:nvPr/>
        </p:nvSpPr>
        <p:spPr>
          <a:xfrm>
            <a:off x="3474720" y="3657600"/>
            <a:ext cx="8046720" cy="320040"/>
          </a:xfrm>
          <a:prstGeom prst="rect">
            <a:avLst/>
          </a:prstGeom>
          <a:noFill/>
        </p:spPr>
        <p:txBody>
          <a:bodyPr wrap="square">
            <a:spAutoFit/>
          </a:bodyPr>
          <a:lstStyle/>
          <a:p>
            <a:pPr algn="l"/>
            <a:r>
              <a:rPr sz="1200" b="1" i="0">
                <a:solidFill>
                  <a:srgbClr val="D97706"/>
                </a:solidFill>
              </a:rPr>
              <a:t>EEWH-RN 舊建改善型 | Urban Renewal</a:t>
            </a:r>
          </a:p>
        </p:txBody>
      </p:sp>
      <p:sp>
        <p:nvSpPr>
          <p:cNvPr id="15" name="Rectangle 14"/>
          <p:cNvSpPr/>
          <p:nvPr/>
        </p:nvSpPr>
        <p:spPr>
          <a:xfrm>
            <a:off x="914400" y="4114800"/>
            <a:ext cx="10332720" cy="109728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224528"/>
            <a:ext cx="10058400" cy="914400"/>
          </a:xfrm>
          <a:prstGeom prst="rect">
            <a:avLst/>
          </a:prstGeom>
          <a:noFill/>
        </p:spPr>
        <p:txBody>
          <a:bodyPr wrap="square">
            <a:spAutoFit/>
          </a:bodyPr>
          <a:lstStyle/>
          <a:p>
            <a:pPr algn="l"/>
            <a:r>
              <a:rPr sz="1200" b="0" i="0">
                <a:solidFill>
                  <a:srgbClr val="065F46"/>
                </a:solidFill>
              </a:rPr>
              <a:t>都市更新結合 EEWH-RN 申請，在保存原有結構的前提下
導入節能外窗、節水器具，降低整體碳排放。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731520"/>
            <a:ext cx="9144000" cy="365760"/>
          </a:xfrm>
          <a:prstGeom prst="rect">
            <a:avLst/>
          </a:prstGeom>
          <a:noFill/>
        </p:spPr>
        <p:txBody>
          <a:bodyPr wrap="square">
            <a:spAutoFit/>
          </a:bodyPr>
          <a:lstStyle/>
          <a:p>
            <a:pPr algn="l"/>
            <a:r>
              <a:rPr sz="1300" b="0" i="0">
                <a:solidFill>
                  <a:srgbClr val="10B981"/>
                </a:solidFill>
              </a:rPr>
              <a:t>傑丞建築機構</a:t>
            </a:r>
          </a:p>
        </p:txBody>
      </p:sp>
      <p:sp>
        <p:nvSpPr>
          <p:cNvPr id="3" name="TextBox 2"/>
          <p:cNvSpPr txBox="1"/>
          <p:nvPr/>
        </p:nvSpPr>
        <p:spPr>
          <a:xfrm>
            <a:off x="914400" y="1280160"/>
            <a:ext cx="10058400" cy="731520"/>
          </a:xfrm>
          <a:prstGeom prst="rect">
            <a:avLst/>
          </a:prstGeom>
          <a:noFill/>
        </p:spPr>
        <p:txBody>
          <a:bodyPr wrap="square">
            <a:spAutoFit/>
          </a:bodyPr>
          <a:lstStyle/>
          <a:p>
            <a:pPr algn="l"/>
            <a:r>
              <a:rPr sz="4000" b="1" i="0">
                <a:solidFill>
                  <a:srgbClr val="FFFFFF"/>
                </a:solidFill>
              </a:rPr>
              <a:t>以標準為基石，</a:t>
            </a:r>
          </a:p>
        </p:txBody>
      </p:sp>
      <p:sp>
        <p:nvSpPr>
          <p:cNvPr id="4" name="TextBox 3"/>
          <p:cNvSpPr txBox="1"/>
          <p:nvPr/>
        </p:nvSpPr>
        <p:spPr>
          <a:xfrm>
            <a:off x="914400" y="2011680"/>
            <a:ext cx="10058400" cy="731520"/>
          </a:xfrm>
          <a:prstGeom prst="rect">
            <a:avLst/>
          </a:prstGeom>
          <a:noFill/>
        </p:spPr>
        <p:txBody>
          <a:bodyPr wrap="square">
            <a:spAutoFit/>
          </a:bodyPr>
          <a:lstStyle/>
          <a:p>
            <a:pPr algn="l"/>
            <a:r>
              <a:rPr sz="4000" b="1" i="0">
                <a:solidFill>
                  <a:srgbClr val="10B981"/>
                </a:solidFill>
              </a:rPr>
              <a:t>以設計為靈魂</a:t>
            </a:r>
          </a:p>
        </p:txBody>
      </p:sp>
      <p:sp>
        <p:nvSpPr>
          <p:cNvPr id="5" name="Rectangle 4"/>
          <p:cNvSpPr/>
          <p:nvPr/>
        </p:nvSpPr>
        <p:spPr>
          <a:xfrm>
            <a:off x="914400" y="2880360"/>
            <a:ext cx="64008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108960"/>
            <a:ext cx="9144000" cy="1371600"/>
          </a:xfrm>
          <a:prstGeom prst="rect">
            <a:avLst/>
          </a:prstGeom>
          <a:noFill/>
        </p:spPr>
        <p:txBody>
          <a:bodyPr wrap="square">
            <a:spAutoFit/>
          </a:bodyPr>
          <a:lstStyle/>
          <a:p>
            <a:pPr algn="l"/>
            <a:r>
              <a:rPr sz="1600" b="0" i="0">
                <a:solidFill>
                  <a:srgbClr val="9CA3AF"/>
                </a:solidFill>
              </a:rPr>
              <a:t>EEWH 2023 版的更新，代表台灣建築走向更高標準的永續未來。
傑丞建築機構將持續以開放工法與人本設計，協助每一個建築專案取得綠建築認證，
為居住者打造值得傳承的健康空間。</a:t>
            </a:r>
          </a:p>
        </p:txBody>
      </p:sp>
      <p:sp>
        <p:nvSpPr>
          <p:cNvPr id="7" name="TextBox 6"/>
          <p:cNvSpPr txBox="1"/>
          <p:nvPr/>
        </p:nvSpPr>
        <p:spPr>
          <a:xfrm>
            <a:off x="914400" y="5029200"/>
            <a:ext cx="3657600" cy="274320"/>
          </a:xfrm>
          <a:prstGeom prst="rect">
            <a:avLst/>
          </a:prstGeom>
          <a:noFill/>
        </p:spPr>
        <p:txBody>
          <a:bodyPr wrap="square">
            <a:spAutoFit/>
          </a:bodyPr>
          <a:lstStyle/>
          <a:p>
            <a:pPr algn="l"/>
            <a:r>
              <a:rPr sz="1100" b="0" i="0">
                <a:solidFill>
                  <a:srgbClr val="6B7280"/>
                </a:solidFill>
              </a:rPr>
              <a:t>Website</a:t>
            </a:r>
          </a:p>
        </p:txBody>
      </p:sp>
      <p:sp>
        <p:nvSpPr>
          <p:cNvPr id="8" name="TextBox 7"/>
          <p:cNvSpPr txBox="1"/>
          <p:nvPr/>
        </p:nvSpPr>
        <p:spPr>
          <a:xfrm>
            <a:off x="914400" y="5349240"/>
            <a:ext cx="5486400" cy="320040"/>
          </a:xfrm>
          <a:prstGeom prst="rect">
            <a:avLst/>
          </a:prstGeom>
          <a:noFill/>
        </p:spPr>
        <p:txBody>
          <a:bodyPr wrap="square">
            <a:spAutoFit/>
          </a:bodyPr>
          <a:lstStyle/>
          <a:p>
            <a:pPr algn="l"/>
            <a:r>
              <a:rPr sz="1300" b="0" i="0">
                <a:solidFill>
                  <a:srgbClr val="E5E7EB"/>
                </a:solidFill>
              </a:rPr>
              <a:t>jeremy0819.github.io/jieceng-web</a:t>
            </a:r>
          </a:p>
        </p:txBody>
      </p:sp>
      <p:sp>
        <p:nvSpPr>
          <p:cNvPr id="9" name="TextBox 8"/>
          <p:cNvSpPr txBox="1"/>
          <p:nvPr/>
        </p:nvSpPr>
        <p:spPr>
          <a:xfrm>
            <a:off x="914400" y="5760720"/>
            <a:ext cx="3657600" cy="274320"/>
          </a:xfrm>
          <a:prstGeom prst="rect">
            <a:avLst/>
          </a:prstGeom>
          <a:noFill/>
        </p:spPr>
        <p:txBody>
          <a:bodyPr wrap="square">
            <a:spAutoFit/>
          </a:bodyPr>
          <a:lstStyle/>
          <a:p>
            <a:pPr algn="l"/>
            <a:r>
              <a:rPr sz="1100" b="0" i="0">
                <a:solidFill>
                  <a:srgbClr val="6B7280"/>
                </a:solidFill>
              </a:rPr>
              <a:t>Service</a:t>
            </a:r>
          </a:p>
        </p:txBody>
      </p:sp>
      <p:sp>
        <p:nvSpPr>
          <p:cNvPr id="10" name="TextBox 9"/>
          <p:cNvSpPr txBox="1"/>
          <p:nvPr/>
        </p:nvSpPr>
        <p:spPr>
          <a:xfrm>
            <a:off x="914400" y="6080760"/>
            <a:ext cx="7315200" cy="320040"/>
          </a:xfrm>
          <a:prstGeom prst="rect">
            <a:avLst/>
          </a:prstGeom>
          <a:noFill/>
        </p:spPr>
        <p:txBody>
          <a:bodyPr wrap="square">
            <a:spAutoFit/>
          </a:bodyPr>
          <a:lstStyle/>
          <a:p>
            <a:pPr algn="l"/>
            <a:r>
              <a:rPr sz="1300" b="0" i="0">
                <a:solidFill>
                  <a:srgbClr val="E5E7EB"/>
                </a:solidFill>
              </a:rPr>
              <a:t>建築設計 ／ PCM 全案管理 ／ EEWH 綠建築顧問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