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</a:rPr>
              <a:t>內政部 / 建築能效評估標示制度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建築能效評估標示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BBF24"/>
                </a:solidFill>
              </a:rPr>
              <a:t>BERS 2024 版解析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4008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A29E"/>
                </a:solidFill>
              </a:rPr>
              <a:t>Building Energy-efficiency Rating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564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A29E"/>
                </a:solidFill>
              </a:rPr>
              <a:t>EUI 能源使用強度 × 八個能效等級 × 2050 淨零建築路徑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03C"/>
                </a:solidFill>
              </a:rPr>
              <a:t>2026.05.26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</a:rPr>
              <a:t>今日議程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45309"/>
                </a:solidFill>
              </a:rPr>
              <a:t>PART 01 — 制度與核心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A1A1A"/>
                </a:solidFill>
              </a:rPr>
              <a:t>• 什麼是 BERS？制度背景</a:t>
            </a:r>
          </a:p>
          <a:p>
            <a:r>
              <a:rPr sz="1500">
                <a:solidFill>
                  <a:srgbClr val="1A1A1A"/>
                </a:solidFill>
              </a:rPr>
              <a:t>• 2024 版更新重點</a:t>
            </a:r>
          </a:p>
          <a:p>
            <a:r>
              <a:rPr sz="1500">
                <a:solidFill>
                  <a:srgbClr val="1A1A1A"/>
                </a:solidFill>
              </a:rPr>
              <a:t>• 核心概念：EUI 能源使用強度</a:t>
            </a:r>
          </a:p>
          <a:p>
            <a:r>
              <a:rPr sz="1500">
                <a:solidFill>
                  <a:srgbClr val="1A1A1A"/>
                </a:solidFill>
              </a:rPr>
              <a:t>• 評估方法與節能率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45309"/>
                </a:solidFill>
              </a:rPr>
              <a:t>PART 02 — 等級與應用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574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A1A1A"/>
                </a:solidFill>
              </a:rPr>
              <a:t>• 八個能效等級</a:t>
            </a:r>
          </a:p>
          <a:p>
            <a:r>
              <a:rPr sz="1500">
                <a:solidFill>
                  <a:srgbClr val="1A1A1A"/>
                </a:solidFill>
              </a:rPr>
              <a:t>• BERS vs BERSh（一般 / 住宅）</a:t>
            </a:r>
          </a:p>
          <a:p>
            <a:r>
              <a:rPr sz="1500">
                <a:solidFill>
                  <a:srgbClr val="1A1A1A"/>
                </a:solidFill>
              </a:rPr>
              <a:t>• 評估系統範圍</a:t>
            </a:r>
          </a:p>
          <a:p>
            <a:r>
              <a:rPr sz="1500">
                <a:solidFill>
                  <a:srgbClr val="1A1A1A"/>
                </a:solidFill>
              </a:rPr>
              <a:t>• 與綠建築、智慧建築的關係</a:t>
            </a:r>
          </a:p>
          <a:p>
            <a:r>
              <a:rPr sz="1500">
                <a:solidFill>
                  <a:srgbClr val="1A1A1A"/>
                </a:solidFill>
              </a:rPr>
              <a:t>• 淨零路徑 × 申請流程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制度背景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為什麼需要建築能效標示？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建築部門佔台灣總能源消費約三成，是淨零碳排的關鍵戰場。建築能效評估標示（BERS）由內政部推動，
如同冷氣、冰箱的能源效率分級，讓建築物的能源表現可量化、可比較、可揭示，引導市場走向節能建築。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三大政策目的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1A"/>
                </a:solidFill>
              </a:rPr>
              <a:t>• 建立建築能效的客觀評比基準</a:t>
            </a:r>
          </a:p>
          <a:p>
            <a:r>
              <a:rPr sz="1300">
                <a:solidFill>
                  <a:srgbClr val="1A1A1A"/>
                </a:solidFill>
              </a:rPr>
              <a:t>• 揭示能效資訊，保障消費者知情權</a:t>
            </a:r>
          </a:p>
          <a:p>
            <a:r>
              <a:rPr sz="1300">
                <a:solidFill>
                  <a:srgbClr val="1A1A1A"/>
                </a:solidFill>
              </a:rPr>
              <a:t>• 銜接 2050 淨零碳排國家路徑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645920"/>
            <a:ext cx="548640" cy="5486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45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制度試行，建立評估方法學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743200"/>
            <a:ext cx="548640" cy="5486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743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43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017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正式推動，鼓勵自願申請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3840480"/>
            <a:ext cx="548640" cy="5486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840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住宅版 BERSh 完善上線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4937759"/>
            <a:ext cx="548640" cy="548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3775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9377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45309"/>
                </a:solidFill>
              </a:rPr>
              <a:t>2024★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2120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公有新建強制申請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434840"/>
            <a:ext cx="2011680" cy="13716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262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B45309"/>
                </a:solidFill>
              </a:rPr>
              <a:t>~30%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166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建築佔全國能耗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434840"/>
            <a:ext cx="2011680" cy="13716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0" y="45262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45309"/>
                </a:solidFill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5166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能效等級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2024 版 ／ 修訂重點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2024 版六大更新重點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9164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① 強制範圍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16712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公有新建建築強制申請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3288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新建公有建築正式納入強制申請對象，公部門帶頭示範，逐步擴大至大型民間建築。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69164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② 住宅完善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216712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BERSh 住宅版全面上線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住宅建築能效評估系統（BERSh）評估方法完善，涵蓋集合住宅與透天，回應居住節能需求。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69164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178308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③ 基準更新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216712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EUI 基準值校正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253288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依最新建築耗能調查數據，重新校正各類建築的基準能源使用強度，使分級更貼近現況。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2336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④ 數據整合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4988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智慧電表實測數據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86460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鼓勵以智慧電表（AMI）實際用電數據佐證，結合智慧建築系統，提升評估準確度。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402336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3168" y="41148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⑤ 淨零銜接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73168" y="44988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近零碳建築（1+ 級）路徑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486460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明確定義 1+ 級「近零能耗建築」標準，作為 2050 淨零建築的具體里程碑。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4023360"/>
            <a:ext cx="3566160" cy="21945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22208" y="41148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⑥ 標示揭示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44988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能效標示公開揭示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4864608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取得標示的建築需於明顯處揭示能效等級貼標，如同家電能效標章，強化市場辨識度。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核心概念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EUI — 能源使用強度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91640"/>
            <a:ext cx="5943600" cy="27432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EUI 是什麼？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Energy Use Intensity（能源使用強度）
指建築物每年每平方公尺的能源使用量：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346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907792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45309"/>
                </a:solidFill>
              </a:rPr>
              <a:t>EUI = 年總耗電量 ÷ 樓地板面積　　單位：kWh / m² ·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數值越低，代表建築越節能、能效越好。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691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評分邏輯：與基準值比較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057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每一類建築（辦公、學校、醫院、住宅…）都有一個基準 EUI。
將實際 EUI 與基準比較，算出節能率：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2926080"/>
            <a:ext cx="4572000" cy="5943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99923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節能率 = (基準EUI − 實際EUI) ÷ 基準EUI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舉例說明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041648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某辦公大樓基準 EUI 為 150，
實際 EUI 為 90，
節能率 = (150−90)/150 = 40%
→ 達到約 1 級 高效能建築。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能效等級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八個能效等級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2286000" cy="50292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62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8008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近零能耗建築　節能率 ≥ 50%，邁向淨零碳排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04288"/>
            <a:ext cx="2606040" cy="50292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2968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36778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頂尖能效　節能率 40–50%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871215"/>
            <a:ext cx="2926080" cy="5029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96615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934715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優良能效　節能率 30–40%（2030 新建目標）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438144"/>
            <a:ext cx="3246120" cy="502920"/>
          </a:xfrm>
          <a:prstGeom prst="rect">
            <a:avLst/>
          </a:prstGeom>
          <a:solidFill>
            <a:srgbClr val="65A3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63544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501644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良好能效　節能率 20–30%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05072"/>
            <a:ext cx="3566160" cy="5029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304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0685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合格能效　達現行法規節能基準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72000"/>
            <a:ext cx="3886200" cy="502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97400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6355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待改善　低於基準，建議節能改善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138927"/>
            <a:ext cx="420624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64327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202427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耗能偏高　優先輔導改善對象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705856"/>
            <a:ext cx="4526279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31256"/>
            <a:ext cx="4526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59" y="5769356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高耗能　能效最差，亟需全面改善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2636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節能率區間為說明示意，實際分級門檻依各類建築與建研所公告為準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系統分類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BERS vs BERSh — 一般建築 vs 住宅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91640"/>
            <a:ext cx="2286000" cy="38404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比較項目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691640"/>
            <a:ext cx="4114800" cy="38404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BERS（一般建築）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91640"/>
            <a:ext cx="4114800" cy="38404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7373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BERSh（住宅建築）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48840"/>
            <a:ext cx="22860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99640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適用對象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148840"/>
            <a:ext cx="41148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148840"/>
            <a:ext cx="41148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964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辦公、商業、學校、醫院、旅館等非住宅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9964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集合住宅、公寓大廈、透天住宅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88920"/>
            <a:ext cx="2286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839720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評估重點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2788920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2788920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83972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空調、照明等系統能源效率為主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83972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外殼隔熱、家電待機、自然通風採光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429000"/>
            <a:ext cx="22860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479800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使用模式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3429000"/>
            <a:ext cx="41148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3429000"/>
            <a:ext cx="41148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47980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日間集中使用，空調負荷大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479800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全天居住，耗能型態分散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069079"/>
            <a:ext cx="2286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119879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基準依據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069079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06640" y="4069079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41198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各用途別建築實測 EUI 基準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1198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住宅單元能耗模擬 + 實測校正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4709160"/>
            <a:ext cx="2286000" cy="594360"/>
          </a:xfrm>
          <a:prstGeom prst="rect">
            <a:avLst/>
          </a:prstGeom>
          <a:solidFill>
            <a:srgbClr val="FEF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759960"/>
            <a:ext cx="2194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分級方式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46120" y="4709160"/>
            <a:ext cx="8275320" cy="59436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759960"/>
            <a:ext cx="8046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45309"/>
                </a:solidFill>
              </a:rPr>
              <a:t>皆採 1+ 至 7 共八個能效等級，標示形式一致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440680"/>
            <a:ext cx="10332720" cy="86868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4864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45309"/>
                </a:solidFill>
              </a:rPr>
              <a:t>💡 兩套系統評估方法不同，但分級標示一致，讓民眾無論購買辦公室或住宅，
都能用同一套「1+ 到 7」的語言理解建築能效。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評估範圍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能效評估涵蓋哪些系統？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202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❄️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6888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空調系統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8036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主機效率 COP/IPLV、冰水系統、變頻控制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82880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9202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246888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照明系統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88036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LED 比例、照明功率密度 LPD、自動調光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82880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19202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246888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建築外殼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288036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外牆/屋頂隔熱、開窗比、Low-E 玻璃遮陽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2336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663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熱水系統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50749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熱泵、太陽能熱水、鍋爐效率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402336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3168" y="4114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73168" y="4663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電梯動力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50749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變頻電梯、電力回生、群控調度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4023360"/>
            <a:ext cx="3566160" cy="2011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22208" y="4114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</a:rPr>
              <a:t>☀️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4663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</a:rPr>
              <a:t>再生能源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50749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太陽光電自發自用、儲能系統扣減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943600"/>
            <a:ext cx="10332720" cy="6858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989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各系統能耗加總後換算為建築整體 EUI；其中再生能源（如屋頂太陽能）所發的電可扣減建築總耗能，
是衝刺 1+ 近零能耗等級的關鍵。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制度關係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三大制度如何分工？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566160" cy="30175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F46"/>
                </a:solidFill>
              </a:rPr>
              <a:t>綠建築 EEWH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5F46"/>
                </a:solidFill>
              </a:rPr>
              <a:t>全面環境品質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生態、節能、減廢、健康九大面向，節能只是其中一項，範圍最廣。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828800"/>
            <a:ext cx="3566160" cy="3017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920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智慧建築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3042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40AF"/>
                </a:solidFill>
              </a:rPr>
              <a:t>智慧化系統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7432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資訊、安全、節能管理等六大智慧系統，用科技達成管理效率。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828800"/>
            <a:ext cx="3566160" cy="301752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920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BERS 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3042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309"/>
                </a:solidFill>
              </a:rPr>
              <a:t>純粹能源效率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7432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聚焦單一指標 EUI，把建築能源表現量化成 1+ 到 7 的分級。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三者互補而非取代：綠建築是建築的「全面健檢」，智慧建築是「智慧大腦」，而 BERS 是專注的「能效成績單」。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577840"/>
            <a:ext cx="10332720" cy="91440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65099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45309"/>
                </a:solidFill>
              </a:rPr>
              <a:t>💡 2023 版綠建築的日常節能指標已與 BERS 銜接，智慧建築的節能管理碳足跡監控也能為 BERS 提供實測數據，
三大制度逐步整合成完整的永續建築評估體系。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淨零路徑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邁向 2050 淨零建築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94360" cy="5943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8716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公有新建強制申請能效標示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828800"/>
            <a:ext cx="594360" cy="594360"/>
          </a:xfrm>
          <a:prstGeom prst="rect">
            <a:avLst/>
          </a:prstGeom>
          <a:solidFill>
            <a:srgbClr val="65A3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7889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擴大至大型民間建築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1828800"/>
            <a:ext cx="59436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48716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889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新建建築達能效 2 級以上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828800"/>
            <a:ext cx="594360" cy="59436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39" y="248716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2040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199" y="27889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既有建築逐步改善升級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828800"/>
            <a:ext cx="594360" cy="59436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18288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48716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532D"/>
                </a:solidFill>
              </a:rPr>
              <a:t>2050★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7889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全面淨零建築 1+ 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14800"/>
            <a:ext cx="3566160" cy="14630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20624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5803D"/>
                </a:solidFill>
              </a:rPr>
              <a:t>2 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92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2030 新建目標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4114800"/>
            <a:ext cx="3566160" cy="14630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20624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4532D"/>
                </a:solidFill>
              </a:rPr>
              <a:t>1+ 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892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2050 淨零目標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4114800"/>
            <a:ext cx="3566160" cy="14630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20624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B45309"/>
                </a:solidFill>
              </a:rPr>
              <a:t>≥50%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892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近零能耗節能率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45309"/>
                </a:solidFill>
              </a:rPr>
              <a:t>BERS ／ 申請流程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850392"/>
            <a:ext cx="1097280" cy="381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7840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</a:rPr>
              <a:t>申請流程 — 四大階段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65176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202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5309"/>
                </a:solidFill>
              </a:rPr>
              <a:t>STEP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157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資料準備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127248"/>
            <a:ext cx="2423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蒐集建築圖說、空調照明設備規格、用電資料或能耗模擬報告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1828800"/>
            <a:ext cx="265176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58767" y="19202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5309"/>
                </a:solidFill>
              </a:rPr>
              <a:t>STEP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7" y="2240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7" y="27157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EUI 計算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7" y="3127248"/>
            <a:ext cx="2423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依評估手冊計算各系統能耗，換算建築整體 EUI 與節能率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828800"/>
            <a:ext cx="265176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19202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5309"/>
                </a:solidFill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2240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27157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評定審查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3127248"/>
            <a:ext cx="2423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向評定機構提送，經書面審查與必要現勘，核定能效等級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1828800"/>
            <a:ext cx="2651760" cy="2560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192024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45309"/>
                </a:solidFill>
              </a:rPr>
              <a:t>STEP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240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🏷️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271576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標示揭示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3127248"/>
            <a:ext cx="2423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取得能效標示證書，於建築明顯處張貼 1+～7 級能效貼標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572000"/>
            <a:ext cx="5303520" cy="19659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兩種評估途徑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• 設計評估：以設計圖說與模擬數據申請（新建建築）</a:t>
            </a:r>
          </a:p>
          <a:p>
            <a:r>
              <a:rPr sz="1200">
                <a:solidFill>
                  <a:srgbClr val="1A1A1A"/>
                </a:solidFill>
              </a:rPr>
              <a:t>• 實測評估：以智慧電表實際用電佐證（既有建築）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572000"/>
            <a:ext cx="5303520" cy="196596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309"/>
                </a:solidFill>
              </a:rPr>
              <a:t>標示有效期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29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能效標示證書有效期一般為 3～5 年，
建築完成節能改善後可重新評估升級，
鼓勵持續精進能源表現。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BBF24"/>
                </a:solidFill>
              </a:rPr>
              <a:t>建築能效評估標示 BERS 2024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把建築的能源表現，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BBF24"/>
                </a:solidFill>
              </a:rPr>
              <a:t>變成看得懂的一張成績單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97480"/>
            <a:ext cx="640080" cy="508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8A29E"/>
                </a:solidFill>
              </a:rPr>
              <a:t>從 EUI 量化到 1+ 至 7 的能效分級，BERS 讓建築節能不再是模糊概念。
配合 2050 淨零路徑，每一棟達到高能效等級的建築，
都是邁向永續未來的一塊堅實基石。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029200"/>
            <a:ext cx="502920" cy="50292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1+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5029200"/>
            <a:ext cx="502920" cy="466344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5029200"/>
            <a:ext cx="502920" cy="42976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5029200"/>
            <a:ext cx="502920" cy="393192"/>
          </a:xfrm>
          <a:prstGeom prst="rect">
            <a:avLst/>
          </a:prstGeom>
          <a:solidFill>
            <a:srgbClr val="65A3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5029200"/>
            <a:ext cx="502920" cy="356616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6200" y="5029200"/>
            <a:ext cx="502920" cy="3200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5029200"/>
            <a:ext cx="502920" cy="228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5029200"/>
            <a:ext cx="502920" cy="2286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217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03C"/>
                </a:solidFill>
              </a:rPr>
              <a:t>資料來源：內政部建築研究所 建築能效評估手冊 2024 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