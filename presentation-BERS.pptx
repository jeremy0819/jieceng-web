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BBF24"/>
                </a:solidFill>
                <a:latin typeface="Consolas"/>
                <a:ea typeface="Microsoft JhengHei"/>
                <a:cs typeface="Consolas"/>
              </a:rPr>
              <a:t>BERS ｜ 建築能效評估標示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把建築的能效</a:t>
            </a:r>
          </a:p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標示出來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能效分級、近零碳建築，以及邁向 2050 淨零的這條路，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對開發案到底意味著什麼。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本場簡報的四個部分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2"/>
            <a:ext cx="49423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PART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915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為什麼需要建築能效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16352"/>
            <a:ext cx="494233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淨零趨勢、台灣淨零路徑、制度沿革、師法歐盟 EPBD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2492" y="192024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2492" y="192024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3660" y="2084832"/>
            <a:ext cx="49423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PART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3660" y="235915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能效分級制度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60" y="2816352"/>
            <a:ext cx="494233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相對分級的核心概念、七階段分級、近零碳建築、能效標示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6908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6908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33672"/>
            <a:ext cx="49423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PART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評估系統與範圍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965192"/>
            <a:ext cx="494233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能效計算邊界、設計策略、新建與既有、適用類組、與綠建築的關係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406908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2492" y="406908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4233672"/>
            <a:ext cx="49423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PART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60" y="450799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對開發案與淨零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60" y="4965192"/>
            <a:ext cx="494233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政策強制要求、產品價值、三標章整合、申請流程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03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EF3C7"/>
                </a:solidFill>
                <a:latin typeface="Consolas"/>
                <a:ea typeface="Microsoft JhengHei"/>
                <a:cs typeface="Consola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為什麼需要建築能效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BBF24"/>
                </a:solidFill>
                <a:latin typeface="Inter"/>
                <a:ea typeface="Microsoft JhengHei"/>
                <a:cs typeface="Inter"/>
              </a:rPr>
              <a:t>從淨零目標，看 BERS 為什麼誕生。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定義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什麼是建築能效評估（BERS）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BERS 把一棟建築的能源效率量化、分級，再「標示」出來。就像家電的能效標章一樣，讓建築的耗能表現一眼就看得懂，是推動淨零建築最有效的政策工具之一。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33436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36499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822192"/>
            <a:ext cx="314248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以耗能與碳排密度計算能效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2648" y="3200400"/>
            <a:ext cx="33436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2648" y="320040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3816" y="336499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分級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822192"/>
            <a:ext cx="314248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對照市場基準，分為七個階段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2336" y="3200400"/>
            <a:ext cx="33436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2336" y="320040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3504" y="336499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標示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4" y="3822192"/>
            <a:ext cx="314248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公開揭露，能被檢視也能被比較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全球淨零的脈絡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50592"/>
            <a:ext cx="22425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1997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24912"/>
            <a:ext cx="224256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《京都議定書》提出溫室氣體減量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2726" y="228600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2726" y="228600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3894" y="2450592"/>
            <a:ext cx="22425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894" y="2724912"/>
            <a:ext cx="224256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《巴黎協定》提出淨零排放目標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228600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2492" y="228600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2450592"/>
            <a:ext cx="22425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60" y="2724912"/>
            <a:ext cx="224256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國際能源署發表 2050 淨零路徑報告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2258" y="228600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2258" y="228600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3426" y="2450592"/>
            <a:ext cx="224256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3426" y="2724912"/>
            <a:ext cx="224256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國發會發布台灣 2050 淨零排放路徑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台灣淨零建築路徑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三個法定的時間點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3436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43656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9778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063240"/>
            <a:ext cx="2886456" cy="127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28864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所有公有新建建築，須達建築能效 1 級或近零碳建築。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2648" y="2103120"/>
            <a:ext cx="33436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2648" y="210312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1248" y="2331720"/>
            <a:ext cx="29778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2040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1248" y="3063240"/>
            <a:ext cx="2886456" cy="127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1248" y="3246120"/>
            <a:ext cx="28864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50% 既有建築更新為能效 1 級或近零碳建築。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2336" y="2103120"/>
            <a:ext cx="33436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2336" y="2103120"/>
            <a:ext cx="3343656" cy="3302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0936" y="2331720"/>
            <a:ext cx="29778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2400E"/>
                </a:solidFill>
                <a:latin typeface="Inter"/>
                <a:ea typeface="Microsoft JhengHei"/>
                <a:cs typeface="Inter"/>
              </a:rPr>
              <a:t>2050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0936" y="3063240"/>
            <a:ext cx="2886456" cy="127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3246120"/>
            <a:ext cx="28864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100% 新建、逾 85% 建築為近零碳建築。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這是淨零建築政策的法定時程，而 BERS 正是落實與檢核的關鍵工具。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制度沿革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從節能法規到能效標示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1995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制訂建築節約能源設計法規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1999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2491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啟動綠建築標章制度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27832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43814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開始實施建築能效評估及標示，公布 EEWH-BERS 前導版（6 類 12 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41064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5137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15137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修正綠建築標章及建築能效標示的申請審核作業要點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54296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6460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發布 BERS 手冊，適用範圍擴及大部分建築類組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67528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制度源頭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師法歐盟的 EPBD 能效標示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BERS 仿自歐盟建築能效法令 EPBD，採用 EN 15217 建議的七階段分級標示，是國際公認最有效的淨零建築政策之一。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公開揭露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能效資訊透明，能被檢視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726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2726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3894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有感標示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894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像家電能效標章，民眾看得懂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492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492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3660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市場基準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60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以現行市場平均能效為比較基準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2258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2258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3426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1+ 額外級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426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允許標示更高的近零碳等級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為什麼是建築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建築，是淨零的關鍵戰場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建築物的營建與長期使用，佔全國能源消耗與碳排放相當高的比重。提升建築能效，是最直接、也最有效的減碳途徑之一。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營運能耗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空調、照明、設備的長期用電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726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2726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3894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隱含碳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894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建材生產與營建過程的碳排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492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492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3660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長生命週期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60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建築一用數十年，影響深遠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2258" y="3108960"/>
            <a:ext cx="24437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2258" y="31089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3426" y="32735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可管理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426" y="3730752"/>
            <a:ext cx="224256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能效可量化、可改善、可檢核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03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EF3C7"/>
                </a:solidFill>
                <a:latin typeface="Consolas"/>
                <a:ea typeface="Microsoft JhengHei"/>
                <a:cs typeface="Consola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能效分級制度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BBF24"/>
                </a:solidFill>
                <a:latin typeface="Inter"/>
                <a:ea typeface="Microsoft JhengHei"/>
                <a:cs typeface="Inter"/>
              </a:rPr>
              <a:t>從 1+ 到 7，把建築能效講清楚。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BERS 是一種「相對分級」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BERS 以現行建築市場的平均能效水準作為合格分界，再依設計能效相對基準的優劣，往上或往下分級。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5143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5143500" cy="330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1821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47857"/>
                </a:solidFill>
                <a:latin typeface="Inter"/>
                <a:ea typeface="Microsoft JhengHei"/>
                <a:cs typeface="Inter"/>
              </a:rPr>
              <a:t>優於基準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639312"/>
            <a:ext cx="4942332" cy="1115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05966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切割為 5 個等分間距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05966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由佳至差為 1+、1、2、3、4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05966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達 90 分以上即進入 1+ 近零碳區間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2492" y="3017520"/>
            <a:ext cx="5143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2492" y="3017520"/>
            <a:ext cx="5143500" cy="330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3660" y="31821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Inter"/>
                <a:ea typeface="Microsoft JhengHei"/>
                <a:cs typeface="Inter"/>
              </a:rPr>
              <a:t>劣於基準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3660" y="3639312"/>
            <a:ext cx="4942332" cy="1115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C262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不及格區間為 5、6、7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C262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6、7 屬能效極差的建築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C262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給予兩倍較寬的間距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七階段分級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1+ 到 7，一眼看懂能效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1253871" cy="9144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近零碳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9983" y="2468880"/>
            <a:ext cx="1253871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9983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9983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能效最佳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7006" y="2468880"/>
            <a:ext cx="1253871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006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1917"/>
                </a:solidFill>
                <a:latin typeface="Consolas"/>
                <a:ea typeface="Microsoft JhengHei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006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優於基準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4029" y="2468880"/>
            <a:ext cx="1253871" cy="9144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4029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1917"/>
                </a:solidFill>
                <a:latin typeface="Consolas"/>
                <a:ea typeface="Microsoft JhengHei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4029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良好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1052" y="2468880"/>
            <a:ext cx="1253871" cy="91440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1052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1917"/>
                </a:solidFill>
                <a:latin typeface="Consolas"/>
                <a:ea typeface="Microsoft JhengHei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1052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合格分界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8075" y="2468880"/>
            <a:ext cx="1253871" cy="9144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8075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8075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略低基準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5098" y="2468880"/>
            <a:ext cx="1253871" cy="9144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5098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5098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能效差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12121" y="2468880"/>
            <a:ext cx="1253871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2121" y="2724912"/>
            <a:ext cx="12538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2121" y="3520440"/>
            <a:ext cx="12538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能效極差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7763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能效佳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397763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能效差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「1+」為近零碳建築（NZCB）；「4」與「5」之間，是市場平均能效的合格分界點。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最高等級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1+　近零碳建築（NZCB）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43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5143500" cy="330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住宅建築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7777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47857"/>
                </a:solidFill>
                <a:latin typeface="Inter"/>
                <a:ea typeface="Microsoft JhengHei"/>
                <a:cs typeface="Inter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減碳率達 30% 以上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2492" y="2011680"/>
            <a:ext cx="5143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2492" y="2011680"/>
            <a:ext cx="5143500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1092" y="224028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非住宅建築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092" y="2651760"/>
            <a:ext cx="47777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3429000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節能率達 50% 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25400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對應能效分級 90 分以上的區間，是 2050 淨零建築政策的核心目標。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能效標示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用兩個指標衡量能效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435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5143500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EUI　用電密度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ENERGY USE INTENSITY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46863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單位樓地板面積的年用電量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反映建築物的耗能強度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kWh / (m²·年)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2492" y="2011680"/>
            <a:ext cx="51435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2492" y="201168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224028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CEI　碳排密度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670048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CARBON EMISSION INTENSITY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092" y="3063240"/>
            <a:ext cx="46863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單位樓地板面積的年碳排量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反映建築物的碳足跡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4023360"/>
            <a:ext cx="4777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7706"/>
                </a:solidFill>
                <a:latin typeface="Consolas"/>
                <a:ea typeface="Microsoft JhengHei"/>
                <a:cs typeface="Consolas"/>
              </a:rPr>
              <a:t>kgCO₂e / (m²·年)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03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EF3C7"/>
                </a:solidFill>
                <a:latin typeface="Consolas"/>
                <a:ea typeface="Microsoft JhengHei"/>
                <a:cs typeface="Consola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評估系統與範圍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BBF24"/>
                </a:solidFill>
                <a:latin typeface="Inter"/>
                <a:ea typeface="Microsoft JhengHei"/>
                <a:cs typeface="Inter"/>
              </a:rPr>
              <a:t>算什麼、算哪些、怎麼算。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能效計算邊界 ECB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納入評估的六項耗能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BERS 以「能效計算邊界（ECB）」界定納入評估的耗能項目，逐一檢視如下六項。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706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外殼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278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隔熱、遮陽、開窗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2648" y="26060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2648" y="26060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3816" y="27706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空調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2278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主機效率、變頻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2336" y="26060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2336" y="26060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3504" y="27706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照明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4" y="32278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LED、智慧控制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062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3708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電梯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8280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馬達效率、群控調度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2648" y="42062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2648" y="42062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3816" y="43708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揚水泵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3816" y="48280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給水加壓、屋頂水箱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2336" y="4206240"/>
            <a:ext cx="334365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2336" y="42062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3504" y="437083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機械設備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3504" y="4828032"/>
            <a:ext cx="3142488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通風、熱水等公共機電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01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Building Envelope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外殼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決定空調負荷的起點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外牆與屋頂的隔熱性能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開窗面積、玻璃選用與外遮陽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朝向配置與開窗位置的優化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外殼做得好，後面的空調可以用更小的容量，達到一樣的舒適。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02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Air Conditioning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空調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通常是最大宗的用電負載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主機效率（COP／IPLV）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變頻控制與分區送風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新風與熱回收設計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主機效率提高一級，長期電費單上的差異就很可觀。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03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Lighting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照明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長時間運轉的固定負載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燈具發光效率（lm／W）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公共空間的分區與時段控制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自然採光與感應控制整合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走廊、停車場的燈一開就是一整天 —— 效率差一點，全年下來都是電費。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04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Elevators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電梯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中高樓層住宅的公共用電大宗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馬達效率與驅動方式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待機與低載運轉的能耗控制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群控調度，減少空跑與等待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電梯的效率住戶看不到，但每個月的公電費單看得到。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05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Water Pump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揚水泵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容易被忽略，卻全天候運轉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給水加壓與屋頂水箱揚水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變頻泵與分區減壓設計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馬達效率與管路損耗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揚水泵安靜地運轉一整年，是公電費單上常被忽略的一筆。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EUI 檢核項目　06 /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330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46504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Other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機械設備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把剩下的公共機電都算進去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758952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地下停車場通風與排風機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公共空間的熱水系統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消防、給排水等其餘固定設備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38728"/>
            <a:ext cx="254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3872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能效計算邊界把這些細節都納入，標示才貼近建築實際耗能的全貌。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設計策略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提升能效的兩條路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51435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143500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被動式設計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24912"/>
            <a:ext cx="4942332" cy="16642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建築外殼的隔熱與遮陽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自然採光與自然通風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座向與開窗的最佳化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從源頭降低空調與照明需求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2492" y="2103120"/>
            <a:ext cx="51435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2492" y="210312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3660" y="22677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主動式設計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3660" y="2724912"/>
            <a:ext cx="4942332" cy="16642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高效率空調主機與變頻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LED 高效照明與智慧控制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高效率電梯與設備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再生能源與儲能整合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評估方式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新建與既有，算法不同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手冊依「新建／既有」與建築性質分為多類次系統，對應不同的計算與查證方式。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5143500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7063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新建建築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27832"/>
            <a:ext cx="4942332" cy="12070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以設計圖說做理論計算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設備與使用情境採標準假設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屬理論值，不保證等同實際耗能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2492" y="2606040"/>
            <a:ext cx="51435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2492" y="260604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3660" y="277063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既有建築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3660" y="3227832"/>
            <a:ext cx="4942332" cy="12070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以真實電費單換算、可查證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可採市場虛擬 EUI 作為基準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能對照實際營運表現、支援公開揭露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手冊共規範六類次系統的能效標示法；新建為理論計算值，與實際耗能可能有落差。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適用範圍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幾乎涵蓋各類建築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2022 年前導版適用 6 類 12 組；2024 年版幾乎適用大部分建築類組，並把所有規定集結於單一手冊。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2491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住宅類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82112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H-2 等住宅建築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2648" y="2560320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2648" y="256032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3816" y="272491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文教類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182112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D-2 文教設施等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2336" y="2560320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2336" y="256032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3504" y="2724912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辦公類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4" y="3182112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辦公與服務業建築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77639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77639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142231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商業類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99431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賣場、餐飲、旅館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2648" y="3977639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2648" y="3977639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3816" y="4142231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醫療類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3816" y="4599431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醫院與照護機構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2336" y="3977639"/>
            <a:ext cx="334365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2336" y="3977639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3504" y="4142231"/>
            <a:ext cx="3142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其他非住宅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3504" y="4599431"/>
            <a:ext cx="3142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多數一般建築類組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不適用於特殊廠庫、戒護場所、危險廠庫，及海拔 800 公尺以上等特定類組。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給開發案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能效目標怎麼設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4437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591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法定門檻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16352"/>
            <a:ext cx="224256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至少達主管機關要求的能效等級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2726" y="2194560"/>
            <a:ext cx="24437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2726" y="21945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3894" y="23591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市場定位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894" y="2816352"/>
            <a:ext cx="224256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能效等級對應產品的低碳賣點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2194560"/>
            <a:ext cx="24437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2492" y="21945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23591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容積策略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60" y="2816352"/>
            <a:ext cx="224256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結合綠建築爭取容積獎勵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2258" y="2194560"/>
            <a:ext cx="24437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2258" y="2194560"/>
            <a:ext cx="2443734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3426" y="2359152"/>
            <a:ext cx="2242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淨零超前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3426" y="2816352"/>
            <a:ext cx="224256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朝近零碳 1+ 級超前部署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建議規劃初期就設定目標能效等級，再回推外殼、空調、照明與再生能源的規格。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與綠建築的關係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BERS 與綠建築，分進合擊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綠建築 EEWH 的「日常節能指標」可採建築能效評估法，直接以 BERS 的得分換算 —— 兩套制度彼此銜接、互相加分。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51435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5143500" cy="3302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64E3B"/>
                </a:solidFill>
                <a:latin typeface="Inter"/>
                <a:ea typeface="Microsoft JhengHei"/>
                <a:cs typeface="Inter"/>
              </a:rPr>
              <a:t>綠建築 EEWH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46863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064E3B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四大範疇、九大指標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064E3B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日常節能可採建築能效法計分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2492" y="3017520"/>
            <a:ext cx="5143500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1092" y="3246120"/>
            <a:ext cx="47777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建築能效 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092" y="3749039"/>
            <a:ext cx="46863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FEF3C7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量化能效、產生能效得分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FEF3C7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200" b="0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回饋綠建築的日常節能評分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031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EF3C7"/>
                </a:solidFill>
                <a:latin typeface="Consolas"/>
                <a:ea typeface="Microsoft JhengHei"/>
                <a:cs typeface="Consola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對開發案與淨零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BBF24"/>
                </a:solidFill>
                <a:latin typeface="Inter"/>
                <a:ea typeface="Microsoft JhengHei"/>
                <a:cs typeface="Inter"/>
              </a:rPr>
              <a:t>能效不只是標示，更是政策門檻。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從鼓勵到強制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能效已成為法定門檻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建築能效正從「鼓勵」走向「強制」，是開發案必須提前因應的政策。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334365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3343656" cy="330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公有新建建築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9476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須達能效 1 級或近零碳建築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2606040"/>
            <a:ext cx="334365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2606040"/>
            <a:ext cx="3343656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78892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2040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33832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既有建築更新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248" y="379476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50% 更新為能效 1 級或近零碳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2336" y="2606040"/>
            <a:ext cx="334365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2336" y="2606040"/>
            <a:ext cx="3343656" cy="3302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0936" y="278892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2400E"/>
                </a:solidFill>
                <a:latin typeface="Inter"/>
                <a:ea typeface="Microsoft JhengHei"/>
                <a:cs typeface="Inter"/>
              </a:rPr>
              <a:t>2050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0936" y="33832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全面近零碳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379476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100% 新建、逾 85% 為近零碳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實際適用範圍與時程，依主管機關最新法令與公告為準。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產品價值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能效，是碳資產也是賣點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51435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對住戶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24912"/>
            <a:ext cx="4942332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高能效代表長期電費實際降低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能效標示是看得懂的低碳保證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2492" y="2103120"/>
            <a:ext cx="51435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2492" y="2103120"/>
            <a:ext cx="5143500" cy="330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3660" y="2267712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對開發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3660" y="2724912"/>
            <a:ext cx="4942332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可結合綠建築爭取容積獎勵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0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提前布局，避開未來的法規門檻風險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25400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在淨零成為市場語言的當下，高能效既是產品的差異化賣點，也是長期保值的籌碼。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標章整合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綠建築 × 智慧 × 能效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92524"/>
                </a:solidFill>
                <a:latin typeface="Inter"/>
                <a:ea typeface="Microsoft JhengHei"/>
                <a:cs typeface="Inter"/>
              </a:rPr>
              <a:t>三套標章彼此呼應、可合併申請，共同支撐淨零建築與開發效益。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33436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3343656" cy="3302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64E3B"/>
                </a:solidFill>
                <a:latin typeface="Inter"/>
                <a:ea typeface="Microsoft JhengHei"/>
                <a:cs typeface="Inter"/>
              </a:rPr>
              <a:t>綠建築 EEWH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生態、節能、減廢、健康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2648" y="2651760"/>
            <a:ext cx="33436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2648" y="2651760"/>
            <a:ext cx="3343656" cy="330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1248" y="29260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0AF"/>
                </a:solidFill>
                <a:latin typeface="Inter"/>
                <a:ea typeface="Microsoft JhengHei"/>
                <a:cs typeface="Inter"/>
              </a:rPr>
              <a:t>智慧建築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1248" y="342900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偵知、顯示、連動的智慧化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2336" y="2651760"/>
            <a:ext cx="3343656" cy="1645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0936" y="2926080"/>
            <a:ext cx="2977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建築能效 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0936" y="3429000"/>
            <a:ext cx="29778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EF3C7"/>
                </a:solidFill>
                <a:latin typeface="Inter"/>
                <a:ea typeface="Microsoft JhengHei"/>
                <a:cs typeface="Inter"/>
              </a:rPr>
              <a:t>量化能效，邁向近零碳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申請流程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從計算到取得標示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44373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78608"/>
            <a:ext cx="20779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926080"/>
            <a:ext cx="20779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383280"/>
            <a:ext cx="207797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依 ECB 計算 EUI／CEI 與能效分數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2726" y="2377440"/>
            <a:ext cx="244373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3894" y="2578608"/>
            <a:ext cx="20779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3894" y="2926080"/>
            <a:ext cx="20779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候選證書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894" y="3383280"/>
            <a:ext cx="207797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新建以設計圖說申請能效評估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2377440"/>
            <a:ext cx="244373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578608"/>
            <a:ext cx="20779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60" y="2926080"/>
            <a:ext cx="20779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查核確認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60" y="3383280"/>
            <a:ext cx="207797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施工落實，文件查驗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2258" y="2377440"/>
            <a:ext cx="244373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578608"/>
            <a:ext cx="20779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45309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3426" y="2926080"/>
            <a:ext cx="20779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能效標示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3426" y="3383280"/>
            <a:ext cx="207797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完工取得 1+ 至 7 級標示，公開揭露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兩者差異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建築能效 與 綠建築 有何不同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4E3B"/>
                </a:solidFill>
                <a:latin typeface="Inter"/>
                <a:ea typeface="Microsoft JhengHei"/>
                <a:cs typeface="Inter"/>
              </a:rPr>
              <a:t>綠建築 EEWH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2103120"/>
            <a:ext cx="4370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45309"/>
                </a:solidFill>
                <a:latin typeface="Inter"/>
                <a:ea typeface="Microsoft JhengHei"/>
                <a:cs typeface="Inter"/>
              </a:rPr>
              <a:t>建築能效 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543032" cy="1905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關注面向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69748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生態／節能／減廢／健康，綜合環境評估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697480"/>
            <a:ext cx="4370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專注於能源效率單一面向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55848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021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衡量方式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50215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四大範疇、九大指標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502152"/>
            <a:ext cx="4370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量化 EUI／CEI 並分級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0682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分級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306824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鑽石至合格，共五級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306824"/>
            <a:ext cx="4370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1+ 至 7，共七階段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65192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11496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目標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111496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整體環境品質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111496"/>
            <a:ext cx="4370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對接近零碳建築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769864"/>
            <a:ext cx="1054303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8A29E"/>
                </a:solidFill>
                <a:latin typeface="Inter"/>
                <a:ea typeface="Microsoft JhengHei"/>
                <a:cs typeface="Inter"/>
              </a:rPr>
              <a:t>兩者相輔相成：綠建築看整體環境、建築能效專精能源，且可互相換算。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8A29E"/>
                </a:solidFill>
                <a:latin typeface="Consolas"/>
                <a:ea typeface="Microsoft JhengHei"/>
                <a:cs typeface="Consolas"/>
              </a:rPr>
              <a:t>重點回顧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02920" cy="30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Inter"/>
                <a:ea typeface="Microsoft JhengHei"/>
                <a:cs typeface="Inter"/>
              </a:rPr>
              <a:t>關於 BERS，記住這幾點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33272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BERS 把建築能效「量化、分級、標示」，制度仿自歐盟 EPBD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七階段分級 1+ 到 7，以市場平均能效為合格分界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1+ 為近零碳建築：住宅減碳 30% 以上、非住宅節能 50% 以上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計算邊界 ECB 涵蓋外殼、空調、照明、電梯、揚水泵與機械設備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標示以 EUI（用電密度）或 CEI（碳排密度）呈現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0" i="0">
                <a:solidFill>
                  <a:srgbClr val="D97706"/>
                </a:solidFill>
                <a:latin typeface="Inter"/>
                <a:ea typeface="Microsoft JhengHei"/>
                <a:cs typeface="Inter"/>
              </a:rPr>
              <a:t>•  </a:t>
            </a:r>
            <a:r>
              <a:rPr sz="1400" b="0" i="0">
                <a:solidFill>
                  <a:srgbClr val="44403C"/>
                </a:solidFill>
                <a:latin typeface="Inter"/>
                <a:ea typeface="Microsoft JhengHei"/>
                <a:cs typeface="Inter"/>
              </a:rPr>
              <a:t>對接 2050 淨零：2030 年起公有新建須達能效 1 級或近零碳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94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BBF24"/>
                </a:solidFill>
                <a:latin typeface="Consolas"/>
                <a:ea typeface="Microsoft JhengHei"/>
                <a:cs typeface="Consolas"/>
              </a:rPr>
              <a:t>BERS ｜ 量化能效・邁向淨零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把能效講清楚，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FFFFF"/>
                </a:solidFill>
                <a:latin typeface="Inter"/>
                <a:ea typeface="Microsoft JhengHei"/>
                <a:cs typeface="Inter"/>
              </a:rPr>
              <a:t>讓淨零看得見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297680"/>
            <a:ext cx="54864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8716C"/>
                </a:solidFill>
                <a:latin typeface="Consolas"/>
                <a:ea typeface="Microsoft JhengHei"/>
                <a:cs typeface="Consolas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